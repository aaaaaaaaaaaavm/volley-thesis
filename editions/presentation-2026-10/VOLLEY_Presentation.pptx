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duration: 15 seconds</a:t>
            </a:r>
          </a:p>
          <a:p/>
          <a:p>
            <a:r>
              <a:t>VOLLEY is a commanded electromagnetic CubeSat deployment mechanism. We developed and computationally evaluated a complete storage, transfer, launch and carrier-recovery reference. This presentation explains the engineering, the results and the programme it supports.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duration: 15 seconds</a:t>
            </a:r>
          </a:p>
          <a:p/>
          <a:p>
            <a:r>
              <a:t>We begin with the mission and the design choices, then follow one payload through the machine. We explain the coupled motor and source, geometric and structural checks, and matched mission comparison. We close with the completed study and the next development steps.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duration: 40 seconds</a:t>
            </a:r>
          </a:p>
          <a:p/>
          <a:p>
            <a:r>
              <a:t>A satellite inherits the host state and a relative release vector at separation. POEM demonstrated a powered, attitude-controlled platform using a spent PS4 stage. Electron’s Kick Stage demonstrated manoeuvres before satellite release. These are architectural precedents. Our evaluated host remains a generic manoeuvring reference, with no approved vehicle accommodation. The service question is whether additional local release control is worth its installed and operating burden.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duration: 40 seconds</a:t>
            </a:r>
          </a:p>
          <a:p/>
          <a:p>
            <a:r>
              <a:t>Adjustable electromagnetic separation is established prior art. We credit the published deployers and their experimental evidence. Our contribution is the design-specific integration and evaluation of a reusable retained-carrier architecture. The same represented geometry and mass connect the feeder, finite motor, source-limited shot, structural budget and mission comparison. Results from another apparatus support methods and comparisons; they are not measurements of VOLLEY.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duration: 45 seconds</a:t>
            </a:r>
          </a:p>
          <a:p/>
          <a:p>
            <a:r>
              <a:t>The academic reference holds twelve identical four-kilogram 3U surrogates. Their contact envelope is 340.5 by 100 by 100 millimetres. Two fixed six-cell banks feed one captive pallet on an indexed lift. The pallet docks to a retained magnetic carrier. The objectives are continuous custody, finite electromagnetic force, source-coupled release and arrest, and a mission assessment including retained resources. Mixed 1U/3U belongs to the subsequent prototype programme.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duration: 65 seconds</a:t>
            </a:r>
          </a:p>
          <a:p/>
          <a:p>
            <a:r>
              <a:t>Follow the payload, not just the actuator. It begins retained in a fixed cell. The lift-held pallet is indexed to the source. A guided positive pusher advances the payload along the restrained path. The receiving end frames and keepers contain it before the pusher retracts and the source closes. The receiver then moves to the carrier. The lead screw offers controlled travel and a defined load path. Seven feeder alternatives were compared in Labs; their scores are engineering judgments, not measured reliability. We retained the runner-up and rejected concepts for traceability.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duration: 55 seconds</a:t>
            </a:r>
          </a:p>
          <a:p/>
          <a:p>
            <a:r>
              <a:t>Four pallet feet land on the carrier while the lift remains engaged. Capture caps, lock pins and the keyed pallet shafts establish carrier capture. Lift grips retract by 26 millimetres only after the permitted state is established. Before departure, fixed cams open the forekeepers. Electrical braking reduces the unilateral rear-contact reaction to zero; the payload then leaves. The pallet and magnetic carrier remain on the host, arrest under the motor map and return. This separates payload release from carrier recovery.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duration: 55 seconds</a:t>
            </a:r>
          </a:p>
          <a:p/>
          <a:p>
            <a:r>
              <a:t>The phased fixed winding and moving magnet arrays form a linear synchronous motor. Current density and magnetic field give longitudinal Lorentz force. The equal and opposite reaction acts on the moving array carrier. A periodic wave is useful for initial sizing, but finite end geometry and returns matter to launch and arrest. We report approximately 1.328 newtons per peak phase ampere for active conductors and 1.399 including represented returns. Pratham will now explain how those forces were coupled to a finite source and checked against the mechanical cycle.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duration: 60 seconds</a:t>
            </a:r>
          </a:p>
          <a:p/>
          <a:p>
            <a:r>
              <a:t>The shot calculation couples current dynamics, finite force, source voltage and motion. The phase relation contains winding resistance, inductance and back-emf. The capacitor is not ideal: its internal voltage, ESR and physical power root are evaluated. Requested braking is also constrained by regenerative terminal voltage. Payload and carrier initially interact through compressive rear contact. That contact cannot pull the payload. After detachment, the reduced mechanical system changes and the same finite motor arrests the retained carrier. The audit checks the algebra and limiting logic of an instrumented production solver; it is not an unrelated full physics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duration: 75 seconds</a:t>
            </a:r>
          </a:p>
          <a:p/>
          <a:p>
            <a:r>
              <a:t>The source reference uses 64 Eaton-family cells in a 32-series two-parallel arrangement. Nominal capacitance is 6.25 farads and ESR 0.176 ohms; adverse source assumptions are separate. One three-half-bridge inverter uses ten MOSFETs per switch position, sixty in total. We show the nominal twenty-microhenry principal replay. Relative release is 2.999864 metres per second; stopping occurs at 1.507289 metres from the model origin. All six principal combinations of nominal/adverse conditions and three inductances pass declared checks in the refined audit. The 1 and 2 metre-per-second cases support the analysed range, while the full timestep audit applies specifically to 3 metres per second.</a:t>
            </a:r>
          </a:p>
          <a:p/>
          <a:p>
            <a:r>
              <a:t>Displayed result context: 64 cells, 32S2P; 86.4 V initial source command; Principal nominal replay: 2.999864 m/s relative departure; Carrier stops at 1.507289 m, inside the post-release allocation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duration: 45 seconds</a:t>
            </a:r>
          </a:p>
          <a:p/>
          <a:p>
            <a:r>
              <a:t>An isometric rendering explains the assembly, but geometric checks use individual shapes, connected-solid status and intersections. Eight states preserve the part identities and physical pallet count. The accepted motion record combines 135 retained poses and 19 final direct checks. Certain changes also have strict material-subset or conservative travel-envelope arguments. These are nominal geometric checks with stated allocations, not a measured manufacturing tolerance distribution. Represented dry CAD mass is 149.557 kilograms; a separate seven-kilogram power/control allowance is carried into mission accounting.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duration: 60 seconds</a:t>
            </a:r>
          </a:p>
          <a:p/>
          <a:p>
            <a:r>
              <a:t>Magnetic attraction loads the carrier across the gap. The actual connected bare-chassis geometry is subjected to opposed inward patches with matched numerical restraints. Each resultant is approximately 3010.481 newtons. CalculiX gives 0.285983 millimetres paired closure; the primary ANSYS sample gives 0.286392, approximately 0.143 percent higher. Three ANSYS meshes examine refinement sensitivity. A sum of two remaining gaps does not establish each individual assembled gap. The individual-face budget additionally uses centring, flatness, assembly and thermal allocations. Solver agreement supports this matched numerical boundary; it does not measure complete assembled hardware.</a:t>
            </a:r>
          </a:p>
          <a:p/>
          <a:p>
            <a:r>
              <a:t>Displayed result context: Each array patch receives approximately 3.010 kN inward; CalculiX reference paired closure: 0.285983 mm; Primary ANSYS sampled closure: 0.286392 mm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duration: 50 seconds</a:t>
            </a:r>
          </a:p>
          <a:p/>
          <a:p>
            <a:r>
              <a:t>Energy accounting includes mechanical change, copper, inverter, bank and auxiliary terms. Thermal estimates distinguish bulk temperature rise from local adiabatic observations. The 3.295053-kelvin quantity in the repeated-operation discussion is a temperature rise, not a percentage. Four hundred and fifty seconds is assumed shot spacing, not the diffusion time. The interlock model checks twenty-four nominal commands and one hundred and sixty-six tests, including declared power-loss, jam, disagreement, timeout and host-burn cases. These test the represented logic. They do not provide a measured probability of successful release.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duration: 90 seconds</a:t>
            </a:r>
          </a:p>
          <a:p/>
          <a:p>
            <a:r>
              <a:t>A fair comparison includes device mass, changing host mass, recoil, fuel and allowed operations. We use the same target position and velocity states at a common terminal epoch. In the selected alternating-family five-newton cases, VOLLEY uses about 0.28987 kilograms of host propellant and ideal ground-pretrimmed springs about 0.05365. Retained device assumptions are 156.557 and 72 kilograms respectively. The result establishes no mass or fuel advantage for VOLLEY in this tested preplanned service. This identifies where a customer case must be stronger, such as a genuine need for on-orbit command flexibility. That flexibility has not itself been priced as demonstrated economic benefit. Native Orekit replay checks the declared mission arcs and J2 boundary; it is not a full flight safety analysis.</a:t>
            </a:r>
          </a:p>
          <a:p/>
          <a:p>
            <a:r>
              <a:t>Displayed result context: Common payload manifest, target states and terminal epoch; Compare host-assisted VOLLEY with host-assisted spring alternatives; In the tested preplanned case, ideal ground pretrim uses less propellant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duration: 40 seconds</a:t>
            </a:r>
          </a:p>
          <a:p/>
          <a:p>
            <a:r>
              <a:t>The achieved result is a complete computational design reference. It provides an explicit payload path, a finite motor and source-coupled operating study, geometric and structural checks, thermal and control budgets, and a matched mission comparison. The 1–3 metre-per-second study supplies the evaluated academic envelope. The conclusions include both the supported operation and the system trade revealed by the mission case. This is the engineering basis for selecting and instrumenting a physical article.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Pratham Chawla</a:t>
            </a:r>
          </a:p>
          <a:p>
            <a:r>
              <a:t>Planned duration: 30 seconds</a:t>
            </a:r>
          </a:p>
          <a:p/>
          <a:p>
            <a:r>
              <a:t>VOLLEY developed over more than five years. We describe the stages using the documented lineage rather than assigning every related repository the same age. Concept selection led to payload handling, finite motor geometry, coupled source and motion, structural and mission evaluations. The completed reference now supports prototype requirements. Related tools emerged from specific engineering needs. Adityavardhan will close by showing that ecosystem and its staged development direction.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duration: 35 seconds</a:t>
            </a:r>
          </a:p>
          <a:p/>
          <a:p>
            <a:r>
              <a:t>The ecosystem is organised by the questions it answers. Labs preserves mechanism alternatives, experimental comparisons, new speed configurations and lunar architecture studies. The related repositories extract reusable tools for motor design, separation dynamics, orbital comparison, CAD evidence and numerical traceability. GatewayCX is a separate cislunar communications architecture. Future VOLLEY delivery studies could consider deployment of suitable infrastructure for that network; no integrated flight system is claimed. The technical paper is planned as a publication of the checked study, with a venue still unselected.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duration: 65 seconds</a:t>
            </a:r>
          </a:p>
          <a:p/>
          <a:p>
            <a:r>
              <a:t>Gen6 begins with instrumented mechanism and motor articles and an integrated mixed one-unit/three-unit prototype. A separately specified Labs configuration has computed ten-metre-per-second release cases. Kilometre-per-second performance is a stretch research objective requiring a different source, stroke, loading and host architecture. The 3.5-kilometre-per-second case is a longer-term departure scenario, not an achieved launcher rating or automatic lunar-orbit delivery; lunar targeting and capture remain separate. The wider service hypothesis is standardised batches of short-life spacecraft, clustered or phased deployment, replenishment and planned disposal where mission needs permit. Artemis-era lunar infrastructure motivates later communications and science applications, including a possible GatewayCX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Adityavardhan Mishra</a:t>
            </a:r>
          </a:p>
          <a:p>
            <a:r>
              <a:t>Planned duration: 20 seconds</a:t>
            </a:r>
          </a:p>
          <a:p/>
          <a:p>
            <a:r>
              <a:t>The full references and source routes are provided in the technical appendix and supporting records. The study connects a defined machine, coupled calculations and a clear hardware measurement programme. We welcome questions; both of us can address the mechanism, methods and results.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Shared questions</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Shared questions</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Shared questions</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Shared questions</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Shared questions</a:t>
            </a:r>
          </a:p>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Shared questions</a:t>
            </a:r>
          </a:p>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Shared questions</a:t>
            </a:r>
          </a:p>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Shared questions</a:t>
            </a:r>
          </a:p>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Shared questions</a:t>
            </a:r>
          </a:p>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Shared questions</a:t>
            </a:r>
          </a:p>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Shared questions</a:t>
            </a:r>
          </a:p>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Shared questions</a:t>
            </a:r>
          </a:p>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4.jp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7.jp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3390/rs14174205" TargetMode="External"/><Relationship Id="rId3" Type="http://schemas.openxmlformats.org/officeDocument/2006/relationships/hyperlink" Target="https://doi.org/10.3390/aerospace12060466" TargetMode="External"/><Relationship Id="rId4" Type="http://schemas.openxmlformats.org/officeDocument/2006/relationships/hyperlink" Target="https://doi.org/10.1155/ijae/3000765" TargetMode="External"/><Relationship Id="rId5" Type="http://schemas.openxmlformats.org/officeDocument/2006/relationships/hyperlink" Target="https://www.isro.gov.in/POEM-3_Mission_achieves_Payload_objectives.html" TargetMode="External"/><Relationship Id="rId6" Type="http://schemas.openxmlformats.org/officeDocument/2006/relationships/hyperlink" Target="https://rocketlabcorp.com/assets/Electron-Payload-User-Guide-7.0-v6.pdf" TargetMode="External"/><Relationship Id="rId7" Type="http://schemas.openxmlformats.org/officeDocument/2006/relationships/hyperlink" Target="https://www.nasa.gov/lunar-surface-technology/" TargetMode="External"/><Relationship Id="rId8"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8000"/>
            <a:ext cx="4064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49300"/>
            <a:ext cx="10668000" cy="178816"/>
          </a:xfrm>
          <a:prstGeom prst="rect">
            <a:avLst/>
          </a:prstGeom>
          <a:noFill/>
        </p:spPr>
        <p:txBody>
          <a:bodyPr wrap="none" lIns="0" rIns="0" tIns="0" bIns="0">
            <a:spAutoFit/>
          </a:bodyPr>
          <a:lstStyle/>
          <a:p>
            <a:pPr algn="l">
              <a:spcBef>
                <a:spcPts val="0"/>
              </a:spcBef>
              <a:spcAft>
                <a:spcPts val="0"/>
              </a:spcAft>
            </a:pPr>
            <a:r>
              <a:rPr sz="1100" b="1" i="0">
                <a:solidFill>
                  <a:srgbClr val="B4C9D8"/>
                </a:solidFill>
                <a:latin typeface="Liberation Sans"/>
              </a:rPr>
              <a:t>DEPARTMENT OF MECHANICAL ENGINEERING</a:t>
            </a:r>
          </a:p>
        </p:txBody>
      </p:sp>
      <p:sp>
        <p:nvSpPr>
          <p:cNvPr id="5" name="TextBox 4"/>
          <p:cNvSpPr txBox="1"/>
          <p:nvPr/>
        </p:nvSpPr>
        <p:spPr>
          <a:xfrm>
            <a:off x="457200" y="1257300"/>
            <a:ext cx="7874000" cy="959103"/>
          </a:xfrm>
          <a:prstGeom prst="rect">
            <a:avLst/>
          </a:prstGeom>
          <a:noFill/>
        </p:spPr>
        <p:txBody>
          <a:bodyPr wrap="none" lIns="0" rIns="0" tIns="0" bIns="0">
            <a:spAutoFit/>
          </a:bodyPr>
          <a:lstStyle/>
          <a:p>
            <a:pPr algn="l">
              <a:spcBef>
                <a:spcPts val="0"/>
              </a:spcBef>
              <a:spcAft>
                <a:spcPts val="0"/>
              </a:spcAft>
            </a:pPr>
            <a:r>
              <a:rPr sz="5900" b="1" i="0">
                <a:solidFill>
                  <a:srgbClr val="FFFFFF"/>
                </a:solidFill>
                <a:latin typeface="Liberation Sans"/>
              </a:rPr>
              <a:t>VOLLEY</a:t>
            </a:r>
          </a:p>
        </p:txBody>
      </p:sp>
      <p:sp>
        <p:nvSpPr>
          <p:cNvPr id="6" name="TextBox 5"/>
          <p:cNvSpPr txBox="1"/>
          <p:nvPr/>
        </p:nvSpPr>
        <p:spPr>
          <a:xfrm>
            <a:off x="482600" y="2247900"/>
            <a:ext cx="7048500" cy="455168"/>
          </a:xfrm>
          <a:prstGeom prst="rect">
            <a:avLst/>
          </a:prstGeom>
          <a:noFill/>
        </p:spPr>
        <p:txBody>
          <a:bodyPr wrap="none" lIns="0" rIns="0" tIns="0" bIns="0">
            <a:spAutoFit/>
          </a:bodyPr>
          <a:lstStyle/>
          <a:p>
            <a:pPr algn="l">
              <a:spcBef>
                <a:spcPts val="0"/>
              </a:spcBef>
              <a:spcAft>
                <a:spcPts val="0"/>
              </a:spcAft>
            </a:pPr>
            <a:r>
              <a:rPr sz="2800" b="1" i="0">
                <a:solidFill>
                  <a:srgbClr val="FFFFFF"/>
                </a:solidFill>
                <a:latin typeface="Liberation Sans"/>
              </a:rPr>
              <a:t>A Commanded Electromagnetic CubeSat</a:t>
            </a:r>
          </a:p>
        </p:txBody>
      </p:sp>
      <p:sp>
        <p:nvSpPr>
          <p:cNvPr id="7" name="TextBox 6"/>
          <p:cNvSpPr txBox="1"/>
          <p:nvPr/>
        </p:nvSpPr>
        <p:spPr>
          <a:xfrm>
            <a:off x="482600" y="2667508"/>
            <a:ext cx="7048500" cy="455168"/>
          </a:xfrm>
          <a:prstGeom prst="rect">
            <a:avLst/>
          </a:prstGeom>
          <a:noFill/>
        </p:spPr>
        <p:txBody>
          <a:bodyPr wrap="none" lIns="0" rIns="0" tIns="0" bIns="0">
            <a:spAutoFit/>
          </a:bodyPr>
          <a:lstStyle/>
          <a:p>
            <a:pPr algn="l">
              <a:spcBef>
                <a:spcPts val="0"/>
              </a:spcBef>
              <a:spcAft>
                <a:spcPts val="0"/>
              </a:spcAft>
            </a:pPr>
            <a:r>
              <a:rPr sz="2800" b="1" i="0">
                <a:solidFill>
                  <a:srgbClr val="FFFFFF"/>
                </a:solidFill>
                <a:latin typeface="Liberation Sans"/>
              </a:rPr>
              <a:t>Deployment Mechanism</a:t>
            </a:r>
          </a:p>
        </p:txBody>
      </p:sp>
      <p:sp>
        <p:nvSpPr>
          <p:cNvPr id="8" name="TextBox 7"/>
          <p:cNvSpPr txBox="1"/>
          <p:nvPr/>
        </p:nvSpPr>
        <p:spPr>
          <a:xfrm>
            <a:off x="482600" y="4140200"/>
            <a:ext cx="9271000" cy="292608"/>
          </a:xfrm>
          <a:prstGeom prst="rect">
            <a:avLst/>
          </a:prstGeom>
          <a:noFill/>
        </p:spPr>
        <p:txBody>
          <a:bodyPr wrap="none" lIns="0" rIns="0" tIns="0" bIns="0">
            <a:spAutoFit/>
          </a:bodyPr>
          <a:lstStyle/>
          <a:p>
            <a:pPr algn="l">
              <a:spcBef>
                <a:spcPts val="0"/>
              </a:spcBef>
              <a:spcAft>
                <a:spcPts val="0"/>
              </a:spcAft>
            </a:pPr>
            <a:r>
              <a:rPr sz="1800" b="1" i="0">
                <a:solidFill>
                  <a:srgbClr val="FFFFFF"/>
                </a:solidFill>
                <a:latin typeface="Liberation Sans"/>
              </a:rPr>
              <a:t>Adityavardhan Mishra · 23070125054</a:t>
            </a:r>
          </a:p>
        </p:txBody>
      </p:sp>
      <p:sp>
        <p:nvSpPr>
          <p:cNvPr id="9" name="TextBox 8"/>
          <p:cNvSpPr txBox="1"/>
          <p:nvPr/>
        </p:nvSpPr>
        <p:spPr>
          <a:xfrm>
            <a:off x="482600" y="4483100"/>
            <a:ext cx="9271000" cy="292608"/>
          </a:xfrm>
          <a:prstGeom prst="rect">
            <a:avLst/>
          </a:prstGeom>
          <a:noFill/>
        </p:spPr>
        <p:txBody>
          <a:bodyPr wrap="none" lIns="0" rIns="0" tIns="0" bIns="0">
            <a:spAutoFit/>
          </a:bodyPr>
          <a:lstStyle/>
          <a:p>
            <a:pPr algn="l">
              <a:spcBef>
                <a:spcPts val="0"/>
              </a:spcBef>
              <a:spcAft>
                <a:spcPts val="0"/>
              </a:spcAft>
            </a:pPr>
            <a:r>
              <a:rPr sz="1800" b="1" i="0">
                <a:solidFill>
                  <a:srgbClr val="FFFFFF"/>
                </a:solidFill>
                <a:latin typeface="Liberation Sans"/>
              </a:rPr>
              <a:t>Pratham Chawla · 23070125029</a:t>
            </a:r>
          </a:p>
        </p:txBody>
      </p:sp>
      <p:sp>
        <p:nvSpPr>
          <p:cNvPr id="10" name="TextBox 9"/>
          <p:cNvSpPr txBox="1"/>
          <p:nvPr/>
        </p:nvSpPr>
        <p:spPr>
          <a:xfrm>
            <a:off x="482600" y="5029200"/>
            <a:ext cx="8890000" cy="260096"/>
          </a:xfrm>
          <a:prstGeom prst="rect">
            <a:avLst/>
          </a:prstGeom>
          <a:noFill/>
        </p:spPr>
        <p:txBody>
          <a:bodyPr wrap="none" lIns="0" rIns="0" tIns="0" bIns="0">
            <a:spAutoFit/>
          </a:bodyPr>
          <a:lstStyle/>
          <a:p>
            <a:pPr algn="l">
              <a:spcBef>
                <a:spcPts val="0"/>
              </a:spcBef>
              <a:spcAft>
                <a:spcPts val="0"/>
              </a:spcAft>
            </a:pPr>
            <a:r>
              <a:rPr sz="1600" b="0" i="0">
                <a:solidFill>
                  <a:srgbClr val="C7D3DD"/>
                </a:solidFill>
                <a:latin typeface="Liberation Sans"/>
              </a:rPr>
              <a:t>Symbiosis Institute of Technology, Pune</a:t>
            </a:r>
          </a:p>
        </p:txBody>
      </p:sp>
      <p:sp>
        <p:nvSpPr>
          <p:cNvPr id="11" name="TextBox 10"/>
          <p:cNvSpPr txBox="1"/>
          <p:nvPr/>
        </p:nvSpPr>
        <p:spPr>
          <a:xfrm>
            <a:off x="482600" y="5268976"/>
            <a:ext cx="8890000" cy="260096"/>
          </a:xfrm>
          <a:prstGeom prst="rect">
            <a:avLst/>
          </a:prstGeom>
          <a:noFill/>
        </p:spPr>
        <p:txBody>
          <a:bodyPr wrap="none" lIns="0" rIns="0" tIns="0" bIns="0">
            <a:spAutoFit/>
          </a:bodyPr>
          <a:lstStyle/>
          <a:p>
            <a:pPr algn="l">
              <a:spcBef>
                <a:spcPts val="0"/>
              </a:spcBef>
              <a:spcAft>
                <a:spcPts val="0"/>
              </a:spcAft>
            </a:pPr>
            <a:r>
              <a:rPr sz="1600" b="0" i="0">
                <a:solidFill>
                  <a:srgbClr val="C7D3DD"/>
                </a:solidFill>
                <a:latin typeface="Liberation Sans"/>
              </a:rPr>
              <a:t>B.Tech · Mechanical Engineering</a:t>
            </a:r>
          </a:p>
        </p:txBody>
      </p:sp>
      <p:sp>
        <p:nvSpPr>
          <p:cNvPr id="12" name="TextBox 11"/>
          <p:cNvSpPr txBox="1"/>
          <p:nvPr/>
        </p:nvSpPr>
        <p:spPr>
          <a:xfrm>
            <a:off x="482600" y="5753100"/>
            <a:ext cx="8890000" cy="243840"/>
          </a:xfrm>
          <a:prstGeom prst="rect">
            <a:avLst/>
          </a:prstGeom>
          <a:noFill/>
        </p:spPr>
        <p:txBody>
          <a:bodyPr wrap="none" lIns="0" rIns="0" tIns="0" bIns="0">
            <a:spAutoFit/>
          </a:bodyPr>
          <a:lstStyle/>
          <a:p>
            <a:pPr algn="l">
              <a:spcBef>
                <a:spcPts val="0"/>
              </a:spcBef>
              <a:spcAft>
                <a:spcPts val="0"/>
              </a:spcAft>
            </a:pPr>
            <a:r>
              <a:rPr sz="1500" b="0" i="0">
                <a:solidFill>
                  <a:srgbClr val="C7D3DD"/>
                </a:solidFill>
                <a:latin typeface="Liberation Sans"/>
              </a:rPr>
              <a:t>Guide: Vikas Gulia</a:t>
            </a:r>
          </a:p>
        </p:txBody>
      </p:sp>
      <p:pic>
        <p:nvPicPr>
          <p:cNvPr id="13" name="Picture 12" descr="assembly_hero-89a1b8670054.jpg"/>
          <p:cNvPicPr>
            <a:picLocks noChangeAspect="1"/>
          </p:cNvPicPr>
          <p:nvPr/>
        </p:nvPicPr>
        <p:blipFill>
          <a:blip r:embed="rId2"/>
          <a:stretch>
            <a:fillRect/>
          </a:stretch>
        </p:blipFill>
        <p:spPr>
          <a:xfrm>
            <a:off x="7810499" y="2325031"/>
            <a:ext cx="3937000" cy="2461937"/>
          </a:xfrm>
          <a:prstGeom prst="rect">
            <a:avLst/>
          </a:prstGeom>
        </p:spPr>
      </p:pic>
      <p:cxnSp>
        <p:nvCxnSpPr>
          <p:cNvPr id="14" name="Connector 13"/>
          <p:cNvCxnSpPr/>
          <p:nvPr/>
        </p:nvCxnSpPr>
        <p:spPr>
          <a:xfrm>
            <a:off x="457200" y="6388100"/>
            <a:ext cx="11277600" cy="0"/>
          </a:xfrm>
          <a:prstGeom prst="line">
            <a:avLst/>
          </a:prstGeom>
          <a:ln w="12700">
            <a:solidFill>
              <a:srgbClr val="3B506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C7D3DD"/>
                </a:solidFill>
                <a:latin typeface="Liberation Sans"/>
              </a:rPr>
              <a:t>Design and Computational Evaluation · October 2026</a:t>
            </a:r>
          </a:p>
        </p:txBody>
      </p:sp>
      <p:sp>
        <p:nvSpPr>
          <p:cNvPr id="16" name="TextBox 15"/>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C7D3DD"/>
                </a:solidFill>
                <a:latin typeface="Liberation Sans"/>
              </a:rPr>
              <a:t>01 / 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OUTLINE</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From the delivery problem to the engineering result</a:t>
            </a:r>
          </a:p>
        </p:txBody>
      </p:sp>
      <p:sp>
        <p:nvSpPr>
          <p:cNvPr id="6" name="Rounded Rectangle 5"/>
          <p:cNvSpPr/>
          <p:nvPr/>
        </p:nvSpPr>
        <p:spPr>
          <a:xfrm>
            <a:off x="457200"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8500"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Problem and</a:t>
            </a:r>
          </a:p>
        </p:txBody>
      </p:sp>
      <p:sp>
        <p:nvSpPr>
          <p:cNvPr id="9" name="TextBox 8"/>
          <p:cNvSpPr txBox="1"/>
          <p:nvPr/>
        </p:nvSpPr>
        <p:spPr>
          <a:xfrm>
            <a:off x="698500" y="2198878"/>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objectives</a:t>
            </a:r>
          </a:p>
        </p:txBody>
      </p:sp>
      <p:sp>
        <p:nvSpPr>
          <p:cNvPr id="10" name="Rectangle 9"/>
          <p:cNvSpPr/>
          <p:nvPr/>
        </p:nvSpPr>
        <p:spPr>
          <a:xfrm>
            <a:off x="685800" y="2873756"/>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7215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Problem, prior work and</a:t>
            </a:r>
          </a:p>
        </p:txBody>
      </p:sp>
      <p:sp>
        <p:nvSpPr>
          <p:cNvPr id="12" name="TextBox 11"/>
          <p:cNvSpPr txBox="1"/>
          <p:nvPr/>
        </p:nvSpPr>
        <p:spPr>
          <a:xfrm>
            <a:off x="914400" y="3041904"/>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design objectives</a:t>
            </a:r>
          </a:p>
        </p:txBody>
      </p:sp>
      <p:sp>
        <p:nvSpPr>
          <p:cNvPr id="13" name="Rounded Rectangle 12"/>
          <p:cNvSpPr/>
          <p:nvPr/>
        </p:nvSpPr>
        <p:spPr>
          <a:xfrm>
            <a:off x="4301066"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1066" y="1612900"/>
            <a:ext cx="50800" cy="38989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2366"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Mechanism and</a:t>
            </a:r>
          </a:p>
        </p:txBody>
      </p:sp>
      <p:sp>
        <p:nvSpPr>
          <p:cNvPr id="16" name="TextBox 15"/>
          <p:cNvSpPr txBox="1"/>
          <p:nvPr/>
        </p:nvSpPr>
        <p:spPr>
          <a:xfrm>
            <a:off x="4542366" y="2198878"/>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evaluation</a:t>
            </a:r>
          </a:p>
        </p:txBody>
      </p:sp>
      <p:sp>
        <p:nvSpPr>
          <p:cNvPr id="17" name="Rectangle 16"/>
          <p:cNvSpPr/>
          <p:nvPr/>
        </p:nvSpPr>
        <p:spPr>
          <a:xfrm>
            <a:off x="4529666" y="2873756"/>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8266" y="277215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Mechanism, models,</a:t>
            </a:r>
          </a:p>
        </p:txBody>
      </p:sp>
      <p:sp>
        <p:nvSpPr>
          <p:cNvPr id="19" name="TextBox 18"/>
          <p:cNvSpPr txBox="1"/>
          <p:nvPr/>
        </p:nvSpPr>
        <p:spPr>
          <a:xfrm>
            <a:off x="4758266" y="3041904"/>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numerical checks and</a:t>
            </a:r>
          </a:p>
        </p:txBody>
      </p:sp>
      <p:sp>
        <p:nvSpPr>
          <p:cNvPr id="20" name="TextBox 19"/>
          <p:cNvSpPr txBox="1"/>
          <p:nvPr/>
        </p:nvSpPr>
        <p:spPr>
          <a:xfrm>
            <a:off x="4758266" y="3311652"/>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mission results</a:t>
            </a:r>
          </a:p>
        </p:txBody>
      </p:sp>
      <p:sp>
        <p:nvSpPr>
          <p:cNvPr id="21" name="Rounded Rectangle 20"/>
          <p:cNvSpPr/>
          <p:nvPr/>
        </p:nvSpPr>
        <p:spPr>
          <a:xfrm>
            <a:off x="8144933"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4933"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6233"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Research programme</a:t>
            </a:r>
          </a:p>
        </p:txBody>
      </p:sp>
      <p:sp>
        <p:nvSpPr>
          <p:cNvPr id="24" name="Rectangle 23"/>
          <p:cNvSpPr/>
          <p:nvPr/>
        </p:nvSpPr>
        <p:spPr>
          <a:xfrm>
            <a:off x="8373533"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2133"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Development history,</a:t>
            </a:r>
          </a:p>
        </p:txBody>
      </p:sp>
      <p:sp>
        <p:nvSpPr>
          <p:cNvPr id="26" name="TextBox 25"/>
          <p:cNvSpPr txBox="1"/>
          <p:nvPr/>
        </p:nvSpPr>
        <p:spPr>
          <a:xfrm>
            <a:off x="8602133"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research ecosystem and</a:t>
            </a:r>
          </a:p>
        </p:txBody>
      </p:sp>
      <p:sp>
        <p:nvSpPr>
          <p:cNvPr id="27" name="TextBox 26"/>
          <p:cNvSpPr txBox="1"/>
          <p:nvPr/>
        </p:nvSpPr>
        <p:spPr>
          <a:xfrm>
            <a:off x="8602133"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next hardware stage</a:t>
            </a:r>
          </a:p>
        </p:txBody>
      </p:sp>
      <p:sp>
        <p:nvSpPr>
          <p:cNvPr id="28" name="Rounded Rectangle 27"/>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One connected argument: mission, machine, evidence and development.</a:t>
            </a:r>
          </a:p>
        </p:txBody>
      </p:sp>
      <p:cxnSp>
        <p:nvCxnSpPr>
          <p:cNvPr id="31" name="Connector 30"/>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Department presentation format; blackbook chapters 1–11</a:t>
            </a:r>
          </a:p>
        </p:txBody>
      </p:sp>
      <p:sp>
        <p:nvSpPr>
          <p:cNvPr id="33" name="TextBox 32"/>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02 /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INTRODUCTION</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The host moves the orbit. VOLLEY commands departure.</a:t>
            </a:r>
          </a:p>
        </p:txBody>
      </p:sp>
      <p:sp>
        <p:nvSpPr>
          <p:cNvPr id="6" name="Rounded Rectangle 5"/>
          <p:cNvSpPr/>
          <p:nvPr/>
        </p:nvSpPr>
        <p:spPr>
          <a:xfrm>
            <a:off x="5105400" y="1612900"/>
            <a:ext cx="6629400" cy="35560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st_and_release_roles_slide-9a2ee6ca67d3.jpg"/>
          <p:cNvPicPr>
            <a:picLocks noChangeAspect="1"/>
          </p:cNvPicPr>
          <p:nvPr/>
        </p:nvPicPr>
        <p:blipFill>
          <a:blip r:embed="rId2"/>
          <a:stretch>
            <a:fillRect/>
          </a:stretch>
        </p:blipFill>
        <p:spPr>
          <a:xfrm>
            <a:off x="5219700" y="2104390"/>
            <a:ext cx="6400800" cy="2560320"/>
          </a:xfrm>
          <a:prstGeom prst="rect">
            <a:avLst/>
          </a:prstGeom>
        </p:spPr>
      </p:pic>
      <p:sp>
        <p:nvSpPr>
          <p:cNvPr id="8" name="TextBox 7"/>
          <p:cNvSpPr txBox="1"/>
          <p:nvPr/>
        </p:nvSpPr>
        <p:spPr>
          <a:xfrm>
            <a:off x="5207000" y="52705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Explanatory schematic. Release velocity and host velocity refer to the same event and frame.</a:t>
            </a:r>
          </a:p>
        </p:txBody>
      </p:sp>
      <p:sp>
        <p:nvSpPr>
          <p:cNvPr id="9" name="Rectangle 8"/>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Initial integration audience:</a:t>
            </a:r>
          </a:p>
        </p:txBody>
      </p:sp>
      <p:sp>
        <p:nvSpPr>
          <p:cNvPr id="11" name="TextBox 10"/>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orbital-transfer and rideshare</a:t>
            </a:r>
          </a:p>
        </p:txBody>
      </p:sp>
      <p:sp>
        <p:nvSpPr>
          <p:cNvPr id="12" name="TextBox 11"/>
          <p:cNvSpPr txBox="1"/>
          <p:nvPr/>
        </p:nvSpPr>
        <p:spPr>
          <a:xfrm>
            <a:off x="685800" y="22804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host operators</a:t>
            </a:r>
          </a:p>
        </p:txBody>
      </p:sp>
      <p:sp>
        <p:nvSpPr>
          <p:cNvPr id="13" name="Rectangle 12"/>
          <p:cNvSpPr/>
          <p:nvPr/>
        </p:nvSpPr>
        <p:spPr>
          <a:xfrm>
            <a:off x="457200" y="287451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POEM inspires reuse of an</a:t>
            </a:r>
          </a:p>
        </p:txBody>
      </p:sp>
      <p:sp>
        <p:nvSpPr>
          <p:cNvPr id="15" name="TextBox 14"/>
          <p:cNvSpPr txBox="1"/>
          <p:nvPr/>
        </p:nvSpPr>
        <p:spPr>
          <a:xfrm>
            <a:off x="685800" y="30876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orbital platform; Electron Kick</a:t>
            </a:r>
          </a:p>
        </p:txBody>
      </p:sp>
      <p:sp>
        <p:nvSpPr>
          <p:cNvPr id="16" name="TextBox 15"/>
          <p:cNvSpPr txBox="1"/>
          <p:nvPr/>
        </p:nvSpPr>
        <p:spPr>
          <a:xfrm>
            <a:off x="685800" y="340233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Stage inspires host manoeuvres</a:t>
            </a:r>
          </a:p>
        </p:txBody>
      </p:sp>
      <p:sp>
        <p:nvSpPr>
          <p:cNvPr id="17" name="Rectangle 16"/>
          <p:cNvSpPr/>
          <p:nvPr/>
        </p:nvSpPr>
        <p:spPr>
          <a:xfrm>
            <a:off x="457200" y="3996435"/>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89483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Individual departure velocity is an</a:t>
            </a:r>
          </a:p>
        </p:txBody>
      </p:sp>
      <p:sp>
        <p:nvSpPr>
          <p:cNvPr id="19" name="TextBox 18"/>
          <p:cNvSpPr txBox="1"/>
          <p:nvPr/>
        </p:nvSpPr>
        <p:spPr>
          <a:xfrm>
            <a:off x="685800" y="4209541"/>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additional mission variable</a:t>
            </a:r>
          </a:p>
        </p:txBody>
      </p:sp>
      <p:sp>
        <p:nvSpPr>
          <p:cNvPr id="20" name="Rounded Rectangle 19"/>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Add a controllable relative release state to a manoeuvring host.</a:t>
            </a:r>
          </a:p>
        </p:txBody>
      </p:sp>
      <p:cxnSp>
        <p:nvCxnSpPr>
          <p:cNvPr id="23" name="Connector 22"/>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§§1.1,2.2,8.1; ISRO POEM; Rocket Lab Kick Stage</a:t>
            </a:r>
          </a:p>
        </p:txBody>
      </p:sp>
      <p:sp>
        <p:nvSpPr>
          <p:cNvPr id="25" name="TextBox 24"/>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03 / 31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LITERATURE REVIEW AND RESEARCH GAP</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The contribution is the integrated retained-carrier cycle</a:t>
            </a:r>
          </a:p>
        </p:txBody>
      </p:sp>
      <p:sp>
        <p:nvSpPr>
          <p:cNvPr id="6" name="Rectangle 5"/>
          <p:cNvSpPr/>
          <p:nvPr/>
        </p:nvSpPr>
        <p:spPr>
          <a:xfrm>
            <a:off x="457200" y="1612900"/>
            <a:ext cx="3383279" cy="762000"/>
          </a:xfrm>
          <a:prstGeom prst="rect">
            <a:avLst/>
          </a:prstGeom>
          <a:solidFill>
            <a:srgbClr val="102238"/>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4200" y="1765300"/>
            <a:ext cx="3129280" cy="260096"/>
          </a:xfrm>
          <a:prstGeom prst="rect">
            <a:avLst/>
          </a:prstGeom>
          <a:noFill/>
        </p:spPr>
        <p:txBody>
          <a:bodyPr wrap="none" lIns="0" rIns="0" tIns="0" bIns="0">
            <a:spAutoFit/>
          </a:bodyPr>
          <a:lstStyle/>
          <a:p>
            <a:pPr algn="l">
              <a:spcBef>
                <a:spcPts val="0"/>
              </a:spcBef>
              <a:spcAft>
                <a:spcPts val="0"/>
              </a:spcAft>
            </a:pPr>
            <a:r>
              <a:rPr sz="1600" b="1" i="0">
                <a:solidFill>
                  <a:srgbClr val="FFFFFF"/>
                </a:solidFill>
                <a:latin typeface="Liberation Sans"/>
              </a:rPr>
              <a:t>Prior work / study</a:t>
            </a:r>
          </a:p>
        </p:txBody>
      </p:sp>
      <p:sp>
        <p:nvSpPr>
          <p:cNvPr id="8" name="Rectangle 7"/>
          <p:cNvSpPr/>
          <p:nvPr/>
        </p:nvSpPr>
        <p:spPr>
          <a:xfrm>
            <a:off x="3840479" y="1612900"/>
            <a:ext cx="7894320" cy="762000"/>
          </a:xfrm>
          <a:prstGeom prst="rect">
            <a:avLst/>
          </a:prstGeom>
          <a:solidFill>
            <a:srgbClr val="102238"/>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67479" y="1765300"/>
            <a:ext cx="7640319" cy="260096"/>
          </a:xfrm>
          <a:prstGeom prst="rect">
            <a:avLst/>
          </a:prstGeom>
          <a:noFill/>
        </p:spPr>
        <p:txBody>
          <a:bodyPr wrap="none" lIns="0" rIns="0" tIns="0" bIns="0">
            <a:spAutoFit/>
          </a:bodyPr>
          <a:lstStyle/>
          <a:p>
            <a:pPr algn="l">
              <a:spcBef>
                <a:spcPts val="0"/>
              </a:spcBef>
              <a:spcAft>
                <a:spcPts val="0"/>
              </a:spcAft>
            </a:pPr>
            <a:r>
              <a:rPr sz="1600" b="1" i="0">
                <a:solidFill>
                  <a:srgbClr val="FFFFFF"/>
                </a:solidFill>
                <a:latin typeface="Liberation Sans"/>
              </a:rPr>
              <a:t>Engineering focus</a:t>
            </a:r>
          </a:p>
        </p:txBody>
      </p:sp>
      <p:sp>
        <p:nvSpPr>
          <p:cNvPr id="10" name="Rectangle 9"/>
          <p:cNvSpPr/>
          <p:nvPr/>
        </p:nvSpPr>
        <p:spPr>
          <a:xfrm>
            <a:off x="457200" y="2374900"/>
            <a:ext cx="3383279" cy="762000"/>
          </a:xfrm>
          <a:prstGeom prst="rect">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4200" y="2527300"/>
            <a:ext cx="3129280" cy="260096"/>
          </a:xfrm>
          <a:prstGeom prst="rect">
            <a:avLst/>
          </a:prstGeom>
          <a:noFill/>
        </p:spPr>
        <p:txBody>
          <a:bodyPr wrap="none" lIns="0" rIns="0" tIns="0" bIns="0">
            <a:spAutoFit/>
          </a:bodyPr>
          <a:lstStyle/>
          <a:p>
            <a:pPr algn="l">
              <a:spcBef>
                <a:spcPts val="0"/>
              </a:spcBef>
              <a:spcAft>
                <a:spcPts val="0"/>
              </a:spcAft>
            </a:pPr>
            <a:r>
              <a:rPr sz="1600" b="0" i="0">
                <a:solidFill>
                  <a:srgbClr val="172D43"/>
                </a:solidFill>
                <a:latin typeface="Liberation Sans"/>
              </a:rPr>
              <a:t>Zhao et al. (2022)</a:t>
            </a:r>
          </a:p>
        </p:txBody>
      </p:sp>
      <p:sp>
        <p:nvSpPr>
          <p:cNvPr id="12" name="Rectangle 11"/>
          <p:cNvSpPr/>
          <p:nvPr/>
        </p:nvSpPr>
        <p:spPr>
          <a:xfrm>
            <a:off x="3840479" y="2374900"/>
            <a:ext cx="7894320" cy="762000"/>
          </a:xfrm>
          <a:prstGeom prst="rect">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67479" y="2527300"/>
            <a:ext cx="7640319" cy="260096"/>
          </a:xfrm>
          <a:prstGeom prst="rect">
            <a:avLst/>
          </a:prstGeom>
          <a:noFill/>
        </p:spPr>
        <p:txBody>
          <a:bodyPr wrap="none" lIns="0" rIns="0" tIns="0" bIns="0">
            <a:spAutoFit/>
          </a:bodyPr>
          <a:lstStyle/>
          <a:p>
            <a:pPr algn="l">
              <a:spcBef>
                <a:spcPts val="0"/>
              </a:spcBef>
              <a:spcAft>
                <a:spcPts val="0"/>
              </a:spcAft>
            </a:pPr>
            <a:r>
              <a:rPr sz="1600" b="0" i="0">
                <a:solidFill>
                  <a:srgbClr val="172D43"/>
                </a:solidFill>
                <a:latin typeface="Liberation Sans"/>
              </a:rPr>
              <a:t>Stacked electromagnetic deployment</a:t>
            </a:r>
          </a:p>
        </p:txBody>
      </p:sp>
      <p:sp>
        <p:nvSpPr>
          <p:cNvPr id="14" name="Rectangle 13"/>
          <p:cNvSpPr/>
          <p:nvPr/>
        </p:nvSpPr>
        <p:spPr>
          <a:xfrm>
            <a:off x="457200" y="3136900"/>
            <a:ext cx="3383279" cy="762000"/>
          </a:xfrm>
          <a:prstGeom prst="rect">
            <a:avLst/>
          </a:prstGeom>
          <a:solidFill>
            <a:srgbClr val="EDF3F7"/>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4200" y="3289300"/>
            <a:ext cx="3129280" cy="260096"/>
          </a:xfrm>
          <a:prstGeom prst="rect">
            <a:avLst/>
          </a:prstGeom>
          <a:noFill/>
        </p:spPr>
        <p:txBody>
          <a:bodyPr wrap="none" lIns="0" rIns="0" tIns="0" bIns="0">
            <a:spAutoFit/>
          </a:bodyPr>
          <a:lstStyle/>
          <a:p>
            <a:pPr algn="l">
              <a:spcBef>
                <a:spcPts val="0"/>
              </a:spcBef>
              <a:spcAft>
                <a:spcPts val="0"/>
              </a:spcAft>
            </a:pPr>
            <a:r>
              <a:rPr sz="1600" b="0" i="0">
                <a:solidFill>
                  <a:srgbClr val="172D43"/>
                </a:solidFill>
                <a:latin typeface="Liberation Sans"/>
              </a:rPr>
              <a:t>Zhao et al. (2025)</a:t>
            </a:r>
          </a:p>
        </p:txBody>
      </p:sp>
      <p:sp>
        <p:nvSpPr>
          <p:cNvPr id="16" name="Rectangle 15"/>
          <p:cNvSpPr/>
          <p:nvPr/>
        </p:nvSpPr>
        <p:spPr>
          <a:xfrm>
            <a:off x="3840479" y="3136900"/>
            <a:ext cx="7894320" cy="762000"/>
          </a:xfrm>
          <a:prstGeom prst="rect">
            <a:avLst/>
          </a:prstGeom>
          <a:solidFill>
            <a:srgbClr val="EDF3F7"/>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7479" y="3289300"/>
            <a:ext cx="7640319" cy="260096"/>
          </a:xfrm>
          <a:prstGeom prst="rect">
            <a:avLst/>
          </a:prstGeom>
          <a:noFill/>
        </p:spPr>
        <p:txBody>
          <a:bodyPr wrap="none" lIns="0" rIns="0" tIns="0" bIns="0">
            <a:spAutoFit/>
          </a:bodyPr>
          <a:lstStyle/>
          <a:p>
            <a:pPr algn="l">
              <a:spcBef>
                <a:spcPts val="0"/>
              </a:spcBef>
              <a:spcAft>
                <a:spcPts val="0"/>
              </a:spcAft>
            </a:pPr>
            <a:r>
              <a:rPr sz="1600" b="0" i="0">
                <a:solidFill>
                  <a:srgbClr val="172D43"/>
                </a:solidFill>
                <a:latin typeface="Liberation Sans"/>
              </a:rPr>
              <a:t>Storage and transport interfaces</a:t>
            </a:r>
          </a:p>
        </p:txBody>
      </p:sp>
      <p:sp>
        <p:nvSpPr>
          <p:cNvPr id="18" name="Rectangle 17"/>
          <p:cNvSpPr/>
          <p:nvPr/>
        </p:nvSpPr>
        <p:spPr>
          <a:xfrm>
            <a:off x="457200" y="3898900"/>
            <a:ext cx="3383279" cy="762000"/>
          </a:xfrm>
          <a:prstGeom prst="rect">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4200" y="4051300"/>
            <a:ext cx="3129280" cy="260096"/>
          </a:xfrm>
          <a:prstGeom prst="rect">
            <a:avLst/>
          </a:prstGeom>
          <a:noFill/>
        </p:spPr>
        <p:txBody>
          <a:bodyPr wrap="none" lIns="0" rIns="0" tIns="0" bIns="0">
            <a:spAutoFit/>
          </a:bodyPr>
          <a:lstStyle/>
          <a:p>
            <a:pPr algn="l">
              <a:spcBef>
                <a:spcPts val="0"/>
              </a:spcBef>
              <a:spcAft>
                <a:spcPts val="0"/>
              </a:spcAft>
            </a:pPr>
            <a:r>
              <a:rPr sz="1600" b="0" i="0">
                <a:solidFill>
                  <a:srgbClr val="172D43"/>
                </a:solidFill>
                <a:latin typeface="Liberation Sans"/>
              </a:rPr>
              <a:t>Feng et al. (2025)</a:t>
            </a:r>
          </a:p>
        </p:txBody>
      </p:sp>
      <p:sp>
        <p:nvSpPr>
          <p:cNvPr id="20" name="Rectangle 19"/>
          <p:cNvSpPr/>
          <p:nvPr/>
        </p:nvSpPr>
        <p:spPr>
          <a:xfrm>
            <a:off x="3840479" y="3898900"/>
            <a:ext cx="7894320" cy="762000"/>
          </a:xfrm>
          <a:prstGeom prst="rect">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7479" y="4051300"/>
            <a:ext cx="7640319" cy="260096"/>
          </a:xfrm>
          <a:prstGeom prst="rect">
            <a:avLst/>
          </a:prstGeom>
          <a:noFill/>
        </p:spPr>
        <p:txBody>
          <a:bodyPr wrap="none" lIns="0" rIns="0" tIns="0" bIns="0">
            <a:spAutoFit/>
          </a:bodyPr>
          <a:lstStyle/>
          <a:p>
            <a:pPr algn="l">
              <a:spcBef>
                <a:spcPts val="0"/>
              </a:spcBef>
              <a:spcAft>
                <a:spcPts val="0"/>
              </a:spcAft>
            </a:pPr>
            <a:r>
              <a:rPr sz="1600" b="0" i="0">
                <a:solidFill>
                  <a:srgbClr val="172D43"/>
                </a:solidFill>
                <a:latin typeface="Liberation Sans"/>
              </a:rPr>
              <a:t>Reachable-domain study</a:t>
            </a:r>
          </a:p>
        </p:txBody>
      </p:sp>
      <p:sp>
        <p:nvSpPr>
          <p:cNvPr id="22" name="Rectangle 21"/>
          <p:cNvSpPr/>
          <p:nvPr/>
        </p:nvSpPr>
        <p:spPr>
          <a:xfrm>
            <a:off x="457200" y="4660900"/>
            <a:ext cx="3383279" cy="762000"/>
          </a:xfrm>
          <a:prstGeom prst="rect">
            <a:avLst/>
          </a:prstGeom>
          <a:solidFill>
            <a:srgbClr val="EDF3F7"/>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4200" y="4813300"/>
            <a:ext cx="3129280" cy="260096"/>
          </a:xfrm>
          <a:prstGeom prst="rect">
            <a:avLst/>
          </a:prstGeom>
          <a:noFill/>
        </p:spPr>
        <p:txBody>
          <a:bodyPr wrap="none" lIns="0" rIns="0" tIns="0" bIns="0">
            <a:spAutoFit/>
          </a:bodyPr>
          <a:lstStyle/>
          <a:p>
            <a:pPr algn="l">
              <a:spcBef>
                <a:spcPts val="0"/>
              </a:spcBef>
              <a:spcAft>
                <a:spcPts val="0"/>
              </a:spcAft>
            </a:pPr>
            <a:r>
              <a:rPr sz="1600" b="0" i="0">
                <a:solidFill>
                  <a:srgbClr val="172D43"/>
                </a:solidFill>
                <a:latin typeface="Liberation Sans"/>
              </a:rPr>
              <a:t>VOLLEY</a:t>
            </a:r>
          </a:p>
        </p:txBody>
      </p:sp>
      <p:sp>
        <p:nvSpPr>
          <p:cNvPr id="24" name="Rectangle 23"/>
          <p:cNvSpPr/>
          <p:nvPr/>
        </p:nvSpPr>
        <p:spPr>
          <a:xfrm>
            <a:off x="3840479" y="4660900"/>
            <a:ext cx="7894320" cy="762000"/>
          </a:xfrm>
          <a:prstGeom prst="rect">
            <a:avLst/>
          </a:prstGeom>
          <a:solidFill>
            <a:srgbClr val="EDF3F7"/>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67479" y="4813300"/>
            <a:ext cx="7640319" cy="260096"/>
          </a:xfrm>
          <a:prstGeom prst="rect">
            <a:avLst/>
          </a:prstGeom>
          <a:noFill/>
        </p:spPr>
        <p:txBody>
          <a:bodyPr wrap="none" lIns="0" rIns="0" tIns="0" bIns="0">
            <a:spAutoFit/>
          </a:bodyPr>
          <a:lstStyle/>
          <a:p>
            <a:pPr algn="l">
              <a:spcBef>
                <a:spcPts val="0"/>
              </a:spcBef>
              <a:spcAft>
                <a:spcPts val="0"/>
              </a:spcAft>
            </a:pPr>
            <a:r>
              <a:rPr sz="1600" b="0" i="0">
                <a:solidFill>
                  <a:srgbClr val="172D43"/>
                </a:solidFill>
                <a:latin typeface="Liberation Sans"/>
              </a:rPr>
              <a:t>Integrated custody, finite motor/source, arrest and mission burden</a:t>
            </a:r>
          </a:p>
        </p:txBody>
      </p:sp>
      <p:sp>
        <p:nvSpPr>
          <p:cNvPr id="26" name="Rounded Rectangle 25"/>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Connect custody, finite motor force, source response, arrest and mission burden.</a:t>
            </a:r>
          </a:p>
        </p:txBody>
      </p:sp>
      <p:cxnSp>
        <p:nvCxnSpPr>
          <p:cNvPr id="29" name="Connector 28"/>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chapter 3; doi:10.3390/rs14174205; doi:10.3390/aerospace12060466; doi:10.1155/ijae/3000765</a:t>
            </a:r>
          </a:p>
        </p:txBody>
      </p:sp>
      <p:sp>
        <p:nvSpPr>
          <p:cNvPr id="31" name="TextBox 30"/>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04 / 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OBJECTIVES AND CONFIGURATION</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A complete reference for twelve retained payloads</a:t>
            </a:r>
          </a:p>
        </p:txBody>
      </p:sp>
      <p:sp>
        <p:nvSpPr>
          <p:cNvPr id="6" name="Rounded Rectangle 5"/>
          <p:cNvSpPr/>
          <p:nvPr/>
        </p:nvSpPr>
        <p:spPr>
          <a:xfrm>
            <a:off x="5105400" y="1612900"/>
            <a:ext cx="6629400" cy="28194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D3_assembly_guide-9128ffa322a2.jpg"/>
          <p:cNvPicPr>
            <a:picLocks noChangeAspect="1"/>
          </p:cNvPicPr>
          <p:nvPr/>
        </p:nvPicPr>
        <p:blipFill>
          <a:blip r:embed="rId2"/>
          <a:stretch>
            <a:fillRect/>
          </a:stretch>
        </p:blipFill>
        <p:spPr>
          <a:xfrm>
            <a:off x="6338410" y="1714500"/>
            <a:ext cx="4163379" cy="2603500"/>
          </a:xfrm>
          <a:prstGeom prst="rect">
            <a:avLst/>
          </a:prstGeom>
        </p:spPr>
      </p:pic>
      <p:sp>
        <p:nvSpPr>
          <p:cNvPr id="8" name="TextBox 7"/>
          <p:cNvSpPr txBox="1"/>
          <p:nvPr/>
        </p:nvSpPr>
        <p:spPr>
          <a:xfrm>
            <a:off x="5207000" y="45339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CAD-derived assembly view. The represented payload is a 3U envelope surrogate.</a:t>
            </a:r>
          </a:p>
        </p:txBody>
      </p:sp>
      <p:sp>
        <p:nvSpPr>
          <p:cNvPr id="9" name="Rectangle 8"/>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Two fixed six-cell banks; one</a:t>
            </a:r>
          </a:p>
        </p:txBody>
      </p:sp>
      <p:sp>
        <p:nvSpPr>
          <p:cNvPr id="11" name="TextBox 10"/>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indexed captive pallet</a:t>
            </a:r>
          </a:p>
        </p:txBody>
      </p:sp>
      <p:sp>
        <p:nvSpPr>
          <p:cNvPr id="12" name="Rectangle 11"/>
          <p:cNvSpPr/>
          <p:nvPr/>
        </p:nvSpPr>
        <p:spPr>
          <a:xfrm>
            <a:off x="457200" y="2559812"/>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4582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Guided lead-screw feed; positive</a:t>
            </a:r>
          </a:p>
        </p:txBody>
      </p:sp>
      <p:sp>
        <p:nvSpPr>
          <p:cNvPr id="14" name="TextBox 13"/>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carrier capture</a:t>
            </a:r>
          </a:p>
        </p:txBody>
      </p:sp>
      <p:sp>
        <p:nvSpPr>
          <p:cNvPr id="15" name="Rectangle 14"/>
          <p:cNvSpPr/>
          <p:nvPr/>
        </p:nvSpPr>
        <p:spPr>
          <a:xfrm>
            <a:off x="457200" y="3367024"/>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2654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Reusable moving-magnet carrier;</a:t>
            </a:r>
          </a:p>
        </p:txBody>
      </p:sp>
      <p:sp>
        <p:nvSpPr>
          <p:cNvPr id="17" name="TextBox 16"/>
          <p:cNvSpPr txBox="1"/>
          <p:nvPr/>
        </p:nvSpPr>
        <p:spPr>
          <a:xfrm>
            <a:off x="685800" y="3580129"/>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fixed three-phase stator</a:t>
            </a:r>
          </a:p>
        </p:txBody>
      </p:sp>
      <p:sp>
        <p:nvSpPr>
          <p:cNvPr id="18" name="Rounded Rectangle 17"/>
          <p:cNvSpPr/>
          <p:nvPr/>
        </p:nvSpPr>
        <p:spPr>
          <a:xfrm>
            <a:off x="457200" y="4940300"/>
            <a:ext cx="3632200" cy="584200"/>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4200" y="4991100"/>
            <a:ext cx="3429000" cy="373888"/>
          </a:xfrm>
          <a:prstGeom prst="rect">
            <a:avLst/>
          </a:prstGeom>
          <a:noFill/>
        </p:spPr>
        <p:txBody>
          <a:bodyPr wrap="none" lIns="0" rIns="0" tIns="0" bIns="0">
            <a:spAutoFit/>
          </a:bodyPr>
          <a:lstStyle/>
          <a:p>
            <a:pPr algn="l">
              <a:spcBef>
                <a:spcPts val="0"/>
              </a:spcBef>
              <a:spcAft>
                <a:spcPts val="0"/>
              </a:spcAft>
            </a:pPr>
            <a:r>
              <a:rPr sz="2300" b="1" i="0">
                <a:solidFill>
                  <a:srgbClr val="236D9B"/>
                </a:solidFill>
                <a:latin typeface="Liberation Sans"/>
              </a:rPr>
              <a:t>12 × 4 kg</a:t>
            </a:r>
          </a:p>
        </p:txBody>
      </p:sp>
      <p:sp>
        <p:nvSpPr>
          <p:cNvPr id="20" name="TextBox 19"/>
          <p:cNvSpPr txBox="1"/>
          <p:nvPr/>
        </p:nvSpPr>
        <p:spPr>
          <a:xfrm>
            <a:off x="584200" y="5334000"/>
            <a:ext cx="34290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3U envelope surrogates</a:t>
            </a:r>
          </a:p>
        </p:txBody>
      </p:sp>
      <p:sp>
        <p:nvSpPr>
          <p:cNvPr id="21" name="Rounded Rectangle 20"/>
          <p:cNvSpPr/>
          <p:nvPr/>
        </p:nvSpPr>
        <p:spPr>
          <a:xfrm>
            <a:off x="4216400" y="4940300"/>
            <a:ext cx="3632200" cy="584200"/>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43400" y="4991100"/>
            <a:ext cx="3429000" cy="373888"/>
          </a:xfrm>
          <a:prstGeom prst="rect">
            <a:avLst/>
          </a:prstGeom>
          <a:noFill/>
        </p:spPr>
        <p:txBody>
          <a:bodyPr wrap="none" lIns="0" rIns="0" tIns="0" bIns="0">
            <a:spAutoFit/>
          </a:bodyPr>
          <a:lstStyle/>
          <a:p>
            <a:pPr algn="l">
              <a:spcBef>
                <a:spcPts val="0"/>
              </a:spcBef>
              <a:spcAft>
                <a:spcPts val="0"/>
              </a:spcAft>
            </a:pPr>
            <a:r>
              <a:rPr sz="2300" b="1" i="0">
                <a:solidFill>
                  <a:srgbClr val="236D9B"/>
                </a:solidFill>
                <a:latin typeface="Liberation Sans"/>
              </a:rPr>
              <a:t>1–3 m/s</a:t>
            </a:r>
          </a:p>
        </p:txBody>
      </p:sp>
      <p:sp>
        <p:nvSpPr>
          <p:cNvPr id="23" name="TextBox 22"/>
          <p:cNvSpPr txBox="1"/>
          <p:nvPr/>
        </p:nvSpPr>
        <p:spPr>
          <a:xfrm>
            <a:off x="4343400" y="5334000"/>
            <a:ext cx="34290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Analysed command cases</a:t>
            </a:r>
          </a:p>
        </p:txBody>
      </p:sp>
      <p:sp>
        <p:nvSpPr>
          <p:cNvPr id="24" name="Rounded Rectangle 23"/>
          <p:cNvSpPr/>
          <p:nvPr/>
        </p:nvSpPr>
        <p:spPr>
          <a:xfrm>
            <a:off x="7975599" y="4940300"/>
            <a:ext cx="3632200" cy="584200"/>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02600" y="4991100"/>
            <a:ext cx="3429000" cy="373888"/>
          </a:xfrm>
          <a:prstGeom prst="rect">
            <a:avLst/>
          </a:prstGeom>
          <a:noFill/>
        </p:spPr>
        <p:txBody>
          <a:bodyPr wrap="none" lIns="0" rIns="0" tIns="0" bIns="0">
            <a:spAutoFit/>
          </a:bodyPr>
          <a:lstStyle/>
          <a:p>
            <a:pPr algn="l">
              <a:spcBef>
                <a:spcPts val="0"/>
              </a:spcBef>
              <a:spcAft>
                <a:spcPts val="0"/>
              </a:spcAft>
            </a:pPr>
            <a:r>
              <a:rPr sz="2300" b="1" i="0">
                <a:solidFill>
                  <a:srgbClr val="236D9B"/>
                </a:solidFill>
                <a:latin typeface="Liberation Sans"/>
              </a:rPr>
              <a:t>2250 mm</a:t>
            </a:r>
          </a:p>
        </p:txBody>
      </p:sp>
      <p:sp>
        <p:nvSpPr>
          <p:cNvPr id="26" name="TextBox 25"/>
          <p:cNvSpPr txBox="1"/>
          <p:nvPr/>
        </p:nvSpPr>
        <p:spPr>
          <a:xfrm>
            <a:off x="8102600" y="5334000"/>
            <a:ext cx="34290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Guide-rail allocation</a:t>
            </a:r>
          </a:p>
        </p:txBody>
      </p:sp>
      <p:sp>
        <p:nvSpPr>
          <p:cNvPr id="27" name="Rounded Rectangle 26"/>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Define a repeatable path from storage to free departure.</a:t>
            </a:r>
          </a:p>
        </p:txBody>
      </p:sp>
      <p:cxnSp>
        <p:nvCxnSpPr>
          <p:cNvPr id="30" name="Connector 29"/>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§§2.1–2.3,5.1</a:t>
            </a:r>
          </a:p>
        </p:txBody>
      </p:sp>
      <p:sp>
        <p:nvSpPr>
          <p:cNvPr id="32" name="TextBox 31"/>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05 / 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FEEDER MECHANISM</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Feed one cell into a supported receiver</a:t>
            </a:r>
          </a:p>
        </p:txBody>
      </p:sp>
      <p:sp>
        <p:nvSpPr>
          <p:cNvPr id="6" name="Rounded Rectangle 5"/>
          <p:cNvSpPr/>
          <p:nvPr/>
        </p:nvSpPr>
        <p:spPr>
          <a:xfrm>
            <a:off x="5105400" y="1612900"/>
            <a:ext cx="6629400" cy="35560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feed_and_captur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451122" y="1714500"/>
            <a:ext cx="5937955" cy="3340100"/>
          </a:xfrm>
          <a:prstGeom prst="rect">
            <a:avLst/>
          </a:prstGeom>
        </p:spPr>
      </p:pic>
      <p:sp>
        <p:nvSpPr>
          <p:cNvPr id="8" name="TextBox 7"/>
          <p:cNvSpPr txBox="1"/>
          <p:nvPr/>
        </p:nvSpPr>
        <p:spPr>
          <a:xfrm>
            <a:off x="5207000" y="52705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CAD-derived operating sequence; display timing edited. Static fallback shown.</a:t>
            </a:r>
          </a:p>
        </p:txBody>
      </p:sp>
      <p:sp>
        <p:nvSpPr>
          <p:cNvPr id="9" name="Rectangle 8"/>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Index the receiver to the selected</a:t>
            </a:r>
          </a:p>
        </p:txBody>
      </p:sp>
      <p:sp>
        <p:nvSpPr>
          <p:cNvPr id="11" name="TextBox 10"/>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cell</a:t>
            </a:r>
          </a:p>
        </p:txBody>
      </p:sp>
      <p:sp>
        <p:nvSpPr>
          <p:cNvPr id="12" name="Rectangle 11"/>
          <p:cNvSpPr/>
          <p:nvPr/>
        </p:nvSpPr>
        <p:spPr>
          <a:xfrm>
            <a:off x="457200" y="2559812"/>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4582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Open the permitted restraint;</a:t>
            </a:r>
          </a:p>
        </p:txBody>
      </p:sp>
      <p:sp>
        <p:nvSpPr>
          <p:cNvPr id="14" name="TextBox 13"/>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advance the guided pusher</a:t>
            </a:r>
          </a:p>
        </p:txBody>
      </p:sp>
      <p:sp>
        <p:nvSpPr>
          <p:cNvPr id="15" name="Rectangle 14"/>
          <p:cNvSpPr/>
          <p:nvPr/>
        </p:nvSpPr>
        <p:spPr>
          <a:xfrm>
            <a:off x="457200" y="3367024"/>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2654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Establish receiving containment;</a:t>
            </a:r>
          </a:p>
        </p:txBody>
      </p:sp>
      <p:sp>
        <p:nvSpPr>
          <p:cNvPr id="17" name="TextBox 16"/>
          <p:cNvSpPr txBox="1"/>
          <p:nvPr/>
        </p:nvSpPr>
        <p:spPr>
          <a:xfrm>
            <a:off x="685800" y="3580129"/>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retract the pusher and close the</a:t>
            </a:r>
          </a:p>
        </p:txBody>
      </p:sp>
      <p:sp>
        <p:nvSpPr>
          <p:cNvPr id="18" name="TextBox 17"/>
          <p:cNvSpPr txBox="1"/>
          <p:nvPr/>
        </p:nvSpPr>
        <p:spPr>
          <a:xfrm>
            <a:off x="685800" y="389483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cell</a:t>
            </a:r>
          </a:p>
        </p:txBody>
      </p:sp>
      <p:sp>
        <p:nvSpPr>
          <p:cNvPr id="19" name="Rounded Rectangle 18"/>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The selected guided lead screw transfers the payload into the lift-held pallet.</a:t>
            </a:r>
          </a:p>
        </p:txBody>
      </p:sp>
      <p:cxnSp>
        <p:nvCxnSpPr>
          <p:cNvPr id="22" name="Connector 21"/>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§§5.1–5.4,7.4; Labs feeder selection</a:t>
            </a:r>
          </a:p>
        </p:txBody>
      </p:sp>
      <p:sp>
        <p:nvSpPr>
          <p:cNvPr id="24" name="TextBox 23"/>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06 / 31</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PALLET DOCKING AND RELEASE</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Transfer custody before withdrawing support</a:t>
            </a:r>
          </a:p>
        </p:txBody>
      </p:sp>
      <p:sp>
        <p:nvSpPr>
          <p:cNvPr id="6" name="Rounded Rectangle 5"/>
          <p:cNvSpPr/>
          <p:nvPr/>
        </p:nvSpPr>
        <p:spPr>
          <a:xfrm>
            <a:off x="5105400" y="1612900"/>
            <a:ext cx="6629400" cy="35560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2_handoff_pallet_locks-f075051e2179.jpg"/>
          <p:cNvPicPr>
            <a:picLocks noChangeAspect="1"/>
          </p:cNvPicPr>
          <p:nvPr/>
        </p:nvPicPr>
        <p:blipFill>
          <a:blip r:embed="rId2"/>
          <a:stretch>
            <a:fillRect/>
          </a:stretch>
        </p:blipFill>
        <p:spPr>
          <a:xfrm>
            <a:off x="6192860" y="1714500"/>
            <a:ext cx="4454478" cy="3340100"/>
          </a:xfrm>
          <a:prstGeom prst="rect">
            <a:avLst/>
          </a:prstGeom>
        </p:spPr>
      </p:pic>
      <p:sp>
        <p:nvSpPr>
          <p:cNvPr id="8" name="TextBox 7"/>
          <p:cNvSpPr txBox="1"/>
          <p:nvPr/>
        </p:nvSpPr>
        <p:spPr>
          <a:xfrm>
            <a:off x="5207000" y="52705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CAD-derived docking state. Modelled capture sequence; not a photographed hardware test.</a:t>
            </a:r>
          </a:p>
        </p:txBody>
      </p:sp>
      <p:sp>
        <p:nvSpPr>
          <p:cNvPr id="9" name="Rectangle 8"/>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Carrier capture caps and</a:t>
            </a:r>
          </a:p>
        </p:txBody>
      </p:sp>
      <p:sp>
        <p:nvSpPr>
          <p:cNvPr id="11" name="TextBox 10"/>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independent pins engage</a:t>
            </a:r>
          </a:p>
        </p:txBody>
      </p:sp>
      <p:sp>
        <p:nvSpPr>
          <p:cNvPr id="12" name="Rectangle 11"/>
          <p:cNvSpPr/>
          <p:nvPr/>
        </p:nvSpPr>
        <p:spPr>
          <a:xfrm>
            <a:off x="457200" y="2559812"/>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4582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Keyed pallet shafts insert 12 mm</a:t>
            </a:r>
          </a:p>
        </p:txBody>
      </p:sp>
      <p:sp>
        <p:nvSpPr>
          <p:cNvPr id="14" name="TextBox 13"/>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and rotate 90°</a:t>
            </a:r>
          </a:p>
        </p:txBody>
      </p:sp>
      <p:sp>
        <p:nvSpPr>
          <p:cNvPr id="15" name="Rectangle 14"/>
          <p:cNvSpPr/>
          <p:nvPr/>
        </p:nvSpPr>
        <p:spPr>
          <a:xfrm>
            <a:off x="457200" y="3367024"/>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2654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Only then do lift grips retract and</a:t>
            </a:r>
          </a:p>
        </p:txBody>
      </p:sp>
      <p:sp>
        <p:nvSpPr>
          <p:cNvPr id="17" name="TextBox 16"/>
          <p:cNvSpPr txBox="1"/>
          <p:nvPr/>
        </p:nvSpPr>
        <p:spPr>
          <a:xfrm>
            <a:off x="685800" y="3580129"/>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the lift clear the launch path</a:t>
            </a:r>
          </a:p>
        </p:txBody>
      </p:sp>
      <p:sp>
        <p:nvSpPr>
          <p:cNvPr id="18" name="Rounded Rectangle 17"/>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One captive pallet stays with the reusable carrier through launch and recovery.</a:t>
            </a:r>
          </a:p>
        </p:txBody>
      </p:sp>
      <p:cxnSp>
        <p:nvCxnSpPr>
          <p:cNvPr id="21" name="Connector 20"/>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§§5.2–5.4,9.2</a:t>
            </a:r>
          </a:p>
        </p:txBody>
      </p:sp>
      <p:sp>
        <p:nvSpPr>
          <p:cNvPr id="23" name="TextBox 22"/>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07 /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ELECTROMAGNETIC OPERATING PRINCIPLE</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Finite geometry sets the motor force</a:t>
            </a:r>
          </a:p>
        </p:txBody>
      </p:sp>
      <p:sp>
        <p:nvSpPr>
          <p:cNvPr id="6" name="Rounded Rectangle 5"/>
          <p:cNvSpPr/>
          <p:nvPr/>
        </p:nvSpPr>
        <p:spPr>
          <a:xfrm>
            <a:off x="5105400" y="1612900"/>
            <a:ext cx="6629400" cy="28194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21300" y="1765300"/>
            <a:ext cx="6197600" cy="341375"/>
          </a:xfrm>
          <a:prstGeom prst="rect">
            <a:avLst/>
          </a:prstGeom>
          <a:noFill/>
        </p:spPr>
        <p:txBody>
          <a:bodyPr wrap="none" lIns="0" rIns="0" tIns="0" bIns="0">
            <a:spAutoFit/>
          </a:bodyPr>
          <a:lstStyle/>
          <a:p>
            <a:pPr algn="l">
              <a:spcBef>
                <a:spcPts val="0"/>
              </a:spcBef>
              <a:spcAft>
                <a:spcPts val="0"/>
              </a:spcAft>
            </a:pPr>
            <a:r>
              <a:rPr sz="2100" b="1" i="0">
                <a:solidFill>
                  <a:srgbClr val="236D9B"/>
                </a:solidFill>
                <a:latin typeface="Liberation Sans"/>
              </a:rPr>
              <a:t>Fₓ = ∫Cu (J × B)ₓ dV</a:t>
            </a:r>
          </a:p>
        </p:txBody>
      </p:sp>
      <p:pic>
        <p:nvPicPr>
          <p:cNvPr id="8" name="Picture 7" descr="motor_force_principle_slide-5aa6819d5b10.jpg"/>
          <p:cNvPicPr>
            <a:picLocks noChangeAspect="1"/>
          </p:cNvPicPr>
          <p:nvPr/>
        </p:nvPicPr>
        <p:blipFill>
          <a:blip r:embed="rId2"/>
          <a:stretch>
            <a:fillRect/>
          </a:stretch>
        </p:blipFill>
        <p:spPr>
          <a:xfrm>
            <a:off x="5784850" y="2209800"/>
            <a:ext cx="5270500" cy="2108200"/>
          </a:xfrm>
          <a:prstGeom prst="rect">
            <a:avLst/>
          </a:prstGeom>
        </p:spPr>
      </p:pic>
      <p:sp>
        <p:nvSpPr>
          <p:cNvPr id="9" name="TextBox 8"/>
          <p:cNvSpPr txBox="1"/>
          <p:nvPr/>
        </p:nvSpPr>
        <p:spPr>
          <a:xfrm>
            <a:off x="5207000" y="45339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Local force/reaction schematic. The numerical model integrates the represented finite geometry.</a:t>
            </a:r>
          </a:p>
        </p:txBody>
      </p:sp>
      <p:sp>
        <p:nvSpPr>
          <p:cNvPr id="10" name="Rectangle 9"/>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Integrate current density over the</a:t>
            </a:r>
          </a:p>
        </p:txBody>
      </p:sp>
      <p:sp>
        <p:nvSpPr>
          <p:cNvPr id="12" name="TextBox 11"/>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represented copper</a:t>
            </a:r>
          </a:p>
        </p:txBody>
      </p:sp>
      <p:sp>
        <p:nvSpPr>
          <p:cNvPr id="13" name="Rectangle 12"/>
          <p:cNvSpPr/>
          <p:nvPr/>
        </p:nvSpPr>
        <p:spPr>
          <a:xfrm>
            <a:off x="457200" y="2559812"/>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582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Finite magnet blocks, active</a:t>
            </a:r>
          </a:p>
        </p:txBody>
      </p:sp>
      <p:sp>
        <p:nvSpPr>
          <p:cNvPr id="15" name="TextBox 14"/>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conductors and returns enter the</a:t>
            </a:r>
          </a:p>
        </p:txBody>
      </p:sp>
      <p:sp>
        <p:nvSpPr>
          <p:cNvPr id="16" name="TextBox 15"/>
          <p:cNvSpPr txBox="1"/>
          <p:nvPr/>
        </p:nvSpPr>
        <p:spPr>
          <a:xfrm>
            <a:off x="685800" y="30876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calculation</a:t>
            </a:r>
          </a:p>
        </p:txBody>
      </p:sp>
      <p:sp>
        <p:nvSpPr>
          <p:cNvPr id="17" name="Rectangle 16"/>
          <p:cNvSpPr/>
          <p:nvPr/>
        </p:nvSpPr>
        <p:spPr>
          <a:xfrm>
            <a:off x="457200" y="3681729"/>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580129"/>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Launch and arrest use their</a:t>
            </a:r>
          </a:p>
        </p:txBody>
      </p:sp>
      <p:sp>
        <p:nvSpPr>
          <p:cNvPr id="19" name="TextBox 18"/>
          <p:cNvSpPr txBox="1"/>
          <p:nvPr/>
        </p:nvSpPr>
        <p:spPr>
          <a:xfrm>
            <a:off x="685800" y="389483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corresponding</a:t>
            </a:r>
          </a:p>
        </p:txBody>
      </p:sp>
      <p:sp>
        <p:nvSpPr>
          <p:cNvPr id="20" name="TextBox 19"/>
          <p:cNvSpPr txBox="1"/>
          <p:nvPr/>
        </p:nvSpPr>
        <p:spPr>
          <a:xfrm>
            <a:off x="685800" y="4209541"/>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position-dependent maps</a:t>
            </a:r>
          </a:p>
        </p:txBody>
      </p:sp>
      <p:sp>
        <p:nvSpPr>
          <p:cNvPr id="21" name="Rounded Rectangle 20"/>
          <p:cNvSpPr/>
          <p:nvPr/>
        </p:nvSpPr>
        <p:spPr>
          <a:xfrm>
            <a:off x="457200" y="4940300"/>
            <a:ext cx="5511800" cy="584200"/>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4200" y="4991100"/>
            <a:ext cx="5308600" cy="373888"/>
          </a:xfrm>
          <a:prstGeom prst="rect">
            <a:avLst/>
          </a:prstGeom>
          <a:noFill/>
        </p:spPr>
        <p:txBody>
          <a:bodyPr wrap="none" lIns="0" rIns="0" tIns="0" bIns="0">
            <a:spAutoFit/>
          </a:bodyPr>
          <a:lstStyle/>
          <a:p>
            <a:pPr algn="l">
              <a:spcBef>
                <a:spcPts val="0"/>
              </a:spcBef>
              <a:spcAft>
                <a:spcPts val="0"/>
              </a:spcAft>
            </a:pPr>
            <a:r>
              <a:rPr sz="2300" b="1" i="0">
                <a:solidFill>
                  <a:srgbClr val="236D9B"/>
                </a:solidFill>
                <a:latin typeface="Liberation Sans"/>
              </a:rPr>
              <a:t>≈1.328 N/A</a:t>
            </a:r>
          </a:p>
        </p:txBody>
      </p:sp>
      <p:sp>
        <p:nvSpPr>
          <p:cNvPr id="23" name="TextBox 22"/>
          <p:cNvSpPr txBox="1"/>
          <p:nvPr/>
        </p:nvSpPr>
        <p:spPr>
          <a:xfrm>
            <a:off x="584200" y="5334000"/>
            <a:ext cx="53086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Active-conductor coefficient</a:t>
            </a:r>
          </a:p>
        </p:txBody>
      </p:sp>
      <p:sp>
        <p:nvSpPr>
          <p:cNvPr id="24" name="Rounded Rectangle 23"/>
          <p:cNvSpPr/>
          <p:nvPr/>
        </p:nvSpPr>
        <p:spPr>
          <a:xfrm>
            <a:off x="6096000" y="4940300"/>
            <a:ext cx="5511800" cy="584200"/>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3000" y="4991100"/>
            <a:ext cx="5308600" cy="373888"/>
          </a:xfrm>
          <a:prstGeom prst="rect">
            <a:avLst/>
          </a:prstGeom>
          <a:noFill/>
        </p:spPr>
        <p:txBody>
          <a:bodyPr wrap="none" lIns="0" rIns="0" tIns="0" bIns="0">
            <a:spAutoFit/>
          </a:bodyPr>
          <a:lstStyle/>
          <a:p>
            <a:pPr algn="l">
              <a:spcBef>
                <a:spcPts val="0"/>
              </a:spcBef>
              <a:spcAft>
                <a:spcPts val="0"/>
              </a:spcAft>
            </a:pPr>
            <a:r>
              <a:rPr sz="2300" b="1" i="0">
                <a:solidFill>
                  <a:srgbClr val="236D9B"/>
                </a:solidFill>
                <a:latin typeface="Liberation Sans"/>
              </a:rPr>
              <a:t>≈1.399 N/A</a:t>
            </a:r>
          </a:p>
        </p:txBody>
      </p:sp>
      <p:sp>
        <p:nvSpPr>
          <p:cNvPr id="26" name="TextBox 25"/>
          <p:cNvSpPr txBox="1"/>
          <p:nvPr/>
        </p:nvSpPr>
        <p:spPr>
          <a:xfrm>
            <a:off x="6223000" y="5334000"/>
            <a:ext cx="53086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Including represented returns</a:t>
            </a:r>
          </a:p>
        </p:txBody>
      </p:sp>
      <p:sp>
        <p:nvSpPr>
          <p:cNvPr id="27" name="Rounded Rectangle 26"/>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Opposed permanent-magnet arrays exchange force with a fixed three-phase winding.</a:t>
            </a:r>
          </a:p>
        </p:txBody>
      </p:sp>
      <p:cxnSp>
        <p:nvCxnSpPr>
          <p:cNvPr id="30" name="Connector 29"/>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§§4.2,6.1–6.2</a:t>
            </a:r>
          </a:p>
        </p:txBody>
      </p:sp>
      <p:sp>
        <p:nvSpPr>
          <p:cNvPr id="32" name="TextBox 31"/>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08 /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RESEARCH METHODOLOGY</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Solve source, current and motion together</a:t>
            </a:r>
          </a:p>
        </p:txBody>
      </p:sp>
      <p:sp>
        <p:nvSpPr>
          <p:cNvPr id="6" name="Rounded Rectangle 5"/>
          <p:cNvSpPr/>
          <p:nvPr/>
        </p:nvSpPr>
        <p:spPr>
          <a:xfrm>
            <a:off x="5105400" y="1612900"/>
            <a:ext cx="6629400" cy="35560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21300" y="1765300"/>
            <a:ext cx="6197600" cy="341375"/>
          </a:xfrm>
          <a:prstGeom prst="rect">
            <a:avLst/>
          </a:prstGeom>
          <a:noFill/>
        </p:spPr>
        <p:txBody>
          <a:bodyPr wrap="none" lIns="0" rIns="0" tIns="0" bIns="0">
            <a:spAutoFit/>
          </a:bodyPr>
          <a:lstStyle/>
          <a:p>
            <a:pPr algn="l">
              <a:spcBef>
                <a:spcPts val="0"/>
              </a:spcBef>
              <a:spcAft>
                <a:spcPts val="0"/>
              </a:spcAft>
            </a:pPr>
            <a:r>
              <a:rPr sz="2100" b="1" i="0">
                <a:solidFill>
                  <a:srgbClr val="236D9B"/>
                </a:solidFill>
                <a:latin typeface="Liberation Sans"/>
              </a:rPr>
              <a:t>Vq = R Iq + L dIq/dt + Ke(x) v</a:t>
            </a:r>
          </a:p>
        </p:txBody>
      </p:sp>
      <p:pic>
        <p:nvPicPr>
          <p:cNvPr id="8" name="release_arrest_return.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891388" y="2209800"/>
            <a:ext cx="5057422" cy="2844800"/>
          </a:xfrm>
          <a:prstGeom prst="rect">
            <a:avLst/>
          </a:prstGeom>
        </p:spPr>
      </p:pic>
      <p:sp>
        <p:nvSpPr>
          <p:cNvPr id="9" name="TextBox 8"/>
          <p:cNvSpPr txBox="1"/>
          <p:nvPr/>
        </p:nvSpPr>
        <p:spPr>
          <a:xfrm>
            <a:off x="5207000" y="52705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CAD-derived operating sequence; display timing edited. Static fallback shown.</a:t>
            </a:r>
          </a:p>
        </p:txBody>
      </p:sp>
      <p:sp>
        <p:nvSpPr>
          <p:cNvPr id="10" name="Rectangle 9"/>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Phase voltage, current and</a:t>
            </a:r>
          </a:p>
        </p:txBody>
      </p:sp>
      <p:sp>
        <p:nvSpPr>
          <p:cNvPr id="12" name="TextBox 11"/>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back-emf</a:t>
            </a:r>
          </a:p>
        </p:txBody>
      </p:sp>
      <p:sp>
        <p:nvSpPr>
          <p:cNvPr id="13" name="Rectangle 12"/>
          <p:cNvSpPr/>
          <p:nvPr/>
        </p:nvSpPr>
        <p:spPr>
          <a:xfrm>
            <a:off x="457200" y="2559812"/>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582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Finite capacitance and ESR</a:t>
            </a:r>
          </a:p>
        </p:txBody>
      </p:sp>
      <p:sp>
        <p:nvSpPr>
          <p:cNvPr id="15" name="TextBox 14"/>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constrain available terminal</a:t>
            </a:r>
          </a:p>
        </p:txBody>
      </p:sp>
      <p:sp>
        <p:nvSpPr>
          <p:cNvPr id="16" name="TextBox 15"/>
          <p:cNvSpPr txBox="1"/>
          <p:nvPr/>
        </p:nvSpPr>
        <p:spPr>
          <a:xfrm>
            <a:off x="685800" y="30876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power</a:t>
            </a:r>
          </a:p>
        </p:txBody>
      </p:sp>
      <p:sp>
        <p:nvSpPr>
          <p:cNvPr id="17" name="Rectangle 16"/>
          <p:cNvSpPr/>
          <p:nvPr/>
        </p:nvSpPr>
        <p:spPr>
          <a:xfrm>
            <a:off x="457200" y="3681729"/>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580129"/>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Rear contact reaches zero; the</a:t>
            </a:r>
          </a:p>
        </p:txBody>
      </p:sp>
      <p:sp>
        <p:nvSpPr>
          <p:cNvPr id="19" name="TextBox 18"/>
          <p:cNvSpPr txBox="1"/>
          <p:nvPr/>
        </p:nvSpPr>
        <p:spPr>
          <a:xfrm>
            <a:off x="685800" y="389483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retained carrier then arrests</a:t>
            </a:r>
          </a:p>
        </p:txBody>
      </p:sp>
      <p:sp>
        <p:nvSpPr>
          <p:cNvPr id="20" name="Rounded Rectangle 19"/>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The release event changes the mechanical connectivity of the model.</a:t>
            </a:r>
          </a:p>
        </p:txBody>
      </p:sp>
      <p:cxnSp>
        <p:nvCxnSpPr>
          <p:cNvPr id="23" name="Connector 22"/>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§§4.3–4.4,6.3–6.4</a:t>
            </a:r>
          </a:p>
        </p:txBody>
      </p:sp>
      <p:sp>
        <p:nvSpPr>
          <p:cNvPr id="25" name="TextBox 24"/>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09 / 31</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COUPLED OPERATING RESULTS</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The principal 3 m/s case completes release and arrest</a:t>
            </a:r>
          </a:p>
        </p:txBody>
      </p:sp>
      <p:sp>
        <p:nvSpPr>
          <p:cNvPr id="6" name="Rounded Rectangle 5"/>
          <p:cNvSpPr/>
          <p:nvPr/>
        </p:nvSpPr>
        <p:spPr>
          <a:xfrm>
            <a:off x="457200" y="1612900"/>
            <a:ext cx="11277600" cy="36322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manded_release_traces_slide-98a05c50dacf.jpg"/>
          <p:cNvPicPr>
            <a:picLocks noChangeAspect="1"/>
          </p:cNvPicPr>
          <p:nvPr/>
        </p:nvPicPr>
        <p:blipFill>
          <a:blip r:embed="rId2"/>
          <a:stretch>
            <a:fillRect/>
          </a:stretch>
        </p:blipFill>
        <p:spPr>
          <a:xfrm>
            <a:off x="1809750" y="1701800"/>
            <a:ext cx="8572500" cy="3429000"/>
          </a:xfrm>
          <a:prstGeom prst="rect">
            <a:avLst/>
          </a:prstGeom>
        </p:spPr>
      </p:pic>
      <p:sp>
        <p:nvSpPr>
          <p:cNvPr id="8" name="TextBox 7"/>
          <p:cNvSpPr txBox="1"/>
          <p:nvPr/>
        </p:nvSpPr>
        <p:spPr>
          <a:xfrm>
            <a:off x="508000" y="5308600"/>
            <a:ext cx="111760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Computed histories. Principal case: 3 m/s command, nominal source, 20 µH; source and case-specific checks apply.</a:t>
            </a:r>
          </a:p>
        </p:txBody>
      </p:sp>
      <p:sp>
        <p:nvSpPr>
          <p:cNvPr id="9" name="Rounded Rectangle 8"/>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3 m/s command → 2.999864 m/s release · carrier stop position 1.507289 m</a:t>
            </a:r>
          </a:p>
        </p:txBody>
      </p:sp>
      <p:cxnSp>
        <p:nvCxnSpPr>
          <p:cNvPr id="12" name="Connector 11"/>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§§6.3–6.4; coupled shot and timestep audit</a:t>
            </a:r>
          </a:p>
        </p:txBody>
      </p:sp>
      <p:sp>
        <p:nvSpPr>
          <p:cNvPr id="14" name="TextBox 13"/>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10 /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CAD AND INTEGRATION VERIFICATION</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Check solids, states and the represented motion path</a:t>
            </a:r>
          </a:p>
        </p:txBody>
      </p:sp>
      <p:sp>
        <p:nvSpPr>
          <p:cNvPr id="6" name="Rounded Rectangle 5"/>
          <p:cNvSpPr/>
          <p:nvPr/>
        </p:nvSpPr>
        <p:spPr>
          <a:xfrm>
            <a:off x="5105400" y="1612900"/>
            <a:ext cx="6629400" cy="28194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4_clear_docked-0f24049a0767.jpg"/>
          <p:cNvPicPr>
            <a:picLocks noChangeAspect="1"/>
          </p:cNvPicPr>
          <p:nvPr/>
        </p:nvPicPr>
        <p:blipFill>
          <a:blip r:embed="rId2"/>
          <a:stretch>
            <a:fillRect/>
          </a:stretch>
        </p:blipFill>
        <p:spPr>
          <a:xfrm>
            <a:off x="6684038" y="1714500"/>
            <a:ext cx="3472122" cy="2603500"/>
          </a:xfrm>
          <a:prstGeom prst="rect">
            <a:avLst/>
          </a:prstGeom>
        </p:spPr>
      </p:pic>
      <p:sp>
        <p:nvSpPr>
          <p:cNvPr id="8" name="TextBox 7"/>
          <p:cNvSpPr txBox="1"/>
          <p:nvPr/>
        </p:nvSpPr>
        <p:spPr>
          <a:xfrm>
            <a:off x="5207000" y="45339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CAD-derived launch-ready state. Native solid and exchange-geometry records support the displayed</a:t>
            </a:r>
          </a:p>
        </p:txBody>
      </p:sp>
      <p:sp>
        <p:nvSpPr>
          <p:cNvPr id="9" name="TextBox 8"/>
          <p:cNvSpPr txBox="1"/>
          <p:nvPr/>
        </p:nvSpPr>
        <p:spPr>
          <a:xfrm>
            <a:off x="5207000" y="4691253"/>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arrangement.</a:t>
            </a:r>
          </a:p>
        </p:txBody>
      </p:sp>
      <p:sp>
        <p:nvSpPr>
          <p:cNvPr id="10" name="Rectangle 9"/>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Eight native and STEP states</a:t>
            </a:r>
          </a:p>
        </p:txBody>
      </p:sp>
      <p:sp>
        <p:nvSpPr>
          <p:cNvPr id="12" name="TextBox 11"/>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retain part identities and pallet</a:t>
            </a:r>
          </a:p>
        </p:txBody>
      </p:sp>
      <p:sp>
        <p:nvSpPr>
          <p:cNvPr id="13" name="TextBox 12"/>
          <p:cNvSpPr txBox="1"/>
          <p:nvPr/>
        </p:nvSpPr>
        <p:spPr>
          <a:xfrm>
            <a:off x="685800" y="22804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counts</a:t>
            </a:r>
          </a:p>
        </p:txBody>
      </p:sp>
      <p:sp>
        <p:nvSpPr>
          <p:cNvPr id="14" name="Rectangle 13"/>
          <p:cNvSpPr/>
          <p:nvPr/>
        </p:nvSpPr>
        <p:spPr>
          <a:xfrm>
            <a:off x="457200" y="287451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154 accepted sampled-motion</a:t>
            </a:r>
          </a:p>
        </p:txBody>
      </p:sp>
      <p:sp>
        <p:nvSpPr>
          <p:cNvPr id="16" name="TextBox 15"/>
          <p:cNvSpPr txBox="1"/>
          <p:nvPr/>
        </p:nvSpPr>
        <p:spPr>
          <a:xfrm>
            <a:off x="685800" y="30876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and refinement checks</a:t>
            </a:r>
          </a:p>
        </p:txBody>
      </p:sp>
      <p:sp>
        <p:nvSpPr>
          <p:cNvPr id="17" name="Rectangle 16"/>
          <p:cNvSpPr/>
          <p:nvPr/>
        </p:nvSpPr>
        <p:spPr>
          <a:xfrm>
            <a:off x="457200" y="3681729"/>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580129"/>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Named solid-volume mass ledger</a:t>
            </a:r>
          </a:p>
        </p:txBody>
      </p:sp>
      <p:sp>
        <p:nvSpPr>
          <p:cNvPr id="19" name="TextBox 18"/>
          <p:cNvSpPr txBox="1"/>
          <p:nvPr/>
        </p:nvSpPr>
        <p:spPr>
          <a:xfrm>
            <a:off x="685800" y="389483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separates CAD material and</a:t>
            </a:r>
          </a:p>
        </p:txBody>
      </p:sp>
      <p:sp>
        <p:nvSpPr>
          <p:cNvPr id="20" name="TextBox 19"/>
          <p:cNvSpPr txBox="1"/>
          <p:nvPr/>
        </p:nvSpPr>
        <p:spPr>
          <a:xfrm>
            <a:off x="685800" y="4209541"/>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allowances</a:t>
            </a:r>
          </a:p>
        </p:txBody>
      </p:sp>
      <p:sp>
        <p:nvSpPr>
          <p:cNvPr id="21" name="Rounded Rectangle 20"/>
          <p:cNvSpPr/>
          <p:nvPr/>
        </p:nvSpPr>
        <p:spPr>
          <a:xfrm>
            <a:off x="457200" y="4940300"/>
            <a:ext cx="3632200" cy="584200"/>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4200" y="4991100"/>
            <a:ext cx="3429000" cy="373888"/>
          </a:xfrm>
          <a:prstGeom prst="rect">
            <a:avLst/>
          </a:prstGeom>
          <a:noFill/>
        </p:spPr>
        <p:txBody>
          <a:bodyPr wrap="none" lIns="0" rIns="0" tIns="0" bIns="0">
            <a:spAutoFit/>
          </a:bodyPr>
          <a:lstStyle/>
          <a:p>
            <a:pPr algn="l">
              <a:spcBef>
                <a:spcPts val="0"/>
              </a:spcBef>
              <a:spcAft>
                <a:spcPts val="0"/>
              </a:spcAft>
            </a:pPr>
            <a:r>
              <a:rPr sz="2300" b="1" i="0">
                <a:solidFill>
                  <a:srgbClr val="236D9B"/>
                </a:solidFill>
                <a:latin typeface="Liberation Sans"/>
              </a:rPr>
              <a:t>8</a:t>
            </a:r>
          </a:p>
        </p:txBody>
      </p:sp>
      <p:sp>
        <p:nvSpPr>
          <p:cNvPr id="23" name="TextBox 22"/>
          <p:cNvSpPr txBox="1"/>
          <p:nvPr/>
        </p:nvSpPr>
        <p:spPr>
          <a:xfrm>
            <a:off x="584200" y="5334000"/>
            <a:ext cx="34290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Native / STEP states</a:t>
            </a:r>
          </a:p>
        </p:txBody>
      </p:sp>
      <p:sp>
        <p:nvSpPr>
          <p:cNvPr id="24" name="Rounded Rectangle 23"/>
          <p:cNvSpPr/>
          <p:nvPr/>
        </p:nvSpPr>
        <p:spPr>
          <a:xfrm>
            <a:off x="4216400" y="4940300"/>
            <a:ext cx="3632200" cy="584200"/>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43400" y="4991100"/>
            <a:ext cx="3429000" cy="373888"/>
          </a:xfrm>
          <a:prstGeom prst="rect">
            <a:avLst/>
          </a:prstGeom>
          <a:noFill/>
        </p:spPr>
        <p:txBody>
          <a:bodyPr wrap="none" lIns="0" rIns="0" tIns="0" bIns="0">
            <a:spAutoFit/>
          </a:bodyPr>
          <a:lstStyle/>
          <a:p>
            <a:pPr algn="l">
              <a:spcBef>
                <a:spcPts val="0"/>
              </a:spcBef>
              <a:spcAft>
                <a:spcPts val="0"/>
              </a:spcAft>
            </a:pPr>
            <a:r>
              <a:rPr sz="2300" b="1" i="0">
                <a:solidFill>
                  <a:srgbClr val="236D9B"/>
                </a:solidFill>
                <a:latin typeface="Liberation Sans"/>
              </a:rPr>
              <a:t>154</a:t>
            </a:r>
          </a:p>
        </p:txBody>
      </p:sp>
      <p:sp>
        <p:nvSpPr>
          <p:cNvPr id="26" name="TextBox 25"/>
          <p:cNvSpPr txBox="1"/>
          <p:nvPr/>
        </p:nvSpPr>
        <p:spPr>
          <a:xfrm>
            <a:off x="4343400" y="5334000"/>
            <a:ext cx="34290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Motion / refinement checks</a:t>
            </a:r>
          </a:p>
        </p:txBody>
      </p:sp>
      <p:sp>
        <p:nvSpPr>
          <p:cNvPr id="27" name="Rounded Rectangle 26"/>
          <p:cNvSpPr/>
          <p:nvPr/>
        </p:nvSpPr>
        <p:spPr>
          <a:xfrm>
            <a:off x="7975599" y="4940300"/>
            <a:ext cx="3632200" cy="584200"/>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02600" y="4991100"/>
            <a:ext cx="3429000" cy="373888"/>
          </a:xfrm>
          <a:prstGeom prst="rect">
            <a:avLst/>
          </a:prstGeom>
          <a:noFill/>
        </p:spPr>
        <p:txBody>
          <a:bodyPr wrap="none" lIns="0" rIns="0" tIns="0" bIns="0">
            <a:spAutoFit/>
          </a:bodyPr>
          <a:lstStyle/>
          <a:p>
            <a:pPr algn="l">
              <a:spcBef>
                <a:spcPts val="0"/>
              </a:spcBef>
              <a:spcAft>
                <a:spcPts val="0"/>
              </a:spcAft>
            </a:pPr>
            <a:r>
              <a:rPr sz="2300" b="1" i="0">
                <a:solidFill>
                  <a:srgbClr val="236D9B"/>
                </a:solidFill>
                <a:latin typeface="Liberation Sans"/>
              </a:rPr>
              <a:t>149.557 kg</a:t>
            </a:r>
          </a:p>
        </p:txBody>
      </p:sp>
      <p:sp>
        <p:nvSpPr>
          <p:cNvPr id="29" name="TextBox 28"/>
          <p:cNvSpPr txBox="1"/>
          <p:nvPr/>
        </p:nvSpPr>
        <p:spPr>
          <a:xfrm>
            <a:off x="8102600" y="5334000"/>
            <a:ext cx="34290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Represented dry CAD mass</a:t>
            </a:r>
          </a:p>
        </p:txBody>
      </p:sp>
      <p:sp>
        <p:nvSpPr>
          <p:cNvPr id="30" name="Rounded Rectangle 29"/>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Geometry is checked beyond a single assembly rendering.</a:t>
            </a:r>
          </a:p>
        </p:txBody>
      </p:sp>
      <p:cxnSp>
        <p:nvCxnSpPr>
          <p:cNvPr id="33" name="Connector 32"/>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§§7.1,7.3–7.5; native/STEP readback</a:t>
            </a:r>
          </a:p>
        </p:txBody>
      </p:sp>
      <p:sp>
        <p:nvSpPr>
          <p:cNvPr id="35" name="TextBox 34"/>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11 / 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STRUCTURAL ANALYSIS</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Independent static calculations reproduce paired closure</a:t>
            </a:r>
          </a:p>
        </p:txBody>
      </p:sp>
      <p:sp>
        <p:nvSpPr>
          <p:cNvPr id="6" name="Rounded Rectangle 5"/>
          <p:cNvSpPr/>
          <p:nvPr/>
        </p:nvSpPr>
        <p:spPr>
          <a:xfrm>
            <a:off x="457200" y="1612900"/>
            <a:ext cx="11277600" cy="36322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atched_structural_comparison_slide-23df2c42ac4d.jpg"/>
          <p:cNvPicPr>
            <a:picLocks noChangeAspect="1"/>
          </p:cNvPicPr>
          <p:nvPr/>
        </p:nvPicPr>
        <p:blipFill>
          <a:blip r:embed="rId2"/>
          <a:stretch>
            <a:fillRect/>
          </a:stretch>
        </p:blipFill>
        <p:spPr>
          <a:xfrm>
            <a:off x="1809750" y="1701800"/>
            <a:ext cx="8572500" cy="3429000"/>
          </a:xfrm>
          <a:prstGeom prst="rect">
            <a:avLst/>
          </a:prstGeom>
        </p:spPr>
      </p:pic>
      <p:sp>
        <p:nvSpPr>
          <p:cNvPr id="8" name="TextBox 7"/>
          <p:cNvSpPr txBox="1"/>
          <p:nvPr/>
        </p:nvSpPr>
        <p:spPr>
          <a:xfrm>
            <a:off x="508000" y="5308600"/>
            <a:ext cx="111760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Computed bare-chassis comparison. ANSYS mesh refinement sensitivity is distinct from experimental accuracy.</a:t>
            </a:r>
          </a:p>
        </p:txBody>
      </p:sp>
      <p:sp>
        <p:nvSpPr>
          <p:cNvPr id="9" name="Rounded Rectangle 8"/>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Paired closure: 0.285983 mm (CalculiX) · 0.286392 mm (primary ANSYS sample)</a:t>
            </a:r>
          </a:p>
        </p:txBody>
      </p:sp>
      <p:cxnSp>
        <p:nvCxnSpPr>
          <p:cNvPr id="12" name="Connector 11"/>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§7.2; corrected matched ANSYS static cross-check</a:t>
            </a:r>
          </a:p>
        </p:txBody>
      </p:sp>
      <p:sp>
        <p:nvSpPr>
          <p:cNvPr id="14" name="TextBox 13"/>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12 / 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THERMAL ANALYSIS AND CONTROLS</a:t>
            </a:r>
          </a:p>
        </p:txBody>
      </p:sp>
      <p:sp>
        <p:nvSpPr>
          <p:cNvPr id="5" name="TextBox 4"/>
          <p:cNvSpPr txBox="1"/>
          <p:nvPr/>
        </p:nvSpPr>
        <p:spPr>
          <a:xfrm>
            <a:off x="457200" y="685800"/>
            <a:ext cx="11277600" cy="487680"/>
          </a:xfrm>
          <a:prstGeom prst="rect">
            <a:avLst/>
          </a:prstGeom>
          <a:noFill/>
        </p:spPr>
        <p:txBody>
          <a:bodyPr wrap="none" lIns="0" rIns="0" tIns="0" bIns="0">
            <a:spAutoFit/>
          </a:bodyPr>
          <a:lstStyle/>
          <a:p>
            <a:pPr algn="l">
              <a:spcBef>
                <a:spcPts val="0"/>
              </a:spcBef>
              <a:spcAft>
                <a:spcPts val="0"/>
              </a:spcAft>
            </a:pPr>
            <a:r>
              <a:rPr sz="3000" b="1" i="0">
                <a:solidFill>
                  <a:srgbClr val="102238"/>
                </a:solidFill>
                <a:latin typeface="Liberation Sans"/>
              </a:rPr>
              <a:t>Thermal budgets and interlocks complete the operating</a:t>
            </a:r>
          </a:p>
        </p:txBody>
      </p:sp>
      <p:sp>
        <p:nvSpPr>
          <p:cNvPr id="6" name="TextBox 5"/>
          <p:cNvSpPr txBox="1"/>
          <p:nvPr/>
        </p:nvSpPr>
        <p:spPr>
          <a:xfrm>
            <a:off x="457200" y="1135380"/>
            <a:ext cx="11277600" cy="487680"/>
          </a:xfrm>
          <a:prstGeom prst="rect">
            <a:avLst/>
          </a:prstGeom>
          <a:noFill/>
        </p:spPr>
        <p:txBody>
          <a:bodyPr wrap="none" lIns="0" rIns="0" tIns="0" bIns="0">
            <a:spAutoFit/>
          </a:bodyPr>
          <a:lstStyle/>
          <a:p>
            <a:pPr algn="l">
              <a:spcBef>
                <a:spcPts val="0"/>
              </a:spcBef>
              <a:spcAft>
                <a:spcPts val="0"/>
              </a:spcAft>
            </a:pPr>
            <a:r>
              <a:rPr sz="3000" b="1" i="0">
                <a:solidFill>
                  <a:srgbClr val="102238"/>
                </a:solidFill>
                <a:latin typeface="Liberation Sans"/>
              </a:rPr>
              <a:t>boundary</a:t>
            </a:r>
          </a:p>
        </p:txBody>
      </p:sp>
      <p:sp>
        <p:nvSpPr>
          <p:cNvPr id="7" name="Rounded Rectangle 6"/>
          <p:cNvSpPr/>
          <p:nvPr/>
        </p:nvSpPr>
        <p:spPr>
          <a:xfrm>
            <a:off x="5105400" y="1612900"/>
            <a:ext cx="6629400" cy="35560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t_energy_account_slide-01e52275629e.jpg"/>
          <p:cNvPicPr>
            <a:picLocks noChangeAspect="1"/>
          </p:cNvPicPr>
          <p:nvPr/>
        </p:nvPicPr>
        <p:blipFill>
          <a:blip r:embed="rId2"/>
          <a:stretch>
            <a:fillRect/>
          </a:stretch>
        </p:blipFill>
        <p:spPr>
          <a:xfrm>
            <a:off x="5219700" y="2104390"/>
            <a:ext cx="6400800" cy="2560320"/>
          </a:xfrm>
          <a:prstGeom prst="rect">
            <a:avLst/>
          </a:prstGeom>
        </p:spPr>
      </p:pic>
      <p:sp>
        <p:nvSpPr>
          <p:cNvPr id="9" name="TextBox 8"/>
          <p:cNvSpPr txBox="1"/>
          <p:nvPr/>
        </p:nvSpPr>
        <p:spPr>
          <a:xfrm>
            <a:off x="5207000" y="52705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Computed principal-case energy account. Numerical residuals check conservation; they are not efficiency or</a:t>
            </a:r>
          </a:p>
        </p:txBody>
      </p:sp>
      <p:sp>
        <p:nvSpPr>
          <p:cNvPr id="10" name="TextBox 9"/>
          <p:cNvSpPr txBox="1"/>
          <p:nvPr/>
        </p:nvSpPr>
        <p:spPr>
          <a:xfrm>
            <a:off x="5207000" y="5427853"/>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reliability measurements.</a:t>
            </a:r>
          </a:p>
        </p:txBody>
      </p:sp>
      <p:sp>
        <p:nvSpPr>
          <p:cNvPr id="11" name="Rectangle 10"/>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Copper heating uses the current</a:t>
            </a:r>
          </a:p>
        </p:txBody>
      </p:sp>
      <p:sp>
        <p:nvSpPr>
          <p:cNvPr id="13" name="TextBox 12"/>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history and represented</a:t>
            </a:r>
          </a:p>
        </p:txBody>
      </p:sp>
      <p:sp>
        <p:nvSpPr>
          <p:cNvPr id="14" name="TextBox 13"/>
          <p:cNvSpPr txBox="1"/>
          <p:nvPr/>
        </p:nvSpPr>
        <p:spPr>
          <a:xfrm>
            <a:off x="685800" y="22804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conductor field</a:t>
            </a:r>
          </a:p>
        </p:txBody>
      </p:sp>
      <p:sp>
        <p:nvSpPr>
          <p:cNvPr id="15" name="Rectangle 14"/>
          <p:cNvSpPr/>
          <p:nvPr/>
        </p:nvSpPr>
        <p:spPr>
          <a:xfrm>
            <a:off x="457200" y="287451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Repeated-shot estimates</a:t>
            </a:r>
          </a:p>
        </p:txBody>
      </p:sp>
      <p:sp>
        <p:nvSpPr>
          <p:cNvPr id="17" name="TextBox 16"/>
          <p:cNvSpPr txBox="1"/>
          <p:nvPr/>
        </p:nvSpPr>
        <p:spPr>
          <a:xfrm>
            <a:off x="685800" y="30876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distinguish bulk rise, local rise</a:t>
            </a:r>
          </a:p>
        </p:txBody>
      </p:sp>
      <p:sp>
        <p:nvSpPr>
          <p:cNvPr id="18" name="TextBox 17"/>
          <p:cNvSpPr txBox="1"/>
          <p:nvPr/>
        </p:nvSpPr>
        <p:spPr>
          <a:xfrm>
            <a:off x="685800" y="340233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and cooling assumptions</a:t>
            </a:r>
          </a:p>
        </p:txBody>
      </p:sp>
      <p:sp>
        <p:nvSpPr>
          <p:cNvPr id="19" name="Rectangle 18"/>
          <p:cNvSpPr/>
          <p:nvPr/>
        </p:nvSpPr>
        <p:spPr>
          <a:xfrm>
            <a:off x="457200" y="3996435"/>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89483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24 nominal commands; 166</a:t>
            </a:r>
          </a:p>
        </p:txBody>
      </p:sp>
      <p:sp>
        <p:nvSpPr>
          <p:cNvPr id="21" name="TextBox 20"/>
          <p:cNvSpPr txBox="1"/>
          <p:nvPr/>
        </p:nvSpPr>
        <p:spPr>
          <a:xfrm>
            <a:off x="685800" y="4209541"/>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passing interlock-model tests</a:t>
            </a:r>
          </a:p>
        </p:txBody>
      </p:sp>
      <p:sp>
        <p:nvSpPr>
          <p:cNvPr id="22" name="Rounded Rectangle 21"/>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Electrical losses, contact assumptions and sequencing stay explicit.</a:t>
            </a:r>
          </a:p>
        </p:txBody>
      </p:sp>
      <p:cxnSp>
        <p:nvCxnSpPr>
          <p:cNvPr id="25" name="Connector 24"/>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§§5.4,7.6–7.7; source energy and interlock records</a:t>
            </a:r>
          </a:p>
        </p:txBody>
      </p:sp>
      <p:sp>
        <p:nvSpPr>
          <p:cNvPr id="27" name="TextBox 26"/>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13 / 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MISSION COMPARISON</a:t>
            </a:r>
          </a:p>
        </p:txBody>
      </p:sp>
      <p:sp>
        <p:nvSpPr>
          <p:cNvPr id="5" name="TextBox 4"/>
          <p:cNvSpPr txBox="1"/>
          <p:nvPr/>
        </p:nvSpPr>
        <p:spPr>
          <a:xfrm>
            <a:off x="457200" y="685800"/>
            <a:ext cx="11277600" cy="487680"/>
          </a:xfrm>
          <a:prstGeom prst="rect">
            <a:avLst/>
          </a:prstGeom>
          <a:noFill/>
        </p:spPr>
        <p:txBody>
          <a:bodyPr wrap="none" lIns="0" rIns="0" tIns="0" bIns="0">
            <a:spAutoFit/>
          </a:bodyPr>
          <a:lstStyle/>
          <a:p>
            <a:pPr algn="l">
              <a:spcBef>
                <a:spcPts val="0"/>
              </a:spcBef>
              <a:spcAft>
                <a:spcPts val="0"/>
              </a:spcAft>
            </a:pPr>
            <a:r>
              <a:rPr sz="3000" b="1" i="0">
                <a:solidFill>
                  <a:srgbClr val="102238"/>
                </a:solidFill>
                <a:latin typeface="Liberation Sans"/>
              </a:rPr>
              <a:t>Compare equal delivery targets and count retained resources</a:t>
            </a:r>
          </a:p>
        </p:txBody>
      </p:sp>
      <p:sp>
        <p:nvSpPr>
          <p:cNvPr id="6" name="Rounded Rectangle 5"/>
          <p:cNvSpPr/>
          <p:nvPr/>
        </p:nvSpPr>
        <p:spPr>
          <a:xfrm>
            <a:off x="457200" y="1612900"/>
            <a:ext cx="11277600" cy="36322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atched_mission_comparison_slide-758a51d967ce.jpg"/>
          <p:cNvPicPr>
            <a:picLocks noChangeAspect="1"/>
          </p:cNvPicPr>
          <p:nvPr/>
        </p:nvPicPr>
        <p:blipFill>
          <a:blip r:embed="rId2"/>
          <a:stretch>
            <a:fillRect/>
          </a:stretch>
        </p:blipFill>
        <p:spPr>
          <a:xfrm>
            <a:off x="1809750" y="1701800"/>
            <a:ext cx="8572500" cy="3429000"/>
          </a:xfrm>
          <a:prstGeom prst="rect">
            <a:avLst/>
          </a:prstGeom>
        </p:spPr>
      </p:pic>
      <p:sp>
        <p:nvSpPr>
          <p:cNvPr id="8" name="TextBox 7"/>
          <p:cNvSpPr txBox="1"/>
          <p:nvPr/>
        </p:nvSpPr>
        <p:spPr>
          <a:xfrm>
            <a:off x="508000" y="5308600"/>
            <a:ext cx="111760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Selected feasible tested policies in the alternating target family with a 5 N host ceiling; device masses and burn guards retain their declared differences.</a:t>
            </a:r>
          </a:p>
        </p:txBody>
      </p:sp>
      <p:sp>
        <p:nvSpPr>
          <p:cNvPr id="9" name="Rounded Rectangle 8"/>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Host propellant: 0.2899 kg (VOLLEY) · 0.0536 kg (ideal ground-pretrim spring)</a:t>
            </a:r>
          </a:p>
        </p:txBody>
      </p:sp>
      <p:cxnSp>
        <p:nvCxnSpPr>
          <p:cNvPr id="12" name="Connector 11"/>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§§8.2–8.5; mission comparison and native Orekit replay</a:t>
            </a:r>
          </a:p>
        </p:txBody>
      </p:sp>
      <p:sp>
        <p:nvSpPr>
          <p:cNvPr id="14" name="TextBox 13"/>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14 /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CONCLUSIONS</a:t>
            </a:r>
          </a:p>
        </p:txBody>
      </p:sp>
      <p:sp>
        <p:nvSpPr>
          <p:cNvPr id="5" name="TextBox 4"/>
          <p:cNvSpPr txBox="1"/>
          <p:nvPr/>
        </p:nvSpPr>
        <p:spPr>
          <a:xfrm>
            <a:off x="457200" y="685800"/>
            <a:ext cx="11277600" cy="487680"/>
          </a:xfrm>
          <a:prstGeom prst="rect">
            <a:avLst/>
          </a:prstGeom>
          <a:noFill/>
        </p:spPr>
        <p:txBody>
          <a:bodyPr wrap="none" lIns="0" rIns="0" tIns="0" bIns="0">
            <a:spAutoFit/>
          </a:bodyPr>
          <a:lstStyle/>
          <a:p>
            <a:pPr algn="l">
              <a:spcBef>
                <a:spcPts val="0"/>
              </a:spcBef>
              <a:spcAft>
                <a:spcPts val="0"/>
              </a:spcAft>
            </a:pPr>
            <a:r>
              <a:rPr sz="3000" b="1" i="0">
                <a:solidFill>
                  <a:srgbClr val="102238"/>
                </a:solidFill>
                <a:latin typeface="Liberation Sans"/>
              </a:rPr>
              <a:t>A complete computational reference connects the machine to</a:t>
            </a:r>
          </a:p>
        </p:txBody>
      </p:sp>
      <p:sp>
        <p:nvSpPr>
          <p:cNvPr id="6" name="TextBox 5"/>
          <p:cNvSpPr txBox="1"/>
          <p:nvPr/>
        </p:nvSpPr>
        <p:spPr>
          <a:xfrm>
            <a:off x="457200" y="1135380"/>
            <a:ext cx="11277600" cy="487680"/>
          </a:xfrm>
          <a:prstGeom prst="rect">
            <a:avLst/>
          </a:prstGeom>
          <a:noFill/>
        </p:spPr>
        <p:txBody>
          <a:bodyPr wrap="none" lIns="0" rIns="0" tIns="0" bIns="0">
            <a:spAutoFit/>
          </a:bodyPr>
          <a:lstStyle/>
          <a:p>
            <a:pPr algn="l">
              <a:spcBef>
                <a:spcPts val="0"/>
              </a:spcBef>
              <a:spcAft>
                <a:spcPts val="0"/>
              </a:spcAft>
            </a:pPr>
            <a:r>
              <a:rPr sz="3000" b="1" i="0">
                <a:solidFill>
                  <a:srgbClr val="102238"/>
                </a:solidFill>
                <a:latin typeface="Liberation Sans"/>
              </a:rPr>
              <a:t>the mission</a:t>
            </a:r>
          </a:p>
        </p:txBody>
      </p:sp>
      <p:sp>
        <p:nvSpPr>
          <p:cNvPr id="7" name="Rounded Rectangle 6"/>
          <p:cNvSpPr/>
          <p:nvPr/>
        </p:nvSpPr>
        <p:spPr>
          <a:xfrm>
            <a:off x="457200"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8500"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Operating cycle</a:t>
            </a:r>
          </a:p>
        </p:txBody>
      </p:sp>
      <p:sp>
        <p:nvSpPr>
          <p:cNvPr id="10" name="Rectangle 9"/>
          <p:cNvSpPr/>
          <p:nvPr/>
        </p:nvSpPr>
        <p:spPr>
          <a:xfrm>
            <a:off x="685800"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Storage, feed, capture,</a:t>
            </a:r>
          </a:p>
        </p:txBody>
      </p:sp>
      <p:sp>
        <p:nvSpPr>
          <p:cNvPr id="12" name="TextBox 11"/>
          <p:cNvSpPr txBox="1"/>
          <p:nvPr/>
        </p:nvSpPr>
        <p:spPr>
          <a:xfrm>
            <a:off x="914400"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departure, arrest and return</a:t>
            </a:r>
          </a:p>
        </p:txBody>
      </p:sp>
      <p:sp>
        <p:nvSpPr>
          <p:cNvPr id="13" name="TextBox 12"/>
          <p:cNvSpPr txBox="1"/>
          <p:nvPr/>
        </p:nvSpPr>
        <p:spPr>
          <a:xfrm>
            <a:off x="914400"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are defined</a:t>
            </a:r>
          </a:p>
        </p:txBody>
      </p:sp>
      <p:sp>
        <p:nvSpPr>
          <p:cNvPr id="14" name="Rounded Rectangle 13"/>
          <p:cNvSpPr/>
          <p:nvPr/>
        </p:nvSpPr>
        <p:spPr>
          <a:xfrm>
            <a:off x="4301066"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066" y="1612900"/>
            <a:ext cx="50800" cy="38989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2366"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Coupled model</a:t>
            </a:r>
          </a:p>
        </p:txBody>
      </p:sp>
      <p:sp>
        <p:nvSpPr>
          <p:cNvPr id="17" name="Rectangle 16"/>
          <p:cNvSpPr/>
          <p:nvPr/>
        </p:nvSpPr>
        <p:spPr>
          <a:xfrm>
            <a:off x="4529666"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8266"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Finite force, source</a:t>
            </a:r>
          </a:p>
        </p:txBody>
      </p:sp>
      <p:sp>
        <p:nvSpPr>
          <p:cNvPr id="19" name="TextBox 18"/>
          <p:cNvSpPr txBox="1"/>
          <p:nvPr/>
        </p:nvSpPr>
        <p:spPr>
          <a:xfrm>
            <a:off x="4758266"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response and retained mass</a:t>
            </a:r>
          </a:p>
        </p:txBody>
      </p:sp>
      <p:sp>
        <p:nvSpPr>
          <p:cNvPr id="20" name="TextBox 19"/>
          <p:cNvSpPr txBox="1"/>
          <p:nvPr/>
        </p:nvSpPr>
        <p:spPr>
          <a:xfrm>
            <a:off x="4758266"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are evaluated together</a:t>
            </a:r>
          </a:p>
        </p:txBody>
      </p:sp>
      <p:sp>
        <p:nvSpPr>
          <p:cNvPr id="21" name="Rounded Rectangle 20"/>
          <p:cNvSpPr/>
          <p:nvPr/>
        </p:nvSpPr>
        <p:spPr>
          <a:xfrm>
            <a:off x="8144933"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4933"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6233"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Engineering checks</a:t>
            </a:r>
          </a:p>
        </p:txBody>
      </p:sp>
      <p:sp>
        <p:nvSpPr>
          <p:cNvPr id="24" name="Rectangle 23"/>
          <p:cNvSpPr/>
          <p:nvPr/>
        </p:nvSpPr>
        <p:spPr>
          <a:xfrm>
            <a:off x="8373533"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2133"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Geometry, structure,</a:t>
            </a:r>
          </a:p>
        </p:txBody>
      </p:sp>
      <p:sp>
        <p:nvSpPr>
          <p:cNvPr id="26" name="TextBox 25"/>
          <p:cNvSpPr txBox="1"/>
          <p:nvPr/>
        </p:nvSpPr>
        <p:spPr>
          <a:xfrm>
            <a:off x="8602133"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thermal budgets and</a:t>
            </a:r>
          </a:p>
        </p:txBody>
      </p:sp>
      <p:sp>
        <p:nvSpPr>
          <p:cNvPr id="27" name="TextBox 26"/>
          <p:cNvSpPr txBox="1"/>
          <p:nvPr/>
        </p:nvSpPr>
        <p:spPr>
          <a:xfrm>
            <a:off x="8602133"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mission resources share an</a:t>
            </a:r>
          </a:p>
        </p:txBody>
      </p:sp>
      <p:sp>
        <p:nvSpPr>
          <p:cNvPr id="28" name="TextBox 27"/>
          <p:cNvSpPr txBox="1"/>
          <p:nvPr/>
        </p:nvSpPr>
        <p:spPr>
          <a:xfrm>
            <a:off x="8602133" y="3236722"/>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evidence chain</a:t>
            </a:r>
          </a:p>
        </p:txBody>
      </p:sp>
      <p:sp>
        <p:nvSpPr>
          <p:cNvPr id="29" name="Rounded Rectangle 28"/>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The study delivers a defined operating cycle and configuration-specific engineering results.</a:t>
            </a:r>
          </a:p>
        </p:txBody>
      </p:sp>
      <p:cxnSp>
        <p:nvCxnSpPr>
          <p:cNvPr id="32" name="Connector 31"/>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chapters 9–11</a:t>
            </a:r>
          </a:p>
        </p:txBody>
      </p:sp>
      <p:sp>
        <p:nvSpPr>
          <p:cNvPr id="34" name="TextBox 33"/>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15 / 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TIMELINE AND WORK PROGRESS</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Development follows linked engineering questions</a:t>
            </a:r>
          </a:p>
        </p:txBody>
      </p:sp>
      <p:sp>
        <p:nvSpPr>
          <p:cNvPr id="6" name="Rounded Rectangle 5"/>
          <p:cNvSpPr/>
          <p:nvPr/>
        </p:nvSpPr>
        <p:spPr>
          <a:xfrm>
            <a:off x="457200" y="1828800"/>
            <a:ext cx="3632200" cy="36576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3632200" cy="508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2082800"/>
            <a:ext cx="3225800" cy="520192"/>
          </a:xfrm>
          <a:prstGeom prst="rect">
            <a:avLst/>
          </a:prstGeom>
          <a:noFill/>
        </p:spPr>
        <p:txBody>
          <a:bodyPr wrap="none" lIns="0" rIns="0" tIns="0" bIns="0">
            <a:spAutoFit/>
          </a:bodyPr>
          <a:lstStyle/>
          <a:p>
            <a:pPr algn="l">
              <a:spcBef>
                <a:spcPts val="0"/>
              </a:spcBef>
              <a:spcAft>
                <a:spcPts val="0"/>
              </a:spcAft>
            </a:pPr>
            <a:r>
              <a:rPr sz="3200" b="1" i="0">
                <a:solidFill>
                  <a:srgbClr val="236D9B"/>
                </a:solidFill>
                <a:latin typeface="Liberation Sans"/>
              </a:rPr>
              <a:t>01</a:t>
            </a:r>
          </a:p>
        </p:txBody>
      </p:sp>
      <p:sp>
        <p:nvSpPr>
          <p:cNvPr id="9" name="TextBox 8"/>
          <p:cNvSpPr txBox="1"/>
          <p:nvPr/>
        </p:nvSpPr>
        <p:spPr>
          <a:xfrm>
            <a:off x="660400" y="2692400"/>
            <a:ext cx="3225800" cy="325120"/>
          </a:xfrm>
          <a:prstGeom prst="rect">
            <a:avLst/>
          </a:prstGeom>
          <a:noFill/>
        </p:spPr>
        <p:txBody>
          <a:bodyPr wrap="none" lIns="0" rIns="0" tIns="0" bIns="0">
            <a:spAutoFit/>
          </a:bodyPr>
          <a:lstStyle/>
          <a:p>
            <a:pPr algn="l">
              <a:spcBef>
                <a:spcPts val="0"/>
              </a:spcBef>
              <a:spcAft>
                <a:spcPts val="0"/>
              </a:spcAft>
            </a:pPr>
            <a:r>
              <a:rPr sz="2000" b="1" i="0">
                <a:solidFill>
                  <a:srgbClr val="102238"/>
                </a:solidFill>
                <a:latin typeface="Liberation Sans"/>
              </a:rPr>
              <a:t>Concept and architecture</a:t>
            </a:r>
          </a:p>
        </p:txBody>
      </p:sp>
      <p:sp>
        <p:nvSpPr>
          <p:cNvPr id="10" name="TextBox 9"/>
          <p:cNvSpPr txBox="1"/>
          <p:nvPr/>
        </p:nvSpPr>
        <p:spPr>
          <a:xfrm>
            <a:off x="660400" y="3182620"/>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Concept and host architecture</a:t>
            </a:r>
          </a:p>
        </p:txBody>
      </p:sp>
      <p:sp>
        <p:nvSpPr>
          <p:cNvPr id="11" name="TextBox 10"/>
          <p:cNvSpPr txBox="1"/>
          <p:nvPr/>
        </p:nvSpPr>
        <p:spPr>
          <a:xfrm>
            <a:off x="660400" y="3452367"/>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 feeder, carrier and finite</a:t>
            </a:r>
          </a:p>
        </p:txBody>
      </p:sp>
      <p:sp>
        <p:nvSpPr>
          <p:cNvPr id="12" name="TextBox 11"/>
          <p:cNvSpPr txBox="1"/>
          <p:nvPr/>
        </p:nvSpPr>
        <p:spPr>
          <a:xfrm>
            <a:off x="660400" y="3722115"/>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motor models</a:t>
            </a:r>
          </a:p>
        </p:txBody>
      </p:sp>
      <p:sp>
        <p:nvSpPr>
          <p:cNvPr id="13" name="Rounded Rectangle 12"/>
          <p:cNvSpPr/>
          <p:nvPr/>
        </p:nvSpPr>
        <p:spPr>
          <a:xfrm>
            <a:off x="4279900" y="1828800"/>
            <a:ext cx="3632200" cy="36576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9900" y="1828800"/>
            <a:ext cx="36322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3100" y="2082800"/>
            <a:ext cx="3225800" cy="520192"/>
          </a:xfrm>
          <a:prstGeom prst="rect">
            <a:avLst/>
          </a:prstGeom>
          <a:noFill/>
        </p:spPr>
        <p:txBody>
          <a:bodyPr wrap="none" lIns="0" rIns="0" tIns="0" bIns="0">
            <a:spAutoFit/>
          </a:bodyPr>
          <a:lstStyle/>
          <a:p>
            <a:pPr algn="l">
              <a:spcBef>
                <a:spcPts val="0"/>
              </a:spcBef>
              <a:spcAft>
                <a:spcPts val="0"/>
              </a:spcAft>
            </a:pPr>
            <a:r>
              <a:rPr sz="3200" b="1" i="0">
                <a:solidFill>
                  <a:srgbClr val="236D9B"/>
                </a:solidFill>
                <a:latin typeface="Liberation Sans"/>
              </a:rPr>
              <a:t>02</a:t>
            </a:r>
          </a:p>
        </p:txBody>
      </p:sp>
      <p:sp>
        <p:nvSpPr>
          <p:cNvPr id="16" name="TextBox 15"/>
          <p:cNvSpPr txBox="1"/>
          <p:nvPr/>
        </p:nvSpPr>
        <p:spPr>
          <a:xfrm>
            <a:off x="4483100" y="2692400"/>
            <a:ext cx="3225800" cy="325120"/>
          </a:xfrm>
          <a:prstGeom prst="rect">
            <a:avLst/>
          </a:prstGeom>
          <a:noFill/>
        </p:spPr>
        <p:txBody>
          <a:bodyPr wrap="none" lIns="0" rIns="0" tIns="0" bIns="0">
            <a:spAutoFit/>
          </a:bodyPr>
          <a:lstStyle/>
          <a:p>
            <a:pPr algn="l">
              <a:spcBef>
                <a:spcPts val="0"/>
              </a:spcBef>
              <a:spcAft>
                <a:spcPts val="0"/>
              </a:spcAft>
            </a:pPr>
            <a:r>
              <a:rPr sz="2000" b="1" i="0">
                <a:solidFill>
                  <a:srgbClr val="102238"/>
                </a:solidFill>
                <a:latin typeface="Liberation Sans"/>
              </a:rPr>
              <a:t>Integrated evaluation</a:t>
            </a:r>
          </a:p>
        </p:txBody>
      </p:sp>
      <p:sp>
        <p:nvSpPr>
          <p:cNvPr id="17" name="TextBox 16"/>
          <p:cNvSpPr txBox="1"/>
          <p:nvPr/>
        </p:nvSpPr>
        <p:spPr>
          <a:xfrm>
            <a:off x="4483100" y="3182620"/>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Integrated computational</a:t>
            </a:r>
          </a:p>
        </p:txBody>
      </p:sp>
      <p:sp>
        <p:nvSpPr>
          <p:cNvPr id="18" name="TextBox 17"/>
          <p:cNvSpPr txBox="1"/>
          <p:nvPr/>
        </p:nvSpPr>
        <p:spPr>
          <a:xfrm>
            <a:off x="4483100" y="3452367"/>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reference → independent</a:t>
            </a:r>
          </a:p>
        </p:txBody>
      </p:sp>
      <p:sp>
        <p:nvSpPr>
          <p:cNvPr id="19" name="TextBox 18"/>
          <p:cNvSpPr txBox="1"/>
          <p:nvPr/>
        </p:nvSpPr>
        <p:spPr>
          <a:xfrm>
            <a:off x="4483100" y="3722115"/>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numerical comparisons</a:t>
            </a:r>
          </a:p>
        </p:txBody>
      </p:sp>
      <p:sp>
        <p:nvSpPr>
          <p:cNvPr id="20" name="Rounded Rectangle 19"/>
          <p:cNvSpPr/>
          <p:nvPr/>
        </p:nvSpPr>
        <p:spPr>
          <a:xfrm>
            <a:off x="8102600" y="1828800"/>
            <a:ext cx="3632200" cy="36576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02600" y="1828800"/>
            <a:ext cx="36322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05800" y="2082800"/>
            <a:ext cx="3225800" cy="520192"/>
          </a:xfrm>
          <a:prstGeom prst="rect">
            <a:avLst/>
          </a:prstGeom>
          <a:noFill/>
        </p:spPr>
        <p:txBody>
          <a:bodyPr wrap="none" lIns="0" rIns="0" tIns="0" bIns="0">
            <a:spAutoFit/>
          </a:bodyPr>
          <a:lstStyle/>
          <a:p>
            <a:pPr algn="l">
              <a:spcBef>
                <a:spcPts val="0"/>
              </a:spcBef>
              <a:spcAft>
                <a:spcPts val="0"/>
              </a:spcAft>
            </a:pPr>
            <a:r>
              <a:rPr sz="3200" b="1" i="0">
                <a:solidFill>
                  <a:srgbClr val="236D9B"/>
                </a:solidFill>
                <a:latin typeface="Liberation Sans"/>
              </a:rPr>
              <a:t>03</a:t>
            </a:r>
          </a:p>
        </p:txBody>
      </p:sp>
      <p:sp>
        <p:nvSpPr>
          <p:cNvPr id="23" name="TextBox 22"/>
          <p:cNvSpPr txBox="1"/>
          <p:nvPr/>
        </p:nvSpPr>
        <p:spPr>
          <a:xfrm>
            <a:off x="8305800" y="2692400"/>
            <a:ext cx="3225800" cy="325120"/>
          </a:xfrm>
          <a:prstGeom prst="rect">
            <a:avLst/>
          </a:prstGeom>
          <a:noFill/>
        </p:spPr>
        <p:txBody>
          <a:bodyPr wrap="none" lIns="0" rIns="0" tIns="0" bIns="0">
            <a:spAutoFit/>
          </a:bodyPr>
          <a:lstStyle/>
          <a:p>
            <a:pPr algn="l">
              <a:spcBef>
                <a:spcPts val="0"/>
              </a:spcBef>
              <a:spcAft>
                <a:spcPts val="0"/>
              </a:spcAft>
            </a:pPr>
            <a:r>
              <a:rPr sz="2000" b="1" i="0">
                <a:solidFill>
                  <a:srgbClr val="102238"/>
                </a:solidFill>
                <a:latin typeface="Liberation Sans"/>
              </a:rPr>
              <a:t>Prototype requirements</a:t>
            </a:r>
          </a:p>
        </p:txBody>
      </p:sp>
      <p:sp>
        <p:nvSpPr>
          <p:cNvPr id="24" name="TextBox 23"/>
          <p:cNvSpPr txBox="1"/>
          <p:nvPr/>
        </p:nvSpPr>
        <p:spPr>
          <a:xfrm>
            <a:off x="8305800" y="3182620"/>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Reusable tools and Labs</a:t>
            </a:r>
          </a:p>
        </p:txBody>
      </p:sp>
      <p:sp>
        <p:nvSpPr>
          <p:cNvPr id="25" name="TextBox 24"/>
          <p:cNvSpPr txBox="1"/>
          <p:nvPr/>
        </p:nvSpPr>
        <p:spPr>
          <a:xfrm>
            <a:off x="8305800" y="3452367"/>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investigations →</a:t>
            </a:r>
          </a:p>
        </p:txBody>
      </p:sp>
      <p:sp>
        <p:nvSpPr>
          <p:cNvPr id="26" name="TextBox 25"/>
          <p:cNvSpPr txBox="1"/>
          <p:nvPr/>
        </p:nvSpPr>
        <p:spPr>
          <a:xfrm>
            <a:off x="8305800" y="3722115"/>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physical-development</a:t>
            </a:r>
          </a:p>
        </p:txBody>
      </p:sp>
      <p:sp>
        <p:nvSpPr>
          <p:cNvPr id="27" name="TextBox 26"/>
          <p:cNvSpPr txBox="1"/>
          <p:nvPr/>
        </p:nvSpPr>
        <p:spPr>
          <a:xfrm>
            <a:off x="8305800" y="3991864"/>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requirements</a:t>
            </a:r>
          </a:p>
        </p:txBody>
      </p:sp>
      <p:sp>
        <p:nvSpPr>
          <p:cNvPr id="28" name="Rounded Rectangle 27"/>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Five-plus years of VOLLEY development produced a connected engineering record.</a:t>
            </a:r>
          </a:p>
        </p:txBody>
      </p:sp>
      <p:cxnSp>
        <p:nvCxnSpPr>
          <p:cNvPr id="31" name="Connector 30"/>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development appendix; documented project history</a:t>
            </a:r>
          </a:p>
        </p:txBody>
      </p:sp>
      <p:sp>
        <p:nvSpPr>
          <p:cNvPr id="33" name="TextBox 32"/>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16 /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RESEARCH ECOSYSTEM</a:t>
            </a:r>
          </a:p>
        </p:txBody>
      </p:sp>
      <p:sp>
        <p:nvSpPr>
          <p:cNvPr id="5" name="TextBox 4"/>
          <p:cNvSpPr txBox="1"/>
          <p:nvPr/>
        </p:nvSpPr>
        <p:spPr>
          <a:xfrm>
            <a:off x="457200" y="685800"/>
            <a:ext cx="11277600" cy="487680"/>
          </a:xfrm>
          <a:prstGeom prst="rect">
            <a:avLst/>
          </a:prstGeom>
          <a:noFill/>
        </p:spPr>
        <p:txBody>
          <a:bodyPr wrap="none" lIns="0" rIns="0" tIns="0" bIns="0">
            <a:spAutoFit/>
          </a:bodyPr>
          <a:lstStyle/>
          <a:p>
            <a:pPr algn="l">
              <a:spcBef>
                <a:spcPts val="0"/>
              </a:spcBef>
              <a:spcAft>
                <a:spcPts val="0"/>
              </a:spcAft>
            </a:pPr>
            <a:r>
              <a:rPr sz="3000" b="1" i="0">
                <a:solidFill>
                  <a:srgbClr val="102238"/>
                </a:solidFill>
                <a:latin typeface="Liberation Sans"/>
              </a:rPr>
              <a:t>An engineering ecosystem grew around the deployment</a:t>
            </a:r>
          </a:p>
        </p:txBody>
      </p:sp>
      <p:sp>
        <p:nvSpPr>
          <p:cNvPr id="6" name="TextBox 5"/>
          <p:cNvSpPr txBox="1"/>
          <p:nvPr/>
        </p:nvSpPr>
        <p:spPr>
          <a:xfrm>
            <a:off x="457200" y="1135380"/>
            <a:ext cx="11277600" cy="487680"/>
          </a:xfrm>
          <a:prstGeom prst="rect">
            <a:avLst/>
          </a:prstGeom>
          <a:noFill/>
        </p:spPr>
        <p:txBody>
          <a:bodyPr wrap="none" lIns="0" rIns="0" tIns="0" bIns="0">
            <a:spAutoFit/>
          </a:bodyPr>
          <a:lstStyle/>
          <a:p>
            <a:pPr algn="l">
              <a:spcBef>
                <a:spcPts val="0"/>
              </a:spcBef>
              <a:spcAft>
                <a:spcPts val="0"/>
              </a:spcAft>
            </a:pPr>
            <a:r>
              <a:rPr sz="3000" b="1" i="0">
                <a:solidFill>
                  <a:srgbClr val="102238"/>
                </a:solidFill>
                <a:latin typeface="Liberation Sans"/>
              </a:rPr>
              <a:t>problem</a:t>
            </a:r>
          </a:p>
        </p:txBody>
      </p:sp>
      <p:sp>
        <p:nvSpPr>
          <p:cNvPr id="7" name="Rounded Rectangle 6"/>
          <p:cNvSpPr/>
          <p:nvPr/>
        </p:nvSpPr>
        <p:spPr>
          <a:xfrm>
            <a:off x="457200"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8500"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VOLLEY Labs</a:t>
            </a:r>
          </a:p>
        </p:txBody>
      </p:sp>
      <p:sp>
        <p:nvSpPr>
          <p:cNvPr id="10" name="Rectangle 9"/>
          <p:cNvSpPr/>
          <p:nvPr/>
        </p:nvSpPr>
        <p:spPr>
          <a:xfrm>
            <a:off x="685800"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VOLLEY Labs: feeder</a:t>
            </a:r>
          </a:p>
        </p:txBody>
      </p:sp>
      <p:sp>
        <p:nvSpPr>
          <p:cNvPr id="12" name="TextBox 11"/>
          <p:cNvSpPr txBox="1"/>
          <p:nvPr/>
        </p:nvSpPr>
        <p:spPr>
          <a:xfrm>
            <a:off x="914400"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alternatives, force</a:t>
            </a:r>
          </a:p>
        </p:txBody>
      </p:sp>
      <p:sp>
        <p:nvSpPr>
          <p:cNvPr id="13" name="TextBox 12"/>
          <p:cNvSpPr txBox="1"/>
          <p:nvPr/>
        </p:nvSpPr>
        <p:spPr>
          <a:xfrm>
            <a:off x="914400"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benchmarking and new</a:t>
            </a:r>
          </a:p>
        </p:txBody>
      </p:sp>
      <p:sp>
        <p:nvSpPr>
          <p:cNvPr id="14" name="TextBox 13"/>
          <p:cNvSpPr txBox="1"/>
          <p:nvPr/>
        </p:nvSpPr>
        <p:spPr>
          <a:xfrm>
            <a:off x="914400" y="3236722"/>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speed configurations</a:t>
            </a:r>
          </a:p>
        </p:txBody>
      </p:sp>
      <p:sp>
        <p:nvSpPr>
          <p:cNvPr id="15" name="Rounded Rectangle 14"/>
          <p:cNvSpPr/>
          <p:nvPr/>
        </p:nvSpPr>
        <p:spPr>
          <a:xfrm>
            <a:off x="4301066"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1066" y="1612900"/>
            <a:ext cx="50800" cy="38989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42366"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Reusable tools</a:t>
            </a:r>
          </a:p>
        </p:txBody>
      </p:sp>
      <p:sp>
        <p:nvSpPr>
          <p:cNvPr id="18" name="Rectangle 17"/>
          <p:cNvSpPr/>
          <p:nvPr/>
        </p:nvSpPr>
        <p:spPr>
          <a:xfrm>
            <a:off x="4529666"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8266"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Reusable tools: motor</a:t>
            </a:r>
          </a:p>
        </p:txBody>
      </p:sp>
      <p:sp>
        <p:nvSpPr>
          <p:cNvPr id="20" name="TextBox 19"/>
          <p:cNvSpPr txBox="1"/>
          <p:nvPr/>
        </p:nvSpPr>
        <p:spPr>
          <a:xfrm>
            <a:off x="4758266"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design, separation/orbits,</a:t>
            </a:r>
          </a:p>
        </p:txBody>
      </p:sp>
      <p:sp>
        <p:nvSpPr>
          <p:cNvPr id="21" name="TextBox 20"/>
          <p:cNvSpPr txBox="1"/>
          <p:nvPr/>
        </p:nvSpPr>
        <p:spPr>
          <a:xfrm>
            <a:off x="4758266"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CAD automation and source</a:t>
            </a:r>
          </a:p>
        </p:txBody>
      </p:sp>
      <p:sp>
        <p:nvSpPr>
          <p:cNvPr id="22" name="TextBox 21"/>
          <p:cNvSpPr txBox="1"/>
          <p:nvPr/>
        </p:nvSpPr>
        <p:spPr>
          <a:xfrm>
            <a:off x="4758266" y="3236722"/>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traceability</a:t>
            </a:r>
          </a:p>
        </p:txBody>
      </p:sp>
      <p:sp>
        <p:nvSpPr>
          <p:cNvPr id="23" name="Rounded Rectangle 22"/>
          <p:cNvSpPr/>
          <p:nvPr/>
        </p:nvSpPr>
        <p:spPr>
          <a:xfrm>
            <a:off x="8144933"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44933"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6233"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Future interfaces</a:t>
            </a:r>
          </a:p>
        </p:txBody>
      </p:sp>
      <p:sp>
        <p:nvSpPr>
          <p:cNvPr id="26" name="Rectangle 25"/>
          <p:cNvSpPr/>
          <p:nvPr/>
        </p:nvSpPr>
        <p:spPr>
          <a:xfrm>
            <a:off x="8373533"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02133"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GatewayCX: proposed</a:t>
            </a:r>
          </a:p>
        </p:txBody>
      </p:sp>
      <p:sp>
        <p:nvSpPr>
          <p:cNvPr id="28" name="TextBox 27"/>
          <p:cNvSpPr txBox="1"/>
          <p:nvPr/>
        </p:nvSpPr>
        <p:spPr>
          <a:xfrm>
            <a:off x="8602133"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cislunar network</a:t>
            </a:r>
          </a:p>
        </p:txBody>
      </p:sp>
      <p:sp>
        <p:nvSpPr>
          <p:cNvPr id="29" name="TextBox 28"/>
          <p:cNvSpPr txBox="1"/>
          <p:nvPr/>
        </p:nvSpPr>
        <p:spPr>
          <a:xfrm>
            <a:off x="8602133"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relationship; technical paper</a:t>
            </a:r>
          </a:p>
        </p:txBody>
      </p:sp>
      <p:sp>
        <p:nvSpPr>
          <p:cNvPr id="30" name="TextBox 29"/>
          <p:cNvSpPr txBox="1"/>
          <p:nvPr/>
        </p:nvSpPr>
        <p:spPr>
          <a:xfrm>
            <a:off x="8602133" y="3236722"/>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draft for future peer review</a:t>
            </a:r>
          </a:p>
        </p:txBody>
      </p:sp>
      <p:sp>
        <p:nvSpPr>
          <p:cNvPr id="31" name="Rounded Rectangle 30"/>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Each related project addresses a specific part of the development chain.</a:t>
            </a:r>
          </a:p>
        </p:txBody>
      </p:sp>
      <p:cxnSp>
        <p:nvCxnSpPr>
          <p:cNvPr id="34" name="Connector 33"/>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VOLLEY Labs research catalogue; engineering tool repositories; GatewayCX architecture</a:t>
            </a:r>
          </a:p>
        </p:txBody>
      </p:sp>
      <p:sp>
        <p:nvSpPr>
          <p:cNvPr id="36" name="TextBox 35"/>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17 / 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FUTURE WORK</a:t>
            </a:r>
          </a:p>
        </p:txBody>
      </p:sp>
      <p:sp>
        <p:nvSpPr>
          <p:cNvPr id="5" name="TextBox 4"/>
          <p:cNvSpPr txBox="1"/>
          <p:nvPr/>
        </p:nvSpPr>
        <p:spPr>
          <a:xfrm>
            <a:off x="457200" y="685800"/>
            <a:ext cx="11277600" cy="487680"/>
          </a:xfrm>
          <a:prstGeom prst="rect">
            <a:avLst/>
          </a:prstGeom>
          <a:noFill/>
        </p:spPr>
        <p:txBody>
          <a:bodyPr wrap="none" lIns="0" rIns="0" tIns="0" bIns="0">
            <a:spAutoFit/>
          </a:bodyPr>
          <a:lstStyle/>
          <a:p>
            <a:pPr algn="l">
              <a:spcBef>
                <a:spcPts val="0"/>
              </a:spcBef>
              <a:spcAft>
                <a:spcPts val="0"/>
              </a:spcAft>
            </a:pPr>
            <a:r>
              <a:rPr sz="3000" b="1" i="0">
                <a:solidFill>
                  <a:srgbClr val="102238"/>
                </a:solidFill>
                <a:latin typeface="Liberation Sans"/>
              </a:rPr>
              <a:t>Gen6 turns the reference into an instrumented hardware</a:t>
            </a:r>
          </a:p>
        </p:txBody>
      </p:sp>
      <p:sp>
        <p:nvSpPr>
          <p:cNvPr id="6" name="TextBox 5"/>
          <p:cNvSpPr txBox="1"/>
          <p:nvPr/>
        </p:nvSpPr>
        <p:spPr>
          <a:xfrm>
            <a:off x="457200" y="1135380"/>
            <a:ext cx="11277600" cy="487680"/>
          </a:xfrm>
          <a:prstGeom prst="rect">
            <a:avLst/>
          </a:prstGeom>
          <a:noFill/>
        </p:spPr>
        <p:txBody>
          <a:bodyPr wrap="none" lIns="0" rIns="0" tIns="0" bIns="0">
            <a:spAutoFit/>
          </a:bodyPr>
          <a:lstStyle/>
          <a:p>
            <a:pPr algn="l">
              <a:spcBef>
                <a:spcPts val="0"/>
              </a:spcBef>
              <a:spcAft>
                <a:spcPts val="0"/>
              </a:spcAft>
            </a:pPr>
            <a:r>
              <a:rPr sz="3000" b="1" i="0">
                <a:solidFill>
                  <a:srgbClr val="102238"/>
                </a:solidFill>
                <a:latin typeface="Liberation Sans"/>
              </a:rPr>
              <a:t>programme</a:t>
            </a:r>
          </a:p>
        </p:txBody>
      </p:sp>
      <p:sp>
        <p:nvSpPr>
          <p:cNvPr id="7" name="Rounded Rectangle 6"/>
          <p:cNvSpPr/>
          <p:nvPr/>
        </p:nvSpPr>
        <p:spPr>
          <a:xfrm>
            <a:off x="457200" y="1828800"/>
            <a:ext cx="3632200" cy="36576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828800"/>
            <a:ext cx="3632200" cy="508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0400" y="2082800"/>
            <a:ext cx="3225800" cy="520192"/>
          </a:xfrm>
          <a:prstGeom prst="rect">
            <a:avLst/>
          </a:prstGeom>
          <a:noFill/>
        </p:spPr>
        <p:txBody>
          <a:bodyPr wrap="none" lIns="0" rIns="0" tIns="0" bIns="0">
            <a:spAutoFit/>
          </a:bodyPr>
          <a:lstStyle/>
          <a:p>
            <a:pPr algn="l">
              <a:spcBef>
                <a:spcPts val="0"/>
              </a:spcBef>
              <a:spcAft>
                <a:spcPts val="0"/>
              </a:spcAft>
            </a:pPr>
            <a:r>
              <a:rPr sz="3200" b="1" i="0">
                <a:solidFill>
                  <a:srgbClr val="236D9B"/>
                </a:solidFill>
                <a:latin typeface="Liberation Sans"/>
              </a:rPr>
              <a:t>01</a:t>
            </a:r>
          </a:p>
        </p:txBody>
      </p:sp>
      <p:sp>
        <p:nvSpPr>
          <p:cNvPr id="10" name="TextBox 9"/>
          <p:cNvSpPr txBox="1"/>
          <p:nvPr/>
        </p:nvSpPr>
        <p:spPr>
          <a:xfrm>
            <a:off x="660400" y="2692400"/>
            <a:ext cx="3225800" cy="325120"/>
          </a:xfrm>
          <a:prstGeom prst="rect">
            <a:avLst/>
          </a:prstGeom>
          <a:noFill/>
        </p:spPr>
        <p:txBody>
          <a:bodyPr wrap="none" lIns="0" rIns="0" tIns="0" bIns="0">
            <a:spAutoFit/>
          </a:bodyPr>
          <a:lstStyle/>
          <a:p>
            <a:pPr algn="l">
              <a:spcBef>
                <a:spcPts val="0"/>
              </a:spcBef>
              <a:spcAft>
                <a:spcPts val="0"/>
              </a:spcAft>
            </a:pPr>
            <a:r>
              <a:rPr sz="2000" b="1" i="0">
                <a:solidFill>
                  <a:srgbClr val="102238"/>
                </a:solidFill>
                <a:latin typeface="Liberation Sans"/>
              </a:rPr>
              <a:t>Gen6 prototype</a:t>
            </a:r>
          </a:p>
        </p:txBody>
      </p:sp>
      <p:sp>
        <p:nvSpPr>
          <p:cNvPr id="11" name="TextBox 10"/>
          <p:cNvSpPr txBox="1"/>
          <p:nvPr/>
        </p:nvSpPr>
        <p:spPr>
          <a:xfrm>
            <a:off x="660400" y="3182620"/>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Gen6: instrumented feed/lock</a:t>
            </a:r>
          </a:p>
        </p:txBody>
      </p:sp>
      <p:sp>
        <p:nvSpPr>
          <p:cNvPr id="12" name="TextBox 11"/>
          <p:cNvSpPr txBox="1"/>
          <p:nvPr/>
        </p:nvSpPr>
        <p:spPr>
          <a:xfrm>
            <a:off x="660400" y="3452367"/>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and motor/source articles, then</a:t>
            </a:r>
          </a:p>
        </p:txBody>
      </p:sp>
      <p:sp>
        <p:nvSpPr>
          <p:cNvPr id="13" name="TextBox 12"/>
          <p:cNvSpPr txBox="1"/>
          <p:nvPr/>
        </p:nvSpPr>
        <p:spPr>
          <a:xfrm>
            <a:off x="660400" y="3722115"/>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a mixed 1U/3U prototype</a:t>
            </a:r>
          </a:p>
        </p:txBody>
      </p:sp>
      <p:sp>
        <p:nvSpPr>
          <p:cNvPr id="14" name="Rounded Rectangle 13"/>
          <p:cNvSpPr/>
          <p:nvPr/>
        </p:nvSpPr>
        <p:spPr>
          <a:xfrm>
            <a:off x="4279900" y="1828800"/>
            <a:ext cx="3632200" cy="36576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9900" y="1828800"/>
            <a:ext cx="36322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3100" y="2082800"/>
            <a:ext cx="3225800" cy="520192"/>
          </a:xfrm>
          <a:prstGeom prst="rect">
            <a:avLst/>
          </a:prstGeom>
          <a:noFill/>
        </p:spPr>
        <p:txBody>
          <a:bodyPr wrap="none" lIns="0" rIns="0" tIns="0" bIns="0">
            <a:spAutoFit/>
          </a:bodyPr>
          <a:lstStyle/>
          <a:p>
            <a:pPr algn="l">
              <a:spcBef>
                <a:spcPts val="0"/>
              </a:spcBef>
              <a:spcAft>
                <a:spcPts val="0"/>
              </a:spcAft>
            </a:pPr>
            <a:r>
              <a:rPr sz="3200" b="1" i="0">
                <a:solidFill>
                  <a:srgbClr val="236D9B"/>
                </a:solidFill>
                <a:latin typeface="Liberation Sans"/>
              </a:rPr>
              <a:t>02</a:t>
            </a:r>
          </a:p>
        </p:txBody>
      </p:sp>
      <p:sp>
        <p:nvSpPr>
          <p:cNvPr id="17" name="TextBox 16"/>
          <p:cNvSpPr txBox="1"/>
          <p:nvPr/>
        </p:nvSpPr>
        <p:spPr>
          <a:xfrm>
            <a:off x="4483100" y="2692400"/>
            <a:ext cx="3225800" cy="325120"/>
          </a:xfrm>
          <a:prstGeom prst="rect">
            <a:avLst/>
          </a:prstGeom>
          <a:noFill/>
        </p:spPr>
        <p:txBody>
          <a:bodyPr wrap="none" lIns="0" rIns="0" tIns="0" bIns="0">
            <a:spAutoFit/>
          </a:bodyPr>
          <a:lstStyle/>
          <a:p>
            <a:pPr algn="l">
              <a:spcBef>
                <a:spcPts val="0"/>
              </a:spcBef>
              <a:spcAft>
                <a:spcPts val="0"/>
              </a:spcAft>
            </a:pPr>
            <a:r>
              <a:rPr sz="2000" b="1" i="0">
                <a:solidFill>
                  <a:srgbClr val="102238"/>
                </a:solidFill>
                <a:latin typeface="Liberation Sans"/>
              </a:rPr>
              <a:t>Higher-speed study</a:t>
            </a:r>
          </a:p>
        </p:txBody>
      </p:sp>
      <p:sp>
        <p:nvSpPr>
          <p:cNvPr id="18" name="TextBox 17"/>
          <p:cNvSpPr txBox="1"/>
          <p:nvPr/>
        </p:nvSpPr>
        <p:spPr>
          <a:xfrm>
            <a:off x="4483100" y="3182620"/>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Higher-speed programme:</a:t>
            </a:r>
          </a:p>
        </p:txBody>
      </p:sp>
      <p:sp>
        <p:nvSpPr>
          <p:cNvPr id="19" name="TextBox 18"/>
          <p:cNvSpPr txBox="1"/>
          <p:nvPr/>
        </p:nvSpPr>
        <p:spPr>
          <a:xfrm>
            <a:off x="4483100" y="3452367"/>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separate ~10 m/s</a:t>
            </a:r>
          </a:p>
        </p:txBody>
      </p:sp>
      <p:sp>
        <p:nvSpPr>
          <p:cNvPr id="20" name="TextBox 19"/>
          <p:cNvSpPr txBox="1"/>
          <p:nvPr/>
        </p:nvSpPr>
        <p:spPr>
          <a:xfrm>
            <a:off x="4483100" y="3722115"/>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computational design; 1 km/s</a:t>
            </a:r>
          </a:p>
        </p:txBody>
      </p:sp>
      <p:sp>
        <p:nvSpPr>
          <p:cNvPr id="21" name="TextBox 20"/>
          <p:cNvSpPr txBox="1"/>
          <p:nvPr/>
        </p:nvSpPr>
        <p:spPr>
          <a:xfrm>
            <a:off x="4483100" y="3991864"/>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stretch research objective</a:t>
            </a:r>
          </a:p>
        </p:txBody>
      </p:sp>
      <p:sp>
        <p:nvSpPr>
          <p:cNvPr id="22" name="Rounded Rectangle 21"/>
          <p:cNvSpPr/>
          <p:nvPr/>
        </p:nvSpPr>
        <p:spPr>
          <a:xfrm>
            <a:off x="8102600" y="1828800"/>
            <a:ext cx="3632200" cy="36576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02600" y="1828800"/>
            <a:ext cx="36322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05800" y="2082800"/>
            <a:ext cx="3225800" cy="520192"/>
          </a:xfrm>
          <a:prstGeom prst="rect">
            <a:avLst/>
          </a:prstGeom>
          <a:noFill/>
        </p:spPr>
        <p:txBody>
          <a:bodyPr wrap="none" lIns="0" rIns="0" tIns="0" bIns="0">
            <a:spAutoFit/>
          </a:bodyPr>
          <a:lstStyle/>
          <a:p>
            <a:pPr algn="l">
              <a:spcBef>
                <a:spcPts val="0"/>
              </a:spcBef>
              <a:spcAft>
                <a:spcPts val="0"/>
              </a:spcAft>
            </a:pPr>
            <a:r>
              <a:rPr sz="3200" b="1" i="0">
                <a:solidFill>
                  <a:srgbClr val="236D9B"/>
                </a:solidFill>
                <a:latin typeface="Liberation Sans"/>
              </a:rPr>
              <a:t>03</a:t>
            </a:r>
          </a:p>
        </p:txBody>
      </p:sp>
      <p:sp>
        <p:nvSpPr>
          <p:cNvPr id="25" name="TextBox 24"/>
          <p:cNvSpPr txBox="1"/>
          <p:nvPr/>
        </p:nvSpPr>
        <p:spPr>
          <a:xfrm>
            <a:off x="8305800" y="2692400"/>
            <a:ext cx="3225800" cy="325120"/>
          </a:xfrm>
          <a:prstGeom prst="rect">
            <a:avLst/>
          </a:prstGeom>
          <a:noFill/>
        </p:spPr>
        <p:txBody>
          <a:bodyPr wrap="none" lIns="0" rIns="0" tIns="0" bIns="0">
            <a:spAutoFit/>
          </a:bodyPr>
          <a:lstStyle/>
          <a:p>
            <a:pPr algn="l">
              <a:spcBef>
                <a:spcPts val="0"/>
              </a:spcBef>
              <a:spcAft>
                <a:spcPts val="0"/>
              </a:spcAft>
            </a:pPr>
            <a:r>
              <a:rPr sz="2000" b="1" i="0">
                <a:solidFill>
                  <a:srgbClr val="102238"/>
                </a:solidFill>
                <a:latin typeface="Liberation Sans"/>
              </a:rPr>
              <a:t>Long-term architecture</a:t>
            </a:r>
          </a:p>
        </p:txBody>
      </p:sp>
      <p:sp>
        <p:nvSpPr>
          <p:cNvPr id="26" name="TextBox 25"/>
          <p:cNvSpPr txBox="1"/>
          <p:nvPr/>
        </p:nvSpPr>
        <p:spPr>
          <a:xfrm>
            <a:off x="8305800" y="3182620"/>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Future host: a POEM-inspired</a:t>
            </a:r>
          </a:p>
        </p:txBody>
      </p:sp>
      <p:sp>
        <p:nvSpPr>
          <p:cNvPr id="27" name="TextBox 26"/>
          <p:cNvSpPr txBox="1"/>
          <p:nvPr/>
        </p:nvSpPr>
        <p:spPr>
          <a:xfrm>
            <a:off x="8305800" y="3452367"/>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free-flying carrier, replenishable</a:t>
            </a:r>
          </a:p>
        </p:txBody>
      </p:sp>
      <p:sp>
        <p:nvSpPr>
          <p:cNvPr id="28" name="TextBox 27"/>
          <p:cNvSpPr txBox="1"/>
          <p:nvPr/>
        </p:nvSpPr>
        <p:spPr>
          <a:xfrm>
            <a:off x="8305800" y="3722115"/>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constellations and Artemis-era</a:t>
            </a:r>
          </a:p>
        </p:txBody>
      </p:sp>
      <p:sp>
        <p:nvSpPr>
          <p:cNvPr id="29" name="TextBox 28"/>
          <p:cNvSpPr txBox="1"/>
          <p:nvPr/>
        </p:nvSpPr>
        <p:spPr>
          <a:xfrm>
            <a:off x="8305800" y="3991864"/>
            <a:ext cx="3225800" cy="292608"/>
          </a:xfrm>
          <a:prstGeom prst="rect">
            <a:avLst/>
          </a:prstGeom>
          <a:noFill/>
        </p:spPr>
        <p:txBody>
          <a:bodyPr wrap="none" lIns="0" rIns="0" tIns="0" bIns="0">
            <a:spAutoFit/>
          </a:bodyPr>
          <a:lstStyle/>
          <a:p>
            <a:pPr algn="l">
              <a:spcBef>
                <a:spcPts val="0"/>
              </a:spcBef>
              <a:spcAft>
                <a:spcPts val="0"/>
              </a:spcAft>
            </a:pPr>
            <a:r>
              <a:rPr sz="1800" b="0" i="0">
                <a:solidFill>
                  <a:srgbClr val="596C7B"/>
                </a:solidFill>
                <a:latin typeface="Liberation Sans"/>
              </a:rPr>
              <a:t>lunar science/communications</a:t>
            </a:r>
          </a:p>
        </p:txBody>
      </p:sp>
      <p:sp>
        <p:nvSpPr>
          <p:cNvPr id="30" name="Rounded Rectangle 29"/>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Long-term cislunar delivery: 3.5 km/s departure research, with targeting and capture designed separately.</a:t>
            </a:r>
          </a:p>
        </p:txBody>
      </p:sp>
      <p:cxnSp>
        <p:nvCxnSpPr>
          <p:cNvPr id="33" name="Connector 32"/>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§11.2; Labs high-speed and lunar architecture studies; NASA lunar infrastructure programme</a:t>
            </a:r>
          </a:p>
        </p:txBody>
      </p:sp>
      <p:sp>
        <p:nvSpPr>
          <p:cNvPr id="35" name="TextBox 34"/>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18 /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508000"/>
            <a:ext cx="4064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749300"/>
            <a:ext cx="10668000" cy="178816"/>
          </a:xfrm>
          <a:prstGeom prst="rect">
            <a:avLst/>
          </a:prstGeom>
          <a:noFill/>
        </p:spPr>
        <p:txBody>
          <a:bodyPr wrap="none" lIns="0" rIns="0" tIns="0" bIns="0">
            <a:spAutoFit/>
          </a:bodyPr>
          <a:lstStyle/>
          <a:p>
            <a:pPr algn="l">
              <a:spcBef>
                <a:spcPts val="0"/>
              </a:spcBef>
              <a:spcAft>
                <a:spcPts val="0"/>
              </a:spcAft>
            </a:pPr>
            <a:r>
              <a:rPr sz="1100" b="1" i="0">
                <a:solidFill>
                  <a:srgbClr val="B4C9D8"/>
                </a:solidFill>
                <a:latin typeface="Liberation Sans"/>
              </a:rPr>
              <a:t>DEPARTMENT OF MECHANICAL ENGINEERING</a:t>
            </a:r>
          </a:p>
        </p:txBody>
      </p:sp>
      <p:sp>
        <p:nvSpPr>
          <p:cNvPr id="5" name="TextBox 4"/>
          <p:cNvSpPr txBox="1"/>
          <p:nvPr/>
        </p:nvSpPr>
        <p:spPr>
          <a:xfrm>
            <a:off x="457200" y="1244600"/>
            <a:ext cx="10858500" cy="617728"/>
          </a:xfrm>
          <a:prstGeom prst="rect">
            <a:avLst/>
          </a:prstGeom>
          <a:noFill/>
        </p:spPr>
        <p:txBody>
          <a:bodyPr wrap="none" lIns="0" rIns="0" tIns="0" bIns="0">
            <a:spAutoFit/>
          </a:bodyPr>
          <a:lstStyle/>
          <a:p>
            <a:pPr algn="l">
              <a:spcBef>
                <a:spcPts val="0"/>
              </a:spcBef>
              <a:spcAft>
                <a:spcPts val="0"/>
              </a:spcAft>
            </a:pPr>
            <a:r>
              <a:rPr sz="3800" b="1" i="0">
                <a:solidFill>
                  <a:srgbClr val="FFFFFF"/>
                </a:solidFill>
                <a:latin typeface="Liberation Sans"/>
              </a:rPr>
              <a:t>Commanded deployment, evaluated as a</a:t>
            </a:r>
          </a:p>
        </p:txBody>
      </p:sp>
      <p:sp>
        <p:nvSpPr>
          <p:cNvPr id="6" name="TextBox 5"/>
          <p:cNvSpPr txBox="1"/>
          <p:nvPr/>
        </p:nvSpPr>
        <p:spPr>
          <a:xfrm>
            <a:off x="457200" y="1814068"/>
            <a:ext cx="10858500" cy="617728"/>
          </a:xfrm>
          <a:prstGeom prst="rect">
            <a:avLst/>
          </a:prstGeom>
          <a:noFill/>
        </p:spPr>
        <p:txBody>
          <a:bodyPr wrap="none" lIns="0" rIns="0" tIns="0" bIns="0">
            <a:spAutoFit/>
          </a:bodyPr>
          <a:lstStyle/>
          <a:p>
            <a:pPr algn="l">
              <a:spcBef>
                <a:spcPts val="0"/>
              </a:spcBef>
              <a:spcAft>
                <a:spcPts val="0"/>
              </a:spcAft>
            </a:pPr>
            <a:r>
              <a:rPr sz="3800" b="1" i="0">
                <a:solidFill>
                  <a:srgbClr val="FFFFFF"/>
                </a:solidFill>
                <a:latin typeface="Liberation Sans"/>
              </a:rPr>
              <a:t>complete system</a:t>
            </a:r>
          </a:p>
        </p:txBody>
      </p:sp>
      <p:sp>
        <p:nvSpPr>
          <p:cNvPr id="7" name="TextBox 6"/>
          <p:cNvSpPr txBox="1"/>
          <p:nvPr/>
        </p:nvSpPr>
        <p:spPr>
          <a:xfrm>
            <a:off x="457200" y="2794000"/>
            <a:ext cx="10858500" cy="357632"/>
          </a:xfrm>
          <a:prstGeom prst="rect">
            <a:avLst/>
          </a:prstGeom>
          <a:noFill/>
        </p:spPr>
        <p:txBody>
          <a:bodyPr wrap="none" lIns="0" rIns="0" tIns="0" bIns="0">
            <a:spAutoFit/>
          </a:bodyPr>
          <a:lstStyle/>
          <a:p>
            <a:pPr algn="l">
              <a:spcBef>
                <a:spcPts val="0"/>
              </a:spcBef>
              <a:spcAft>
                <a:spcPts val="0"/>
              </a:spcAft>
            </a:pPr>
            <a:r>
              <a:rPr sz="2200" b="1" i="0">
                <a:solidFill>
                  <a:srgbClr val="DCE7EE"/>
                </a:solidFill>
                <a:latin typeface="Liberation Sans"/>
              </a:rPr>
              <a:t>A defined machine. Coupled engineering. A measured route to hardware.</a:t>
            </a:r>
          </a:p>
        </p:txBody>
      </p:sp>
      <p:sp>
        <p:nvSpPr>
          <p:cNvPr id="8" name="TextBox 7"/>
          <p:cNvSpPr txBox="1"/>
          <p:nvPr/>
        </p:nvSpPr>
        <p:spPr>
          <a:xfrm>
            <a:off x="457200" y="3708400"/>
            <a:ext cx="10858500" cy="471424"/>
          </a:xfrm>
          <a:prstGeom prst="rect">
            <a:avLst/>
          </a:prstGeom>
          <a:noFill/>
        </p:spPr>
        <p:txBody>
          <a:bodyPr wrap="none" lIns="0" rIns="0" tIns="0" bIns="0">
            <a:spAutoFit/>
          </a:bodyPr>
          <a:lstStyle/>
          <a:p>
            <a:pPr algn="l">
              <a:spcBef>
                <a:spcPts val="0"/>
              </a:spcBef>
              <a:spcAft>
                <a:spcPts val="0"/>
              </a:spcAft>
            </a:pPr>
            <a:r>
              <a:rPr sz="2900" b="1" i="0">
                <a:solidFill>
                  <a:srgbClr val="FFFFFF"/>
                </a:solidFill>
                <a:latin typeface="Liberation Sans"/>
              </a:rPr>
              <a:t>Questions</a:t>
            </a:r>
          </a:p>
        </p:txBody>
      </p:sp>
      <p:sp>
        <p:nvSpPr>
          <p:cNvPr id="9" name="Rectangle 8"/>
          <p:cNvSpPr/>
          <p:nvPr/>
        </p:nvSpPr>
        <p:spPr>
          <a:xfrm>
            <a:off x="533400" y="45720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2000" y="4470400"/>
            <a:ext cx="10566400" cy="235712"/>
          </a:xfrm>
          <a:prstGeom prst="rect">
            <a:avLst/>
          </a:prstGeom>
          <a:noFill/>
        </p:spPr>
        <p:txBody>
          <a:bodyPr wrap="none" lIns="0" rIns="0" tIns="0" bIns="0">
            <a:spAutoFit/>
          </a:bodyPr>
          <a:lstStyle/>
          <a:p>
            <a:pPr algn="l">
              <a:spcBef>
                <a:spcPts val="0"/>
              </a:spcBef>
              <a:spcAft>
                <a:spcPts val="0"/>
              </a:spcAft>
            </a:pPr>
            <a:r>
              <a:rPr sz="1450" b="0" i="0">
                <a:solidFill>
                  <a:srgbClr val="DCE7EE"/>
                </a:solidFill>
                <a:latin typeface="Liberation Sans"/>
              </a:rPr>
              <a:t>CubeSat interface sources; Zhao 2022/2025; Feng 2025; Halbach and finite-motor literature</a:t>
            </a:r>
          </a:p>
        </p:txBody>
      </p:sp>
      <p:sp>
        <p:nvSpPr>
          <p:cNvPr id="11" name="Rectangle 10"/>
          <p:cNvSpPr/>
          <p:nvPr/>
        </p:nvSpPr>
        <p:spPr>
          <a:xfrm>
            <a:off x="533400" y="4967097"/>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2000" y="4865497"/>
            <a:ext cx="10566400" cy="235712"/>
          </a:xfrm>
          <a:prstGeom prst="rect">
            <a:avLst/>
          </a:prstGeom>
          <a:noFill/>
        </p:spPr>
        <p:txBody>
          <a:bodyPr wrap="none" lIns="0" rIns="0" tIns="0" bIns="0">
            <a:spAutoFit/>
          </a:bodyPr>
          <a:lstStyle/>
          <a:p>
            <a:pPr algn="l">
              <a:spcBef>
                <a:spcPts val="0"/>
              </a:spcBef>
              <a:spcAft>
                <a:spcPts val="0"/>
              </a:spcAft>
            </a:pPr>
            <a:r>
              <a:rPr sz="1450" b="0" i="0">
                <a:solidFill>
                  <a:srgbClr val="DCE7EE"/>
                </a:solidFill>
                <a:latin typeface="Liberation Sans"/>
              </a:rPr>
              <a:t>Native CAD, finite-element, circuit and orbital source records accompany the study</a:t>
            </a:r>
          </a:p>
        </p:txBody>
      </p:sp>
      <p:sp>
        <p:nvSpPr>
          <p:cNvPr id="13" name="Rectangle 12"/>
          <p:cNvSpPr/>
          <p:nvPr/>
        </p:nvSpPr>
        <p:spPr>
          <a:xfrm>
            <a:off x="533400" y="5362194"/>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000" y="5260594"/>
            <a:ext cx="10566400" cy="235712"/>
          </a:xfrm>
          <a:prstGeom prst="rect">
            <a:avLst/>
          </a:prstGeom>
          <a:noFill/>
        </p:spPr>
        <p:txBody>
          <a:bodyPr wrap="none" lIns="0" rIns="0" tIns="0" bIns="0">
            <a:spAutoFit/>
          </a:bodyPr>
          <a:lstStyle/>
          <a:p>
            <a:pPr algn="l">
              <a:spcBef>
                <a:spcPts val="0"/>
              </a:spcBef>
              <a:spcAft>
                <a:spcPts val="0"/>
              </a:spcAft>
            </a:pPr>
            <a:r>
              <a:rPr sz="1450" b="0" i="0">
                <a:solidFill>
                  <a:srgbClr val="DCE7EE"/>
                </a:solidFill>
                <a:latin typeface="Liberation Sans"/>
              </a:rPr>
              <a:t>VOLLEY technical record: github.com/aaaaaaaaaaaavm/VOLLEY</a:t>
            </a:r>
          </a:p>
        </p:txBody>
      </p:sp>
      <p:cxnSp>
        <p:nvCxnSpPr>
          <p:cNvPr id="15" name="Connector 14"/>
          <p:cNvCxnSpPr/>
          <p:nvPr/>
        </p:nvCxnSpPr>
        <p:spPr>
          <a:xfrm>
            <a:off x="457200" y="6388100"/>
            <a:ext cx="11277600" cy="0"/>
          </a:xfrm>
          <a:prstGeom prst="line">
            <a:avLst/>
          </a:prstGeom>
          <a:ln w="12700">
            <a:solidFill>
              <a:srgbClr val="3B506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C7D3DD"/>
                </a:solidFill>
                <a:latin typeface="Liberation Sans"/>
              </a:rPr>
              <a:t>Full bibliography in blackbook; technical appendix and source-linked study records</a:t>
            </a:r>
          </a:p>
        </p:txBody>
      </p:sp>
      <p:sp>
        <p:nvSpPr>
          <p:cNvPr id="17" name="TextBox 16"/>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C7D3DD"/>
                </a:solidFill>
                <a:latin typeface="Liberation Sans"/>
              </a:rPr>
              <a:t>19 /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APPENDIX A1 · REFERENCE CONFIGURATION</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Reference quantities and mass boundaries</a:t>
            </a:r>
          </a:p>
        </p:txBody>
      </p:sp>
      <p:sp>
        <p:nvSpPr>
          <p:cNvPr id="6" name="Rounded Rectangle 5"/>
          <p:cNvSpPr/>
          <p:nvPr/>
        </p:nvSpPr>
        <p:spPr>
          <a:xfrm>
            <a:off x="5105400" y="1612900"/>
            <a:ext cx="6629400" cy="35560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D3_assembly_guide-9128ffa322a2.jpg"/>
          <p:cNvPicPr>
            <a:picLocks noChangeAspect="1"/>
          </p:cNvPicPr>
          <p:nvPr/>
        </p:nvPicPr>
        <p:blipFill>
          <a:blip r:embed="rId2"/>
          <a:stretch>
            <a:fillRect/>
          </a:stretch>
        </p:blipFill>
        <p:spPr>
          <a:xfrm>
            <a:off x="5749444" y="1714500"/>
            <a:ext cx="5341311" cy="3340100"/>
          </a:xfrm>
          <a:prstGeom prst="rect">
            <a:avLst/>
          </a:prstGeom>
        </p:spPr>
      </p:pic>
      <p:sp>
        <p:nvSpPr>
          <p:cNvPr id="8" name="TextBox 7"/>
          <p:cNvSpPr txBox="1"/>
          <p:nvPr/>
        </p:nvSpPr>
        <p:spPr>
          <a:xfrm>
            <a:off x="5207000" y="52705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CAD-derived assembly; mass values are modelled/allocated, not scale measurements.</a:t>
            </a:r>
          </a:p>
        </p:txBody>
      </p:sp>
      <p:sp>
        <p:nvSpPr>
          <p:cNvPr id="9" name="Rectangle 8"/>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Payloads: 12 × 4 kg; each 340.5</a:t>
            </a:r>
          </a:p>
        </p:txBody>
      </p:sp>
      <p:sp>
        <p:nvSpPr>
          <p:cNvPr id="11" name="TextBox 10"/>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 100 × 100 mm</a:t>
            </a:r>
          </a:p>
        </p:txBody>
      </p:sp>
      <p:sp>
        <p:nvSpPr>
          <p:cNvPr id="12" name="Rectangle 11"/>
          <p:cNvSpPr/>
          <p:nvPr/>
        </p:nvSpPr>
        <p:spPr>
          <a:xfrm>
            <a:off x="457200" y="2559812"/>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4582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Dry CAD 149.557 kg;</a:t>
            </a:r>
          </a:p>
        </p:txBody>
      </p:sp>
      <p:sp>
        <p:nvSpPr>
          <p:cNvPr id="14" name="TextBox 13"/>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power/control allowance 7 kg;</a:t>
            </a:r>
          </a:p>
        </p:txBody>
      </p:sp>
      <p:sp>
        <p:nvSpPr>
          <p:cNvPr id="15" name="TextBox 14"/>
          <p:cNvSpPr txBox="1"/>
          <p:nvPr/>
        </p:nvSpPr>
        <p:spPr>
          <a:xfrm>
            <a:off x="685800" y="30876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loaded device 204.557 kg</a:t>
            </a:r>
          </a:p>
        </p:txBody>
      </p:sp>
      <p:sp>
        <p:nvSpPr>
          <p:cNvPr id="16" name="Rectangle 15"/>
          <p:cNvSpPr/>
          <p:nvPr/>
        </p:nvSpPr>
        <p:spPr>
          <a:xfrm>
            <a:off x="457200" y="3681729"/>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580129"/>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Retained moving carrier plus</a:t>
            </a:r>
          </a:p>
        </p:txBody>
      </p:sp>
      <p:sp>
        <p:nvSpPr>
          <p:cNvPr id="18" name="TextBox 17"/>
          <p:cNvSpPr txBox="1"/>
          <p:nvPr/>
        </p:nvSpPr>
        <p:spPr>
          <a:xfrm>
            <a:off x="685800" y="389483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pallet: 13.127806 kg</a:t>
            </a:r>
          </a:p>
        </p:txBody>
      </p:sp>
      <p:sp>
        <p:nvSpPr>
          <p:cNvPr id="19" name="Rounded Rectangle 18"/>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Keep represented CAD material, system allowances and payloads separate.</a:t>
            </a:r>
          </a:p>
        </p:txBody>
      </p:sp>
      <p:cxnSp>
        <p:nvCxnSpPr>
          <p:cNvPr id="22" name="Connector 21"/>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Reference configuration</a:t>
            </a:r>
          </a:p>
        </p:txBody>
      </p:sp>
      <p:sp>
        <p:nvSpPr>
          <p:cNvPr id="24" name="TextBox 23"/>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20 / 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APPENDIX A2 · FEEDER SELECTION</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Why a guided lead screw?</a:t>
            </a:r>
          </a:p>
        </p:txBody>
      </p:sp>
      <p:sp>
        <p:nvSpPr>
          <p:cNvPr id="6" name="Rounded Rectangle 5"/>
          <p:cNvSpPr/>
          <p:nvPr/>
        </p:nvSpPr>
        <p:spPr>
          <a:xfrm>
            <a:off x="5105400" y="1612900"/>
            <a:ext cx="6629400" cy="35560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eeder_detail_annotated-ad7e94cd594d.jpg"/>
          <p:cNvPicPr>
            <a:picLocks noChangeAspect="1"/>
          </p:cNvPicPr>
          <p:nvPr/>
        </p:nvPicPr>
        <p:blipFill>
          <a:blip r:embed="rId2"/>
          <a:stretch>
            <a:fillRect/>
          </a:stretch>
        </p:blipFill>
        <p:spPr>
          <a:xfrm>
            <a:off x="6598227" y="1714500"/>
            <a:ext cx="3643745" cy="3340100"/>
          </a:xfrm>
          <a:prstGeom prst="rect">
            <a:avLst/>
          </a:prstGeom>
        </p:spPr>
      </p:pic>
      <p:sp>
        <p:nvSpPr>
          <p:cNvPr id="8" name="TextBox 7"/>
          <p:cNvSpPr txBox="1"/>
          <p:nvPr/>
        </p:nvSpPr>
        <p:spPr>
          <a:xfrm>
            <a:off x="5207000" y="52705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CAD-derived feeder detail. Detailed comparison remains in Labs.</a:t>
            </a:r>
          </a:p>
        </p:txBody>
      </p:sp>
      <p:sp>
        <p:nvSpPr>
          <p:cNvPr id="9" name="Rectangle 8"/>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Lead screw selected;</a:t>
            </a:r>
          </a:p>
        </p:txBody>
      </p:sp>
      <p:sp>
        <p:nvSpPr>
          <p:cNvPr id="11" name="TextBox 10"/>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rack-and-pawl retained as</a:t>
            </a:r>
          </a:p>
        </p:txBody>
      </p:sp>
      <p:sp>
        <p:nvSpPr>
          <p:cNvPr id="12" name="TextBox 11"/>
          <p:cNvSpPr txBox="1"/>
          <p:nvPr/>
        </p:nvSpPr>
        <p:spPr>
          <a:xfrm>
            <a:off x="685800" y="22804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runner-up</a:t>
            </a:r>
          </a:p>
        </p:txBody>
      </p:sp>
      <p:sp>
        <p:nvSpPr>
          <p:cNvPr id="13" name="Rectangle 12"/>
          <p:cNvSpPr/>
          <p:nvPr/>
        </p:nvSpPr>
        <p:spPr>
          <a:xfrm>
            <a:off x="457200" y="287451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Seven candidates preserve</a:t>
            </a:r>
          </a:p>
        </p:txBody>
      </p:sp>
      <p:sp>
        <p:nvSpPr>
          <p:cNvPr id="15" name="TextBox 14"/>
          <p:cNvSpPr txBox="1"/>
          <p:nvPr/>
        </p:nvSpPr>
        <p:spPr>
          <a:xfrm>
            <a:off x="685800" y="30876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pantograph, telescope, belt,</a:t>
            </a:r>
          </a:p>
        </p:txBody>
      </p:sp>
      <p:sp>
        <p:nvSpPr>
          <p:cNvPr id="16" name="TextBox 15"/>
          <p:cNvSpPr txBox="1"/>
          <p:nvPr/>
        </p:nvSpPr>
        <p:spPr>
          <a:xfrm>
            <a:off x="685800" y="340233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drum and spring/gate concepts</a:t>
            </a:r>
          </a:p>
        </p:txBody>
      </p:sp>
      <p:sp>
        <p:nvSpPr>
          <p:cNvPr id="17" name="Rectangle 16"/>
          <p:cNvSpPr/>
          <p:nvPr/>
        </p:nvSpPr>
        <p:spPr>
          <a:xfrm>
            <a:off x="457200" y="3996435"/>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89483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Weighted scores are declared</a:t>
            </a:r>
          </a:p>
        </p:txBody>
      </p:sp>
      <p:sp>
        <p:nvSpPr>
          <p:cNvPr id="19" name="TextBox 18"/>
          <p:cNvSpPr txBox="1"/>
          <p:nvPr/>
        </p:nvSpPr>
        <p:spPr>
          <a:xfrm>
            <a:off x="685800" y="4209541"/>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judgments; measured reliability</a:t>
            </a:r>
          </a:p>
        </p:txBody>
      </p:sp>
      <p:sp>
        <p:nvSpPr>
          <p:cNvPr id="20" name="TextBox 19"/>
          <p:cNvSpPr txBox="1"/>
          <p:nvPr/>
        </p:nvSpPr>
        <p:spPr>
          <a:xfrm>
            <a:off x="685800" y="4524247"/>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remains a hardware question</a:t>
            </a:r>
          </a:p>
        </p:txBody>
      </p:sp>
      <p:sp>
        <p:nvSpPr>
          <p:cNvPr id="21" name="Rounded Rectangle 20"/>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Selection balances restraint, controlled travel, packaging and failure behaviour.</a:t>
            </a:r>
          </a:p>
        </p:txBody>
      </p:sp>
      <p:cxnSp>
        <p:nvCxnSpPr>
          <p:cNvPr id="24" name="Connector 23"/>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Feeder selection</a:t>
            </a:r>
          </a:p>
        </p:txBody>
      </p:sp>
      <p:sp>
        <p:nvSpPr>
          <p:cNvPr id="26" name="TextBox 25"/>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21 /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APPENDIX A3 · PALLET CUSTODY</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Capture before lift release</a:t>
            </a:r>
          </a:p>
        </p:txBody>
      </p:sp>
      <p:sp>
        <p:nvSpPr>
          <p:cNvPr id="6" name="Rounded Rectangle 5"/>
          <p:cNvSpPr/>
          <p:nvPr/>
        </p:nvSpPr>
        <p:spPr>
          <a:xfrm>
            <a:off x="5105400" y="1612900"/>
            <a:ext cx="6629400" cy="35560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2_handoff_pallet_locks-f075051e2179.jpg"/>
          <p:cNvPicPr>
            <a:picLocks noChangeAspect="1"/>
          </p:cNvPicPr>
          <p:nvPr/>
        </p:nvPicPr>
        <p:blipFill>
          <a:blip r:embed="rId2"/>
          <a:stretch>
            <a:fillRect/>
          </a:stretch>
        </p:blipFill>
        <p:spPr>
          <a:xfrm>
            <a:off x="6192860" y="1714500"/>
            <a:ext cx="4454478" cy="3340100"/>
          </a:xfrm>
          <a:prstGeom prst="rect">
            <a:avLst/>
          </a:prstGeom>
        </p:spPr>
      </p:pic>
      <p:sp>
        <p:nvSpPr>
          <p:cNvPr id="8" name="TextBox 7"/>
          <p:cNvSpPr txBox="1"/>
          <p:nvPr/>
        </p:nvSpPr>
        <p:spPr>
          <a:xfrm>
            <a:off x="5207000" y="52705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CAD-derived state; interlock logic and geometric checks have separate scopes.</a:t>
            </a:r>
          </a:p>
        </p:txBody>
      </p:sp>
      <p:sp>
        <p:nvSpPr>
          <p:cNvPr id="9" name="Rectangle 8"/>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12 mm lock insertion; keyed</a:t>
            </a:r>
          </a:p>
        </p:txBody>
      </p:sp>
      <p:sp>
        <p:nvSpPr>
          <p:cNvPr id="11" name="TextBox 10"/>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heads rotate 90°</a:t>
            </a:r>
          </a:p>
        </p:txBody>
      </p:sp>
      <p:sp>
        <p:nvSpPr>
          <p:cNvPr id="12" name="Rectangle 11"/>
          <p:cNvSpPr/>
          <p:nvPr/>
        </p:nvSpPr>
        <p:spPr>
          <a:xfrm>
            <a:off x="457200" y="2559812"/>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4582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Lift grips retract 26 mm only after</a:t>
            </a:r>
          </a:p>
        </p:txBody>
      </p:sp>
      <p:sp>
        <p:nvSpPr>
          <p:cNvPr id="14" name="TextBox 13"/>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permitted carrier capture</a:t>
            </a:r>
          </a:p>
        </p:txBody>
      </p:sp>
      <p:sp>
        <p:nvSpPr>
          <p:cNvPr id="15" name="Rectangle 14"/>
          <p:cNvSpPr/>
          <p:nvPr/>
        </p:nvSpPr>
        <p:spPr>
          <a:xfrm>
            <a:off x="457200" y="3367024"/>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2654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Same pallet remains through</a:t>
            </a:r>
          </a:p>
        </p:txBody>
      </p:sp>
      <p:sp>
        <p:nvSpPr>
          <p:cNvPr id="17" name="TextBox 16"/>
          <p:cNvSpPr txBox="1"/>
          <p:nvPr/>
        </p:nvSpPr>
        <p:spPr>
          <a:xfrm>
            <a:off x="685800" y="3580129"/>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launch, arrest and return</a:t>
            </a:r>
          </a:p>
        </p:txBody>
      </p:sp>
      <p:sp>
        <p:nvSpPr>
          <p:cNvPr id="18" name="Rounded Rectangle 17"/>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Carrier capture and independent locking precede lift withdrawal.</a:t>
            </a:r>
          </a:p>
        </p:txBody>
      </p:sp>
      <p:cxnSp>
        <p:nvCxnSpPr>
          <p:cNvPr id="21" name="Connector 20"/>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Pallet custody</a:t>
            </a:r>
          </a:p>
        </p:txBody>
      </p:sp>
      <p:sp>
        <p:nvSpPr>
          <p:cNvPr id="23" name="TextBox 22"/>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22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APPENDIX A4 · ELECTROMAGNETIC METHODS</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Finite-field and current-path comparisons</a:t>
            </a:r>
          </a:p>
        </p:txBody>
      </p:sp>
      <p:sp>
        <p:nvSpPr>
          <p:cNvPr id="6" name="Rounded Rectangle 5"/>
          <p:cNvSpPr/>
          <p:nvPr/>
        </p:nvSpPr>
        <p:spPr>
          <a:xfrm>
            <a:off x="5105400" y="1612900"/>
            <a:ext cx="6629400" cy="35560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nite_force_coefficient-8c553ff9aa80.jpg"/>
          <p:cNvPicPr>
            <a:picLocks noChangeAspect="1"/>
          </p:cNvPicPr>
          <p:nvPr/>
        </p:nvPicPr>
        <p:blipFill>
          <a:blip r:embed="rId2"/>
          <a:stretch>
            <a:fillRect/>
          </a:stretch>
        </p:blipFill>
        <p:spPr>
          <a:xfrm>
            <a:off x="5258688" y="1714500"/>
            <a:ext cx="6322823" cy="3340100"/>
          </a:xfrm>
          <a:prstGeom prst="rect">
            <a:avLst/>
          </a:prstGeom>
        </p:spPr>
      </p:pic>
      <p:sp>
        <p:nvSpPr>
          <p:cNvPr id="8" name="TextBox 7"/>
          <p:cNvSpPr txBox="1"/>
          <p:nvPr/>
        </p:nvSpPr>
        <p:spPr>
          <a:xfrm>
            <a:off x="5207000" y="52705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Numerical comparison at stated stations; not a physical accuracy specification.</a:t>
            </a:r>
          </a:p>
        </p:txBody>
      </p:sp>
      <p:sp>
        <p:nvSpPr>
          <p:cNvPr id="9" name="Rectangle 8"/>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Finite source-face comparison</a:t>
            </a:r>
          </a:p>
        </p:txBody>
      </p:sp>
      <p:sp>
        <p:nvSpPr>
          <p:cNvPr id="11" name="TextBox 10"/>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checks the active field/force</a:t>
            </a:r>
          </a:p>
        </p:txBody>
      </p:sp>
      <p:sp>
        <p:nvSpPr>
          <p:cNvPr id="12" name="TextBox 11"/>
          <p:cNvSpPr txBox="1"/>
          <p:nvPr/>
        </p:nvSpPr>
        <p:spPr>
          <a:xfrm>
            <a:off x="685800" y="22804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formulation</a:t>
            </a:r>
          </a:p>
        </p:txBody>
      </p:sp>
      <p:sp>
        <p:nvSpPr>
          <p:cNvPr id="13" name="Rectangle 12"/>
          <p:cNvSpPr/>
          <p:nvPr/>
        </p:nvSpPr>
        <p:spPr>
          <a:xfrm>
            <a:off x="457200" y="287451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Conduction FEM at 0.65 m:</a:t>
            </a:r>
          </a:p>
        </p:txBody>
      </p:sp>
      <p:sp>
        <p:nvSpPr>
          <p:cNvPr id="15" name="TextBox 14"/>
          <p:cNvSpPr txBox="1"/>
          <p:nvPr/>
        </p:nvSpPr>
        <p:spPr>
          <a:xfrm>
            <a:off x="685800" y="30876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1.396651 N per peak phase</a:t>
            </a:r>
          </a:p>
        </p:txBody>
      </p:sp>
      <p:sp>
        <p:nvSpPr>
          <p:cNvPr id="16" name="TextBox 15"/>
          <p:cNvSpPr txBox="1"/>
          <p:nvPr/>
        </p:nvSpPr>
        <p:spPr>
          <a:xfrm>
            <a:off x="685800" y="340233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ampere</a:t>
            </a:r>
          </a:p>
        </p:txBody>
      </p:sp>
      <p:sp>
        <p:nvSpPr>
          <p:cNvPr id="17" name="Rectangle 16"/>
          <p:cNvSpPr/>
          <p:nvPr/>
        </p:nvSpPr>
        <p:spPr>
          <a:xfrm>
            <a:off x="457200" y="3996435"/>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89483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Uniform bars plus approximate</a:t>
            </a:r>
          </a:p>
        </p:txBody>
      </p:sp>
      <p:sp>
        <p:nvSpPr>
          <p:cNvPr id="19" name="TextBox 18"/>
          <p:cNvSpPr txBox="1"/>
          <p:nvPr/>
        </p:nvSpPr>
        <p:spPr>
          <a:xfrm>
            <a:off x="685800" y="4209541"/>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returns: 1.399055 N/A; local</a:t>
            </a:r>
          </a:p>
        </p:txBody>
      </p:sp>
      <p:sp>
        <p:nvSpPr>
          <p:cNvPr id="20" name="TextBox 19"/>
          <p:cNvSpPr txBox="1"/>
          <p:nvPr/>
        </p:nvSpPr>
        <p:spPr>
          <a:xfrm>
            <a:off x="685800" y="4524247"/>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difference −0.1718%</a:t>
            </a:r>
          </a:p>
        </p:txBody>
      </p:sp>
      <p:sp>
        <p:nvSpPr>
          <p:cNvPr id="21" name="TextBox 20"/>
          <p:cNvSpPr txBox="1"/>
          <p:nvPr/>
        </p:nvSpPr>
        <p:spPr>
          <a:xfrm>
            <a:off x="457200" y="5118353"/>
            <a:ext cx="4190999" cy="308864"/>
          </a:xfrm>
          <a:prstGeom prst="rect">
            <a:avLst/>
          </a:prstGeom>
          <a:noFill/>
        </p:spPr>
        <p:txBody>
          <a:bodyPr wrap="none" lIns="0" rIns="0" tIns="0" bIns="0">
            <a:spAutoFit/>
          </a:bodyPr>
          <a:lstStyle/>
          <a:p>
            <a:pPr algn="l">
              <a:spcBef>
                <a:spcPts val="0"/>
              </a:spcBef>
              <a:spcAft>
                <a:spcPts val="0"/>
              </a:spcAft>
            </a:pPr>
            <a:r>
              <a:rPr sz="1900" b="1" i="0">
                <a:solidFill>
                  <a:srgbClr val="236D9B"/>
                </a:solidFill>
                <a:latin typeface="Liberation Sans"/>
              </a:rPr>
              <a:t>Fₓ = ∫ (J × B)ₓ dV</a:t>
            </a:r>
          </a:p>
        </p:txBody>
      </p:sp>
      <p:sp>
        <p:nvSpPr>
          <p:cNvPr id="22" name="Rounded Rectangle 21"/>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Alternative calculations test different aspects of the represented model.</a:t>
            </a:r>
          </a:p>
        </p:txBody>
      </p:sp>
      <p:cxnSp>
        <p:nvCxnSpPr>
          <p:cNvPr id="25" name="Connector 24"/>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Electromagnetic methods</a:t>
            </a:r>
          </a:p>
        </p:txBody>
      </p:sp>
      <p:sp>
        <p:nvSpPr>
          <p:cNvPr id="27" name="TextBox 26"/>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23 /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APPENDIX A5 · ELECTRICAL REFERENCE</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Source and switching allocations</a:t>
            </a:r>
          </a:p>
        </p:txBody>
      </p:sp>
      <p:sp>
        <p:nvSpPr>
          <p:cNvPr id="6" name="Rounded Rectangle 5"/>
          <p:cNvSpPr/>
          <p:nvPr/>
        </p:nvSpPr>
        <p:spPr>
          <a:xfrm>
            <a:off x="457200"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8500"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Nominal source</a:t>
            </a:r>
          </a:p>
        </p:txBody>
      </p:sp>
      <p:sp>
        <p:nvSpPr>
          <p:cNvPr id="9" name="Rectangle 8"/>
          <p:cNvSpPr/>
          <p:nvPr/>
        </p:nvSpPr>
        <p:spPr>
          <a:xfrm>
            <a:off x="685800"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32S2P, 64 cells; nominal</a:t>
            </a:r>
          </a:p>
        </p:txBody>
      </p:sp>
      <p:sp>
        <p:nvSpPr>
          <p:cNvPr id="11" name="TextBox 10"/>
          <p:cNvSpPr txBox="1"/>
          <p:nvPr/>
        </p:nvSpPr>
        <p:spPr>
          <a:xfrm>
            <a:off x="914400"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6.25 F and 0.176 Ω</a:t>
            </a:r>
          </a:p>
        </p:txBody>
      </p:sp>
      <p:sp>
        <p:nvSpPr>
          <p:cNvPr id="12" name="Rounded Rectangle 11"/>
          <p:cNvSpPr/>
          <p:nvPr/>
        </p:nvSpPr>
        <p:spPr>
          <a:xfrm>
            <a:off x="4301066"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1066" y="1612900"/>
            <a:ext cx="50800" cy="38989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2366"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Adverse source</a:t>
            </a:r>
          </a:p>
        </p:txBody>
      </p:sp>
      <p:sp>
        <p:nvSpPr>
          <p:cNvPr id="15" name="Rectangle 14"/>
          <p:cNvSpPr/>
          <p:nvPr/>
        </p:nvSpPr>
        <p:spPr>
          <a:xfrm>
            <a:off x="4529666"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8266"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Adverse 3.9375 F and 0.352</a:t>
            </a:r>
          </a:p>
        </p:txBody>
      </p:sp>
      <p:sp>
        <p:nvSpPr>
          <p:cNvPr id="17" name="TextBox 16"/>
          <p:cNvSpPr txBox="1"/>
          <p:nvPr/>
        </p:nvSpPr>
        <p:spPr>
          <a:xfrm>
            <a:off x="4758266"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Ω; 2.9 V/cell regeneration</a:t>
            </a:r>
          </a:p>
        </p:txBody>
      </p:sp>
      <p:sp>
        <p:nvSpPr>
          <p:cNvPr id="18" name="TextBox 17"/>
          <p:cNvSpPr txBox="1"/>
          <p:nvPr/>
        </p:nvSpPr>
        <p:spPr>
          <a:xfrm>
            <a:off x="4758266"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terminal cap</a:t>
            </a:r>
          </a:p>
        </p:txBody>
      </p:sp>
      <p:sp>
        <p:nvSpPr>
          <p:cNvPr id="19" name="Rounded Rectangle 18"/>
          <p:cNvSpPr/>
          <p:nvPr/>
        </p:nvSpPr>
        <p:spPr>
          <a:xfrm>
            <a:off x="8144933"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44933"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6233"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Power stage</a:t>
            </a:r>
          </a:p>
        </p:txBody>
      </p:sp>
      <p:sp>
        <p:nvSpPr>
          <p:cNvPr id="22" name="Rectangle 21"/>
          <p:cNvSpPr/>
          <p:nvPr/>
        </p:nvSpPr>
        <p:spPr>
          <a:xfrm>
            <a:off x="8373533"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02133"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Three half bridges, 10</a:t>
            </a:r>
          </a:p>
        </p:txBody>
      </p:sp>
      <p:sp>
        <p:nvSpPr>
          <p:cNvPr id="24" name="TextBox 23"/>
          <p:cNvSpPr txBox="1"/>
          <p:nvPr/>
        </p:nvSpPr>
        <p:spPr>
          <a:xfrm>
            <a:off x="8602133"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devices per switch position,</a:t>
            </a:r>
          </a:p>
        </p:txBody>
      </p:sp>
      <p:sp>
        <p:nvSpPr>
          <p:cNvPr id="25" name="TextBox 24"/>
          <p:cNvSpPr txBox="1"/>
          <p:nvPr/>
        </p:nvSpPr>
        <p:spPr>
          <a:xfrm>
            <a:off x="8602133"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60 MOSFETs; 40 kHz</a:t>
            </a:r>
          </a:p>
        </p:txBody>
      </p:sp>
      <p:sp>
        <p:nvSpPr>
          <p:cNvPr id="26" name="TextBox 25"/>
          <p:cNvSpPr txBox="1"/>
          <p:nvPr/>
        </p:nvSpPr>
        <p:spPr>
          <a:xfrm>
            <a:off x="8602133" y="3236722"/>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reference PWM</a:t>
            </a:r>
          </a:p>
        </p:txBody>
      </p:sp>
      <p:sp>
        <p:nvSpPr>
          <p:cNvPr id="27" name="Rounded Rectangle 26"/>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Ratings enter the model with finite impedance and declared switching assumptions.</a:t>
            </a:r>
          </a:p>
        </p:txBody>
      </p:sp>
      <p:cxnSp>
        <p:nvCxnSpPr>
          <p:cNvPr id="30" name="Connector 29"/>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Electrical reference</a:t>
            </a:r>
          </a:p>
        </p:txBody>
      </p:sp>
      <p:sp>
        <p:nvSpPr>
          <p:cNvPr id="32" name="TextBox 31"/>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24 /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APPENDIX A6 · ENERGY VERIFICATION</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Principal nominal energy account</a:t>
            </a:r>
          </a:p>
        </p:txBody>
      </p:sp>
      <p:sp>
        <p:nvSpPr>
          <p:cNvPr id="6" name="Rounded Rectangle 5"/>
          <p:cNvSpPr/>
          <p:nvPr/>
        </p:nvSpPr>
        <p:spPr>
          <a:xfrm>
            <a:off x="5105400" y="1612900"/>
            <a:ext cx="6629400" cy="35560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ot_energy_account_slide-01e52275629e.jpg"/>
          <p:cNvPicPr>
            <a:picLocks noChangeAspect="1"/>
          </p:cNvPicPr>
          <p:nvPr/>
        </p:nvPicPr>
        <p:blipFill>
          <a:blip r:embed="rId2"/>
          <a:stretch>
            <a:fillRect/>
          </a:stretch>
        </p:blipFill>
        <p:spPr>
          <a:xfrm>
            <a:off x="5219700" y="2104390"/>
            <a:ext cx="6400800" cy="2560320"/>
          </a:xfrm>
          <a:prstGeom prst="rect">
            <a:avLst/>
          </a:prstGeom>
        </p:spPr>
      </p:pic>
      <p:sp>
        <p:nvSpPr>
          <p:cNvPr id="8" name="TextBox 7"/>
          <p:cNvSpPr txBox="1"/>
          <p:nvPr/>
        </p:nvSpPr>
        <p:spPr>
          <a:xfrm>
            <a:off x="5207000" y="52705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Numerical ledger for one specified case; regenerative braking and event boundaries matter.</a:t>
            </a:r>
          </a:p>
        </p:txBody>
      </p:sp>
      <p:sp>
        <p:nvSpPr>
          <p:cNvPr id="9" name="Rectangle 8"/>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Capacitor draw: 379.682 J in the</a:t>
            </a:r>
          </a:p>
        </p:txBody>
      </p:sp>
      <p:sp>
        <p:nvSpPr>
          <p:cNvPr id="11" name="TextBox 10"/>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20 µs principal nominal replay</a:t>
            </a:r>
          </a:p>
        </p:txBody>
      </p:sp>
      <p:sp>
        <p:nvSpPr>
          <p:cNvPr id="12" name="Rectangle 11"/>
          <p:cNvSpPr/>
          <p:nvPr/>
        </p:nvSpPr>
        <p:spPr>
          <a:xfrm>
            <a:off x="457200" y="2559812"/>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4582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Copper 136.066 J; inverter</a:t>
            </a:r>
          </a:p>
        </p:txBody>
      </p:sp>
      <p:sp>
        <p:nvSpPr>
          <p:cNvPr id="14" name="TextBox 13"/>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161.429 J; bank 5.039 J;</a:t>
            </a:r>
          </a:p>
        </p:txBody>
      </p:sp>
      <p:sp>
        <p:nvSpPr>
          <p:cNvPr id="15" name="TextBox 14"/>
          <p:cNvSpPr txBox="1"/>
          <p:nvPr/>
        </p:nvSpPr>
        <p:spPr>
          <a:xfrm>
            <a:off x="685800" y="30876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auxiliaries 52.389 J</a:t>
            </a:r>
          </a:p>
        </p:txBody>
      </p:sp>
      <p:sp>
        <p:nvSpPr>
          <p:cNvPr id="16" name="Rectangle 15"/>
          <p:cNvSpPr/>
          <p:nvPr/>
        </p:nvSpPr>
        <p:spPr>
          <a:xfrm>
            <a:off x="457200" y="3681729"/>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580129"/>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Full-cycle mechanical term</a:t>
            </a:r>
          </a:p>
        </p:txBody>
      </p:sp>
      <p:sp>
        <p:nvSpPr>
          <p:cNvPr id="18" name="TextBox 17"/>
          <p:cNvSpPr txBox="1"/>
          <p:nvPr/>
        </p:nvSpPr>
        <p:spPr>
          <a:xfrm>
            <a:off x="685800" y="389483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24.768 J; do not equate it with</a:t>
            </a:r>
          </a:p>
        </p:txBody>
      </p:sp>
      <p:sp>
        <p:nvSpPr>
          <p:cNvPr id="19" name="TextBox 18"/>
          <p:cNvSpPr txBox="1"/>
          <p:nvPr/>
        </p:nvSpPr>
        <p:spPr>
          <a:xfrm>
            <a:off x="685800" y="4209541"/>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peak moving-body kinetic energy</a:t>
            </a:r>
          </a:p>
        </p:txBody>
      </p:sp>
      <p:sp>
        <p:nvSpPr>
          <p:cNvPr id="20" name="Rounded Rectangle 19"/>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Signed energy terms include source and auxiliary losses.</a:t>
            </a:r>
          </a:p>
        </p:txBody>
      </p:sp>
      <p:cxnSp>
        <p:nvCxnSpPr>
          <p:cNvPr id="23" name="Connector 22"/>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Energy verification</a:t>
            </a:r>
          </a:p>
        </p:txBody>
      </p:sp>
      <p:sp>
        <p:nvSpPr>
          <p:cNvPr id="25" name="TextBox 24"/>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25 / 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APPENDIX A7 · STRUCTURAL INTERPRETATION</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Gap closure and individual-face budgets</a:t>
            </a:r>
          </a:p>
        </p:txBody>
      </p:sp>
      <p:sp>
        <p:nvSpPr>
          <p:cNvPr id="6" name="Rounded Rectangle 5"/>
          <p:cNvSpPr/>
          <p:nvPr/>
        </p:nvSpPr>
        <p:spPr>
          <a:xfrm>
            <a:off x="5105400" y="1612900"/>
            <a:ext cx="6629400" cy="35560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ssis_mesh_and_paired_closure.jpg"/>
          <p:cNvPicPr>
            <a:picLocks noChangeAspect="1"/>
          </p:cNvPicPr>
          <p:nvPr/>
        </p:nvPicPr>
        <p:blipFill>
          <a:blip r:embed="rId2"/>
          <a:stretch>
            <a:fillRect/>
          </a:stretch>
        </p:blipFill>
        <p:spPr>
          <a:xfrm>
            <a:off x="5219700" y="2191867"/>
            <a:ext cx="6400800" cy="2385364"/>
          </a:xfrm>
          <a:prstGeom prst="rect">
            <a:avLst/>
          </a:prstGeom>
        </p:spPr>
      </p:pic>
      <p:sp>
        <p:nvSpPr>
          <p:cNvPr id="8" name="TextBox 7"/>
          <p:cNvSpPr txBox="1"/>
          <p:nvPr/>
        </p:nvSpPr>
        <p:spPr>
          <a:xfrm>
            <a:off x="5207000" y="52705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Native bare-chassis mesh and paired closure. Deformation ×20; assembled allowances are separate.</a:t>
            </a:r>
          </a:p>
        </p:txBody>
      </p:sp>
      <p:sp>
        <p:nvSpPr>
          <p:cNvPr id="9" name="Rectangle 8"/>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CalculiX nominal paired closure</a:t>
            </a:r>
          </a:p>
        </p:txBody>
      </p:sp>
      <p:sp>
        <p:nvSpPr>
          <p:cNvPr id="11" name="TextBox 10"/>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0.285983 mm; 1.3-load closure</a:t>
            </a:r>
          </a:p>
        </p:txBody>
      </p:sp>
      <p:sp>
        <p:nvSpPr>
          <p:cNvPr id="12" name="TextBox 11"/>
          <p:cNvSpPr txBox="1"/>
          <p:nvPr/>
        </p:nvSpPr>
        <p:spPr>
          <a:xfrm>
            <a:off x="685800" y="22804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0.371778 mm</a:t>
            </a:r>
          </a:p>
        </p:txBody>
      </p:sp>
      <p:sp>
        <p:nvSpPr>
          <p:cNvPr id="13" name="Rectangle 12"/>
          <p:cNvSpPr/>
          <p:nvPr/>
        </p:nvSpPr>
        <p:spPr>
          <a:xfrm>
            <a:off x="457200" y="287451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Conditional centring split, plus</a:t>
            </a:r>
          </a:p>
        </p:txBody>
      </p:sp>
      <p:sp>
        <p:nvSpPr>
          <p:cNvPr id="15" name="TextBox 14"/>
          <p:cNvSpPr txBox="1"/>
          <p:nvPr/>
        </p:nvSpPr>
        <p:spPr>
          <a:xfrm>
            <a:off x="685800" y="30876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alignment/flatness/assembly/thermal</a:t>
            </a:r>
          </a:p>
        </p:txBody>
      </p:sp>
      <p:sp>
        <p:nvSpPr>
          <p:cNvPr id="16" name="TextBox 15"/>
          <p:cNvSpPr txBox="1"/>
          <p:nvPr/>
        </p:nvSpPr>
        <p:spPr>
          <a:xfrm>
            <a:off x="685800" y="340233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allowances</a:t>
            </a:r>
          </a:p>
        </p:txBody>
      </p:sp>
      <p:sp>
        <p:nvSpPr>
          <p:cNvPr id="17" name="Rectangle 16"/>
          <p:cNvSpPr/>
          <p:nvPr/>
        </p:nvSpPr>
        <p:spPr>
          <a:xfrm>
            <a:off x="457200" y="3996435"/>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89483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Individual-face reference design</a:t>
            </a:r>
          </a:p>
        </p:txBody>
      </p:sp>
      <p:sp>
        <p:nvSpPr>
          <p:cNvPr id="19" name="TextBox 18"/>
          <p:cNvSpPr txBox="1"/>
          <p:nvPr/>
        </p:nvSpPr>
        <p:spPr>
          <a:xfrm>
            <a:off x="685800" y="4209541"/>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budget 0.264111 mm</a:t>
            </a:r>
          </a:p>
        </p:txBody>
      </p:sp>
      <p:sp>
        <p:nvSpPr>
          <p:cNvPr id="20" name="Rounded Rectangle 19"/>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A paired closure is not an individual assembled clearance.</a:t>
            </a:r>
          </a:p>
        </p:txBody>
      </p:sp>
      <p:cxnSp>
        <p:nvCxnSpPr>
          <p:cNvPr id="23" name="Connector 22"/>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Structural interpretation</a:t>
            </a:r>
          </a:p>
        </p:txBody>
      </p:sp>
      <p:sp>
        <p:nvSpPr>
          <p:cNvPr id="25" name="TextBox 24"/>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26 / 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APPENDIX A8 · THERMAL AND CONTROL SCOPE</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Thermal and fault interpretation</a:t>
            </a:r>
          </a:p>
        </p:txBody>
      </p:sp>
      <p:sp>
        <p:nvSpPr>
          <p:cNvPr id="6" name="Rounded Rectangle 5"/>
          <p:cNvSpPr/>
          <p:nvPr/>
        </p:nvSpPr>
        <p:spPr>
          <a:xfrm>
            <a:off x="457200"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8500"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Temperature and time</a:t>
            </a:r>
          </a:p>
        </p:txBody>
      </p:sp>
      <p:sp>
        <p:nvSpPr>
          <p:cNvPr id="9" name="Rectangle 8"/>
          <p:cNvSpPr/>
          <p:nvPr/>
        </p:nvSpPr>
        <p:spPr>
          <a:xfrm>
            <a:off x="685800"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3.295053 K is a temperature</a:t>
            </a:r>
          </a:p>
        </p:txBody>
      </p:sp>
      <p:sp>
        <p:nvSpPr>
          <p:cNvPr id="11" name="TextBox 10"/>
          <p:cNvSpPr txBox="1"/>
          <p:nvPr/>
        </p:nvSpPr>
        <p:spPr>
          <a:xfrm>
            <a:off x="914400"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rise; 450 s is the inter-shot</a:t>
            </a:r>
          </a:p>
        </p:txBody>
      </p:sp>
      <p:sp>
        <p:nvSpPr>
          <p:cNvPr id="12" name="TextBox 11"/>
          <p:cNvSpPr txBox="1"/>
          <p:nvPr/>
        </p:nvSpPr>
        <p:spPr>
          <a:xfrm>
            <a:off x="914400"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interval</a:t>
            </a:r>
          </a:p>
        </p:txBody>
      </p:sp>
      <p:sp>
        <p:nvSpPr>
          <p:cNvPr id="13" name="Rounded Rectangle 12"/>
          <p:cNvSpPr/>
          <p:nvPr/>
        </p:nvSpPr>
        <p:spPr>
          <a:xfrm>
            <a:off x="4301066"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1066" y="1612900"/>
            <a:ext cx="50800" cy="38989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2366"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Thermal measures</a:t>
            </a:r>
          </a:p>
        </p:txBody>
      </p:sp>
      <p:sp>
        <p:nvSpPr>
          <p:cNvPr id="16" name="Rectangle 15"/>
          <p:cNvSpPr/>
          <p:nvPr/>
        </p:nvSpPr>
        <p:spPr>
          <a:xfrm>
            <a:off x="4529666"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8266"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Bulk, volume-99 and</a:t>
            </a:r>
          </a:p>
        </p:txBody>
      </p:sp>
      <p:sp>
        <p:nvSpPr>
          <p:cNvPr id="18" name="TextBox 17"/>
          <p:cNvSpPr txBox="1"/>
          <p:nvPr/>
        </p:nvSpPr>
        <p:spPr>
          <a:xfrm>
            <a:off x="4758266"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sharp-corner mesh</a:t>
            </a:r>
          </a:p>
        </p:txBody>
      </p:sp>
      <p:sp>
        <p:nvSpPr>
          <p:cNvPr id="19" name="TextBox 18"/>
          <p:cNvSpPr txBox="1"/>
          <p:nvPr/>
        </p:nvSpPr>
        <p:spPr>
          <a:xfrm>
            <a:off x="4758266"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observations have different</a:t>
            </a:r>
          </a:p>
        </p:txBody>
      </p:sp>
      <p:sp>
        <p:nvSpPr>
          <p:cNvPr id="20" name="TextBox 19"/>
          <p:cNvSpPr txBox="1"/>
          <p:nvPr/>
        </p:nvSpPr>
        <p:spPr>
          <a:xfrm>
            <a:off x="4758266" y="3236722"/>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meanings</a:t>
            </a:r>
          </a:p>
        </p:txBody>
      </p:sp>
      <p:sp>
        <p:nvSpPr>
          <p:cNvPr id="21" name="Rounded Rectangle 20"/>
          <p:cNvSpPr/>
          <p:nvPr/>
        </p:nvSpPr>
        <p:spPr>
          <a:xfrm>
            <a:off x="8144933"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4933"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6233"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Encoded logic</a:t>
            </a:r>
          </a:p>
        </p:txBody>
      </p:sp>
      <p:sp>
        <p:nvSpPr>
          <p:cNvPr id="24" name="Rectangle 23"/>
          <p:cNvSpPr/>
          <p:nvPr/>
        </p:nvSpPr>
        <p:spPr>
          <a:xfrm>
            <a:off x="8373533"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2133"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166 interlock tests verify</a:t>
            </a:r>
          </a:p>
        </p:txBody>
      </p:sp>
      <p:sp>
        <p:nvSpPr>
          <p:cNvPr id="26" name="TextBox 25"/>
          <p:cNvSpPr txBox="1"/>
          <p:nvPr/>
        </p:nvSpPr>
        <p:spPr>
          <a:xfrm>
            <a:off x="8602133"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encoded logic, not a</a:t>
            </a:r>
          </a:p>
        </p:txBody>
      </p:sp>
      <p:sp>
        <p:nvSpPr>
          <p:cNvPr id="27" name="TextBox 26"/>
          <p:cNvSpPr txBox="1"/>
          <p:nvPr/>
        </p:nvSpPr>
        <p:spPr>
          <a:xfrm>
            <a:off x="8602133"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measured reliability</a:t>
            </a:r>
          </a:p>
        </p:txBody>
      </p:sp>
      <p:sp>
        <p:nvSpPr>
          <p:cNvPr id="28" name="TextBox 27"/>
          <p:cNvSpPr txBox="1"/>
          <p:nvPr/>
        </p:nvSpPr>
        <p:spPr>
          <a:xfrm>
            <a:off x="8602133" y="3236722"/>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probability</a:t>
            </a:r>
          </a:p>
        </p:txBody>
      </p:sp>
      <p:sp>
        <p:nvSpPr>
          <p:cNvPr id="29" name="Rounded Rectangle 28"/>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Keep quantities and test meanings distinct.</a:t>
            </a:r>
          </a:p>
        </p:txBody>
      </p:sp>
      <p:cxnSp>
        <p:nvCxnSpPr>
          <p:cNvPr id="32" name="Connector 31"/>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Thermal and control scope</a:t>
            </a:r>
          </a:p>
        </p:txBody>
      </p:sp>
      <p:sp>
        <p:nvSpPr>
          <p:cNvPr id="34" name="TextBox 33"/>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27 / 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APPENDIX A9 · MISSION MECHANICS</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Host reaction and the common terminal epoch</a:t>
            </a:r>
          </a:p>
        </p:txBody>
      </p:sp>
      <p:sp>
        <p:nvSpPr>
          <p:cNvPr id="6" name="Rounded Rectangle 5"/>
          <p:cNvSpPr/>
          <p:nvPr/>
        </p:nvSpPr>
        <p:spPr>
          <a:xfrm>
            <a:off x="5105400" y="1612900"/>
            <a:ext cx="6629400" cy="35560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st_and_release_roles_slide-9a2ee6ca67d3.jpg"/>
          <p:cNvPicPr>
            <a:picLocks noChangeAspect="1"/>
          </p:cNvPicPr>
          <p:nvPr/>
        </p:nvPicPr>
        <p:blipFill>
          <a:blip r:embed="rId2"/>
          <a:stretch>
            <a:fillRect/>
          </a:stretch>
        </p:blipFill>
        <p:spPr>
          <a:xfrm>
            <a:off x="5219700" y="2104390"/>
            <a:ext cx="6400800" cy="2560320"/>
          </a:xfrm>
          <a:prstGeom prst="rect">
            <a:avLst/>
          </a:prstGeom>
        </p:spPr>
      </p:pic>
      <p:sp>
        <p:nvSpPr>
          <p:cNvPr id="8" name="TextBox 7"/>
          <p:cNvSpPr txBox="1"/>
          <p:nvPr/>
        </p:nvSpPr>
        <p:spPr>
          <a:xfrm>
            <a:off x="5207000" y="5270500"/>
            <a:ext cx="6426200" cy="170687"/>
          </a:xfrm>
          <a:prstGeom prst="rect">
            <a:avLst/>
          </a:prstGeom>
          <a:noFill/>
        </p:spPr>
        <p:txBody>
          <a:bodyPr wrap="none" lIns="0" rIns="0" tIns="0" bIns="0">
            <a:spAutoFit/>
          </a:bodyPr>
          <a:lstStyle/>
          <a:p>
            <a:pPr algn="l">
              <a:spcBef>
                <a:spcPts val="0"/>
              </a:spcBef>
              <a:spcAft>
                <a:spcPts val="0"/>
              </a:spcAft>
            </a:pPr>
            <a:r>
              <a:rPr sz="1050" b="0" i="0">
                <a:solidFill>
                  <a:srgbClr val="596C7B"/>
                </a:solidFill>
                <a:latin typeface="Liberation Sans"/>
              </a:rPr>
              <a:t>Explanatory mission schematic; complete comparison includes host manoeuvres and device mass.</a:t>
            </a:r>
          </a:p>
        </p:txBody>
      </p:sp>
      <p:sp>
        <p:nvSpPr>
          <p:cNvPr id="9" name="Rectangle 8"/>
          <p:cNvSpPr/>
          <p:nvPr/>
        </p:nvSpPr>
        <p:spPr>
          <a:xfrm>
            <a:off x="457200" y="1752600"/>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5100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Principal 3 m/s nominal relative</a:t>
            </a:r>
          </a:p>
        </p:txBody>
      </p:sp>
      <p:sp>
        <p:nvSpPr>
          <p:cNvPr id="11" name="TextBox 10"/>
          <p:cNvSpPr txBox="1"/>
          <p:nvPr/>
        </p:nvSpPr>
        <p:spPr>
          <a:xfrm>
            <a:off x="685800" y="196570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release gives about 2.927 m/s</a:t>
            </a:r>
          </a:p>
        </p:txBody>
      </p:sp>
      <p:sp>
        <p:nvSpPr>
          <p:cNvPr id="12" name="TextBox 11"/>
          <p:cNvSpPr txBox="1"/>
          <p:nvPr/>
        </p:nvSpPr>
        <p:spPr>
          <a:xfrm>
            <a:off x="685800" y="2280412"/>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payload inertial increment</a:t>
            </a:r>
          </a:p>
        </p:txBody>
      </p:sp>
      <p:sp>
        <p:nvSpPr>
          <p:cNvPr id="13" name="Rectangle 12"/>
          <p:cNvSpPr/>
          <p:nvPr/>
        </p:nvSpPr>
        <p:spPr>
          <a:xfrm>
            <a:off x="457200" y="287451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772918"/>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Count carrier acceleration,</a:t>
            </a:r>
          </a:p>
        </p:txBody>
      </p:sp>
      <p:sp>
        <p:nvSpPr>
          <p:cNvPr id="15" name="TextBox 14"/>
          <p:cNvSpPr txBox="1"/>
          <p:nvPr/>
        </p:nvSpPr>
        <p:spPr>
          <a:xfrm>
            <a:off x="685800" y="3087624"/>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subsequent carrier arrest and</a:t>
            </a:r>
          </a:p>
        </p:txBody>
      </p:sp>
      <p:sp>
        <p:nvSpPr>
          <p:cNvPr id="16" name="TextBox 15"/>
          <p:cNvSpPr txBox="1"/>
          <p:nvPr/>
        </p:nvSpPr>
        <p:spPr>
          <a:xfrm>
            <a:off x="685800" y="3402330"/>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changing retained mass</a:t>
            </a:r>
          </a:p>
        </p:txBody>
      </p:sp>
      <p:sp>
        <p:nvSpPr>
          <p:cNvPr id="17" name="Rectangle 16"/>
          <p:cNvSpPr/>
          <p:nvPr/>
        </p:nvSpPr>
        <p:spPr>
          <a:xfrm>
            <a:off x="457200" y="3996435"/>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894835"/>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Compare all payload</a:t>
            </a:r>
          </a:p>
        </p:txBody>
      </p:sp>
      <p:sp>
        <p:nvSpPr>
          <p:cNvPr id="19" name="TextBox 18"/>
          <p:cNvSpPr txBox="1"/>
          <p:nvPr/>
        </p:nvSpPr>
        <p:spPr>
          <a:xfrm>
            <a:off x="685800" y="4209541"/>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position/velocity targets at a</a:t>
            </a:r>
          </a:p>
        </p:txBody>
      </p:sp>
      <p:sp>
        <p:nvSpPr>
          <p:cNvPr id="20" name="TextBox 19"/>
          <p:cNvSpPr txBox="1"/>
          <p:nvPr/>
        </p:nvSpPr>
        <p:spPr>
          <a:xfrm>
            <a:off x="685800" y="4524247"/>
            <a:ext cx="3962399" cy="341375"/>
          </a:xfrm>
          <a:prstGeom prst="rect">
            <a:avLst/>
          </a:prstGeom>
          <a:noFill/>
        </p:spPr>
        <p:txBody>
          <a:bodyPr wrap="none" lIns="0" rIns="0" tIns="0" bIns="0">
            <a:spAutoFit/>
          </a:bodyPr>
          <a:lstStyle/>
          <a:p>
            <a:pPr algn="l">
              <a:spcBef>
                <a:spcPts val="0"/>
              </a:spcBef>
              <a:spcAft>
                <a:spcPts val="0"/>
              </a:spcAft>
            </a:pPr>
            <a:r>
              <a:rPr sz="2100" b="0" i="0">
                <a:solidFill>
                  <a:srgbClr val="172D43"/>
                </a:solidFill>
                <a:latin typeface="Liberation Sans"/>
              </a:rPr>
              <a:t>common epoch</a:t>
            </a:r>
          </a:p>
        </p:txBody>
      </p:sp>
      <p:sp>
        <p:nvSpPr>
          <p:cNvPr id="21" name="Rounded Rectangle 20"/>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A commanded relative release differs from the payload inertial increment.</a:t>
            </a:r>
          </a:p>
        </p:txBody>
      </p:sp>
      <p:cxnSp>
        <p:nvCxnSpPr>
          <p:cNvPr id="24" name="Connector 23"/>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Mission mechanics</a:t>
            </a:r>
          </a:p>
        </p:txBody>
      </p:sp>
      <p:sp>
        <p:nvSpPr>
          <p:cNvPr id="26" name="TextBox 25"/>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28 / 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APPENDIX A10 · RESEARCH CONFIGURATIONS</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Higher-speed work already in Labs</a:t>
            </a:r>
          </a:p>
        </p:txBody>
      </p:sp>
      <p:sp>
        <p:nvSpPr>
          <p:cNvPr id="6" name="Rounded Rectangle 5"/>
          <p:cNvSpPr/>
          <p:nvPr/>
        </p:nvSpPr>
        <p:spPr>
          <a:xfrm>
            <a:off x="457200"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8500"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New configuration</a:t>
            </a:r>
          </a:p>
        </p:txBody>
      </p:sp>
      <p:sp>
        <p:nvSpPr>
          <p:cNvPr id="9" name="Rectangle 8"/>
          <p:cNvSpPr/>
          <p:nvPr/>
        </p:nvSpPr>
        <p:spPr>
          <a:xfrm>
            <a:off x="685800"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Longer powered travel,</a:t>
            </a:r>
          </a:p>
        </p:txBody>
      </p:sp>
      <p:sp>
        <p:nvSpPr>
          <p:cNvPr id="11" name="TextBox 10"/>
          <p:cNvSpPr txBox="1"/>
          <p:nvPr/>
        </p:nvSpPr>
        <p:spPr>
          <a:xfrm>
            <a:off x="914400"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revised finite winding and</a:t>
            </a:r>
          </a:p>
        </p:txBody>
      </p:sp>
      <p:sp>
        <p:nvSpPr>
          <p:cNvPr id="12" name="TextBox 11"/>
          <p:cNvSpPr txBox="1"/>
          <p:nvPr/>
        </p:nvSpPr>
        <p:spPr>
          <a:xfrm>
            <a:off x="914400"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source accounting</a:t>
            </a:r>
          </a:p>
        </p:txBody>
      </p:sp>
      <p:sp>
        <p:nvSpPr>
          <p:cNvPr id="13" name="Rounded Rectangle 12"/>
          <p:cNvSpPr/>
          <p:nvPr/>
        </p:nvSpPr>
        <p:spPr>
          <a:xfrm>
            <a:off x="4301066"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1066" y="1612900"/>
            <a:ext cx="50800" cy="38989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2366"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Model checks</a:t>
            </a:r>
          </a:p>
        </p:txBody>
      </p:sp>
      <p:sp>
        <p:nvSpPr>
          <p:cNvPr id="16" name="Rectangle 15"/>
          <p:cNvSpPr/>
          <p:nvPr/>
        </p:nvSpPr>
        <p:spPr>
          <a:xfrm>
            <a:off x="4529666"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8266"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Retained-carrier</a:t>
            </a:r>
          </a:p>
        </p:txBody>
      </p:sp>
      <p:sp>
        <p:nvSpPr>
          <p:cNvPr id="18" name="TextBox 17"/>
          <p:cNvSpPr txBox="1"/>
          <p:nvPr/>
        </p:nvSpPr>
        <p:spPr>
          <a:xfrm>
            <a:off x="4758266"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nominal/adverse cases pass</a:t>
            </a:r>
          </a:p>
        </p:txBody>
      </p:sp>
      <p:sp>
        <p:nvSpPr>
          <p:cNvPr id="19" name="TextBox 18"/>
          <p:cNvSpPr txBox="1"/>
          <p:nvPr/>
        </p:nvSpPr>
        <p:spPr>
          <a:xfrm>
            <a:off x="4758266"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their declared circuit/motion</a:t>
            </a:r>
          </a:p>
        </p:txBody>
      </p:sp>
      <p:sp>
        <p:nvSpPr>
          <p:cNvPr id="20" name="TextBox 19"/>
          <p:cNvSpPr txBox="1"/>
          <p:nvPr/>
        </p:nvSpPr>
        <p:spPr>
          <a:xfrm>
            <a:off x="4758266" y="3236722"/>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checks</a:t>
            </a:r>
          </a:p>
        </p:txBody>
      </p:sp>
      <p:sp>
        <p:nvSpPr>
          <p:cNvPr id="21" name="Rounded Rectangle 20"/>
          <p:cNvSpPr/>
          <p:nvPr/>
        </p:nvSpPr>
        <p:spPr>
          <a:xfrm>
            <a:off x="8144933"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4933"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6233"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Alternative design</a:t>
            </a:r>
          </a:p>
        </p:txBody>
      </p:sp>
      <p:sp>
        <p:nvSpPr>
          <p:cNvPr id="24" name="Rectangle 23"/>
          <p:cNvSpPr/>
          <p:nvPr/>
        </p:nvSpPr>
        <p:spPr>
          <a:xfrm>
            <a:off x="8373533"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2133"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Attached-shoe alternative</a:t>
            </a:r>
          </a:p>
        </p:txBody>
      </p:sp>
      <p:sp>
        <p:nvSpPr>
          <p:cNvPr id="26" name="TextBox 25"/>
          <p:cNvSpPr txBox="1"/>
          <p:nvPr/>
        </p:nvSpPr>
        <p:spPr>
          <a:xfrm>
            <a:off x="8602133"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and its adverse speed miss</a:t>
            </a:r>
          </a:p>
        </p:txBody>
      </p:sp>
      <p:sp>
        <p:nvSpPr>
          <p:cNvPr id="27" name="TextBox 26"/>
          <p:cNvSpPr txBox="1"/>
          <p:nvPr/>
        </p:nvSpPr>
        <p:spPr>
          <a:xfrm>
            <a:off x="8602133"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remain separately recorded</a:t>
            </a:r>
          </a:p>
        </p:txBody>
      </p:sp>
      <p:sp>
        <p:nvSpPr>
          <p:cNvPr id="28" name="Rounded Rectangle 27"/>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The approximately 10 m/s study is a separately specified computational design.</a:t>
            </a:r>
          </a:p>
        </p:txBody>
      </p:sp>
      <p:cxnSp>
        <p:nvCxnSpPr>
          <p:cNvPr id="31" name="Connector 30"/>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Research configurations</a:t>
            </a:r>
          </a:p>
        </p:txBody>
      </p:sp>
      <p:sp>
        <p:nvSpPr>
          <p:cNvPr id="33" name="TextBox 32"/>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29 / 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APPENDIX A11 · CISLUNAR ARCHITECTURE</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Lunar departure and capture are separate operations</a:t>
            </a:r>
          </a:p>
        </p:txBody>
      </p:sp>
      <p:sp>
        <p:nvSpPr>
          <p:cNvPr id="6" name="Rounded Rectangle 5"/>
          <p:cNvSpPr/>
          <p:nvPr/>
        </p:nvSpPr>
        <p:spPr>
          <a:xfrm>
            <a:off x="457200"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8500"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Parking-orbit screen</a:t>
            </a:r>
          </a:p>
        </p:txBody>
      </p:sp>
      <p:sp>
        <p:nvSpPr>
          <p:cNvPr id="9" name="Rectangle 8"/>
          <p:cNvSpPr/>
          <p:nvPr/>
        </p:nvSpPr>
        <p:spPr>
          <a:xfrm>
            <a:off x="685800"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Ideal 500 km parking-orbit</a:t>
            </a:r>
          </a:p>
        </p:txBody>
      </p:sp>
      <p:sp>
        <p:nvSpPr>
          <p:cNvPr id="11" name="TextBox 10"/>
          <p:cNvSpPr txBox="1"/>
          <p:nvPr/>
        </p:nvSpPr>
        <p:spPr>
          <a:xfrm>
            <a:off x="914400"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screen: approximately 3.058</a:t>
            </a:r>
          </a:p>
        </p:txBody>
      </p:sp>
      <p:sp>
        <p:nvSpPr>
          <p:cNvPr id="12" name="TextBox 11"/>
          <p:cNvSpPr txBox="1"/>
          <p:nvPr/>
        </p:nvSpPr>
        <p:spPr>
          <a:xfrm>
            <a:off x="914400"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km/s departure increment</a:t>
            </a:r>
          </a:p>
        </p:txBody>
      </p:sp>
      <p:sp>
        <p:nvSpPr>
          <p:cNvPr id="13" name="Rounded Rectangle 12"/>
          <p:cNvSpPr/>
          <p:nvPr/>
        </p:nvSpPr>
        <p:spPr>
          <a:xfrm>
            <a:off x="4301066"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1066" y="1612900"/>
            <a:ext cx="50800" cy="38989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2366"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Departure energy</a:t>
            </a:r>
          </a:p>
        </p:txBody>
      </p:sp>
      <p:sp>
        <p:nvSpPr>
          <p:cNvPr id="16" name="Rectangle 15"/>
          <p:cNvSpPr/>
          <p:nvPr/>
        </p:nvSpPr>
        <p:spPr>
          <a:xfrm>
            <a:off x="4529666"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8266"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A prograde 3.5 km/s</a:t>
            </a:r>
          </a:p>
        </p:txBody>
      </p:sp>
      <p:sp>
        <p:nvSpPr>
          <p:cNvPr id="18" name="TextBox 17"/>
          <p:cNvSpPr txBox="1"/>
          <p:nvPr/>
        </p:nvSpPr>
        <p:spPr>
          <a:xfrm>
            <a:off x="4758266"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increment from that</a:t>
            </a:r>
          </a:p>
        </p:txBody>
      </p:sp>
      <p:sp>
        <p:nvSpPr>
          <p:cNvPr id="19" name="TextBox 18"/>
          <p:cNvSpPr txBox="1"/>
          <p:nvPr/>
        </p:nvSpPr>
        <p:spPr>
          <a:xfrm>
            <a:off x="4758266"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reference is Earth-escape</a:t>
            </a:r>
          </a:p>
        </p:txBody>
      </p:sp>
      <p:sp>
        <p:nvSpPr>
          <p:cNvPr id="20" name="TextBox 19"/>
          <p:cNvSpPr txBox="1"/>
          <p:nvPr/>
        </p:nvSpPr>
        <p:spPr>
          <a:xfrm>
            <a:off x="4758266" y="3236722"/>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energy</a:t>
            </a:r>
          </a:p>
        </p:txBody>
      </p:sp>
      <p:sp>
        <p:nvSpPr>
          <p:cNvPr id="21" name="Rounded Rectangle 20"/>
          <p:cNvSpPr/>
          <p:nvPr/>
        </p:nvSpPr>
        <p:spPr>
          <a:xfrm>
            <a:off x="8144933" y="1612900"/>
            <a:ext cx="3589866" cy="3898900"/>
          </a:xfrm>
          <a:prstGeom prst="roundRect">
            <a:avLst>
              <a:gd name="adj" fmla="val 6000"/>
            </a:avLst>
          </a:prstGeom>
          <a:solidFill>
            <a:srgbClr val="FFFFFF"/>
          </a:solidFill>
          <a:ln w="889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44933" y="1612900"/>
            <a:ext cx="50800" cy="3898900"/>
          </a:xfrm>
          <a:prstGeom prst="rect">
            <a:avLst/>
          </a:prstGeom>
          <a:solidFill>
            <a:srgbClr val="236D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6233" y="1854200"/>
            <a:ext cx="3107266" cy="373888"/>
          </a:xfrm>
          <a:prstGeom prst="rect">
            <a:avLst/>
          </a:prstGeom>
          <a:noFill/>
        </p:spPr>
        <p:txBody>
          <a:bodyPr wrap="none" lIns="0" rIns="0" tIns="0" bIns="0">
            <a:spAutoFit/>
          </a:bodyPr>
          <a:lstStyle/>
          <a:p>
            <a:pPr algn="l">
              <a:spcBef>
                <a:spcPts val="0"/>
              </a:spcBef>
              <a:spcAft>
                <a:spcPts val="0"/>
              </a:spcAft>
            </a:pPr>
            <a:r>
              <a:rPr sz="2300" b="1" i="0">
                <a:solidFill>
                  <a:srgbClr val="102238"/>
                </a:solidFill>
                <a:latin typeface="Liberation Sans"/>
              </a:rPr>
              <a:t>Capture design</a:t>
            </a:r>
          </a:p>
        </p:txBody>
      </p:sp>
      <p:sp>
        <p:nvSpPr>
          <p:cNvPr id="24" name="Rectangle 23"/>
          <p:cNvSpPr/>
          <p:nvPr/>
        </p:nvSpPr>
        <p:spPr>
          <a:xfrm>
            <a:off x="8373533" y="2529078"/>
            <a:ext cx="63500" cy="635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2133" y="2427478"/>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Lunar targeting, host recoil</a:t>
            </a:r>
          </a:p>
        </p:txBody>
      </p:sp>
      <p:sp>
        <p:nvSpPr>
          <p:cNvPr id="26" name="TextBox 25"/>
          <p:cNvSpPr txBox="1"/>
          <p:nvPr/>
        </p:nvSpPr>
        <p:spPr>
          <a:xfrm>
            <a:off x="8602133" y="2697226"/>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and lunar capture require</a:t>
            </a:r>
          </a:p>
        </p:txBody>
      </p:sp>
      <p:sp>
        <p:nvSpPr>
          <p:cNvPr id="27" name="TextBox 26"/>
          <p:cNvSpPr txBox="1"/>
          <p:nvPr/>
        </p:nvSpPr>
        <p:spPr>
          <a:xfrm>
            <a:off x="8602133" y="2966973"/>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their own complete mission</a:t>
            </a:r>
          </a:p>
        </p:txBody>
      </p:sp>
      <p:sp>
        <p:nvSpPr>
          <p:cNvPr id="28" name="TextBox 27"/>
          <p:cNvSpPr txBox="1"/>
          <p:nvPr/>
        </p:nvSpPr>
        <p:spPr>
          <a:xfrm>
            <a:off x="8602133" y="3236722"/>
            <a:ext cx="2904066" cy="292608"/>
          </a:xfrm>
          <a:prstGeom prst="rect">
            <a:avLst/>
          </a:prstGeom>
          <a:noFill/>
        </p:spPr>
        <p:txBody>
          <a:bodyPr wrap="none" lIns="0" rIns="0" tIns="0" bIns="0">
            <a:spAutoFit/>
          </a:bodyPr>
          <a:lstStyle/>
          <a:p>
            <a:pPr algn="l">
              <a:spcBef>
                <a:spcPts val="0"/>
              </a:spcBef>
              <a:spcAft>
                <a:spcPts val="0"/>
              </a:spcAft>
            </a:pPr>
            <a:r>
              <a:rPr sz="1800" b="0" i="0">
                <a:solidFill>
                  <a:srgbClr val="172D43"/>
                </a:solidFill>
                <a:latin typeface="Liberation Sans"/>
              </a:rPr>
              <a:t>design</a:t>
            </a:r>
          </a:p>
        </p:txBody>
      </p:sp>
      <p:sp>
        <p:nvSpPr>
          <p:cNvPr id="29" name="Rounded Rectangle 28"/>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Departure speed alone does not establish lunar-orbit delivery.</a:t>
            </a:r>
          </a:p>
        </p:txBody>
      </p:sp>
      <p:cxnSp>
        <p:nvCxnSpPr>
          <p:cNvPr id="32" name="Connector 31"/>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Cislunar architecture</a:t>
            </a:r>
          </a:p>
        </p:txBody>
      </p:sp>
      <p:sp>
        <p:nvSpPr>
          <p:cNvPr id="34" name="TextBox 33"/>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30 / 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C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8300"/>
            <a:ext cx="304800" cy="50800"/>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1700" y="317500"/>
            <a:ext cx="10414000" cy="170687"/>
          </a:xfrm>
          <a:prstGeom prst="rect">
            <a:avLst/>
          </a:prstGeom>
          <a:noFill/>
        </p:spPr>
        <p:txBody>
          <a:bodyPr wrap="none" lIns="0" rIns="0" tIns="0" bIns="0">
            <a:spAutoFit/>
          </a:bodyPr>
          <a:lstStyle/>
          <a:p>
            <a:pPr algn="l">
              <a:spcBef>
                <a:spcPts val="0"/>
              </a:spcBef>
              <a:spcAft>
                <a:spcPts val="0"/>
              </a:spcAft>
            </a:pPr>
            <a:r>
              <a:rPr sz="1050" b="1" i="0">
                <a:solidFill>
                  <a:srgbClr val="596C7B"/>
                </a:solidFill>
                <a:latin typeface="Liberation Sans"/>
              </a:rPr>
              <a:t>APPENDIX A12 · REFERENCES AND RESEARCH ECOSYSTEM</a:t>
            </a:r>
          </a:p>
        </p:txBody>
      </p:sp>
      <p:sp>
        <p:nvSpPr>
          <p:cNvPr id="5" name="TextBox 4"/>
          <p:cNvSpPr txBox="1"/>
          <p:nvPr/>
        </p:nvSpPr>
        <p:spPr>
          <a:xfrm>
            <a:off x="457200" y="685800"/>
            <a:ext cx="11277600" cy="503936"/>
          </a:xfrm>
          <a:prstGeom prst="rect">
            <a:avLst/>
          </a:prstGeom>
          <a:noFill/>
        </p:spPr>
        <p:txBody>
          <a:bodyPr wrap="none" lIns="0" rIns="0" tIns="0" bIns="0">
            <a:spAutoFit/>
          </a:bodyPr>
          <a:lstStyle/>
          <a:p>
            <a:pPr algn="l">
              <a:spcBef>
                <a:spcPts val="0"/>
              </a:spcBef>
              <a:spcAft>
                <a:spcPts val="0"/>
              </a:spcAft>
            </a:pPr>
            <a:r>
              <a:rPr sz="3100" b="1" i="0">
                <a:solidFill>
                  <a:srgbClr val="102238"/>
                </a:solidFill>
                <a:latin typeface="Liberation Sans"/>
              </a:rPr>
              <a:t>Selected bibliography and research record</a:t>
            </a:r>
          </a:p>
        </p:txBody>
      </p:sp>
      <p:sp>
        <p:nvSpPr>
          <p:cNvPr id="6" name="TextBox 5"/>
          <p:cNvSpPr txBox="1"/>
          <p:nvPr/>
        </p:nvSpPr>
        <p:spPr>
          <a:xfrm>
            <a:off x="508000" y="1612900"/>
            <a:ext cx="11176000" cy="243840"/>
          </a:xfrm>
          <a:prstGeom prst="rect">
            <a:avLst/>
          </a:prstGeom>
          <a:noFill/>
        </p:spPr>
        <p:txBody>
          <a:bodyPr wrap="none" lIns="0" rIns="0" tIns="0" bIns="0">
            <a:spAutoFit/>
          </a:bodyPr>
          <a:lstStyle/>
          <a:p>
            <a:pPr algn="l">
              <a:spcBef>
                <a:spcPts val="0"/>
              </a:spcBef>
              <a:spcAft>
                <a:spcPts val="0"/>
              </a:spcAft>
            </a:pPr>
            <a:r>
              <a:rPr sz="1500" b="0" i="0">
                <a:solidFill>
                  <a:srgbClr val="172D43"/>
                </a:solidFill>
                <a:latin typeface="Liberation Sans"/>
              </a:rPr>
              <a:t>Y. Zhao et al. (2022). “Design and analysis of a new deployer for the in-orbit release of multiple stacked CubeSats.” Remote Sensing</a:t>
            </a:r>
          </a:p>
        </p:txBody>
      </p:sp>
      <p:sp>
        <p:nvSpPr>
          <p:cNvPr id="7" name="TextBox 6"/>
          <p:cNvSpPr txBox="1"/>
          <p:nvPr/>
        </p:nvSpPr>
        <p:spPr>
          <a:xfrm>
            <a:off x="508000" y="1837689"/>
            <a:ext cx="11176000" cy="243840"/>
          </a:xfrm>
          <a:prstGeom prst="rect">
            <a:avLst/>
          </a:prstGeom>
          <a:noFill/>
        </p:spPr>
        <p:txBody>
          <a:bodyPr wrap="none" lIns="0" rIns="0" tIns="0" bIns="0">
            <a:spAutoFit/>
          </a:bodyPr>
          <a:lstStyle/>
          <a:p>
            <a:pPr algn="l">
              <a:spcBef>
                <a:spcPts val="0"/>
              </a:spcBef>
              <a:spcAft>
                <a:spcPts val="0"/>
              </a:spcAft>
            </a:pPr>
            <a:r>
              <a:rPr sz="1500" b="0" i="0">
                <a:solidFill>
                  <a:srgbClr val="172D43"/>
                </a:solidFill>
                <a:latin typeface="Liberation Sans"/>
              </a:rPr>
              <a:t>14(17), 4205.</a:t>
            </a:r>
          </a:p>
        </p:txBody>
      </p:sp>
      <p:sp>
        <p:nvSpPr>
          <p:cNvPr id="8" name="TextBox 7"/>
          <p:cNvSpPr txBox="1"/>
          <p:nvPr/>
        </p:nvSpPr>
        <p:spPr>
          <a:xfrm>
            <a:off x="508000" y="2113280"/>
            <a:ext cx="11176000" cy="211328"/>
          </a:xfrm>
          <a:prstGeom prst="rect">
            <a:avLst/>
          </a:prstGeom>
          <a:noFill/>
        </p:spPr>
        <p:txBody>
          <a:bodyPr wrap="none" lIns="0" rIns="0" tIns="0" bIns="0">
            <a:spAutoFit/>
          </a:bodyPr>
          <a:lstStyle/>
          <a:p>
            <a:pPr algn="l">
              <a:spcBef>
                <a:spcPts val="0"/>
              </a:spcBef>
              <a:spcAft>
                <a:spcPts val="0"/>
              </a:spcAft>
            </a:pPr>
            <a:r>
              <a:rPr sz="1300" b="0" i="0">
                <a:solidFill>
                  <a:srgbClr val="236D9B"/>
                </a:solidFill>
                <a:latin typeface="Liberation Sans"/>
                <a:hlinkClick r:id="rId2"/>
              </a:rPr>
              <a:t>doi:10.3390/rs14174205</a:t>
            </a:r>
          </a:p>
        </p:txBody>
      </p:sp>
      <p:sp>
        <p:nvSpPr>
          <p:cNvPr id="9" name="TextBox 8"/>
          <p:cNvSpPr txBox="1"/>
          <p:nvPr/>
        </p:nvSpPr>
        <p:spPr>
          <a:xfrm>
            <a:off x="508000" y="2460498"/>
            <a:ext cx="11176000" cy="243840"/>
          </a:xfrm>
          <a:prstGeom prst="rect">
            <a:avLst/>
          </a:prstGeom>
          <a:noFill/>
        </p:spPr>
        <p:txBody>
          <a:bodyPr wrap="none" lIns="0" rIns="0" tIns="0" bIns="0">
            <a:spAutoFit/>
          </a:bodyPr>
          <a:lstStyle/>
          <a:p>
            <a:pPr algn="l">
              <a:spcBef>
                <a:spcPts val="0"/>
              </a:spcBef>
              <a:spcAft>
                <a:spcPts val="0"/>
              </a:spcAft>
            </a:pPr>
            <a:r>
              <a:rPr sz="1500" b="0" i="0">
                <a:solidFill>
                  <a:srgbClr val="172D43"/>
                </a:solidFill>
                <a:latin typeface="Liberation Sans"/>
              </a:rPr>
              <a:t>Y. Zhao et al. (2025). “Simulation analysis and experimental verification of the transport characteristics of a high-volume CubeSat</a:t>
            </a:r>
          </a:p>
        </p:txBody>
      </p:sp>
      <p:sp>
        <p:nvSpPr>
          <p:cNvPr id="10" name="TextBox 9"/>
          <p:cNvSpPr txBox="1"/>
          <p:nvPr/>
        </p:nvSpPr>
        <p:spPr>
          <a:xfrm>
            <a:off x="508000" y="2685288"/>
            <a:ext cx="11176000" cy="243840"/>
          </a:xfrm>
          <a:prstGeom prst="rect">
            <a:avLst/>
          </a:prstGeom>
          <a:noFill/>
        </p:spPr>
        <p:txBody>
          <a:bodyPr wrap="none" lIns="0" rIns="0" tIns="0" bIns="0">
            <a:spAutoFit/>
          </a:bodyPr>
          <a:lstStyle/>
          <a:p>
            <a:pPr algn="l">
              <a:spcBef>
                <a:spcPts val="0"/>
              </a:spcBef>
              <a:spcAft>
                <a:spcPts val="0"/>
              </a:spcAft>
            </a:pPr>
            <a:r>
              <a:rPr sz="1500" b="0" i="0">
                <a:solidFill>
                  <a:srgbClr val="172D43"/>
                </a:solidFill>
                <a:latin typeface="Liberation Sans"/>
              </a:rPr>
              <a:t>storage device.” Aerospace 12(6), 466.</a:t>
            </a:r>
          </a:p>
        </p:txBody>
      </p:sp>
      <p:sp>
        <p:nvSpPr>
          <p:cNvPr id="11" name="TextBox 10"/>
          <p:cNvSpPr txBox="1"/>
          <p:nvPr/>
        </p:nvSpPr>
        <p:spPr>
          <a:xfrm>
            <a:off x="508000" y="2960878"/>
            <a:ext cx="11176000" cy="211328"/>
          </a:xfrm>
          <a:prstGeom prst="rect">
            <a:avLst/>
          </a:prstGeom>
          <a:noFill/>
        </p:spPr>
        <p:txBody>
          <a:bodyPr wrap="none" lIns="0" rIns="0" tIns="0" bIns="0">
            <a:spAutoFit/>
          </a:bodyPr>
          <a:lstStyle/>
          <a:p>
            <a:pPr algn="l">
              <a:spcBef>
                <a:spcPts val="0"/>
              </a:spcBef>
              <a:spcAft>
                <a:spcPts val="0"/>
              </a:spcAft>
            </a:pPr>
            <a:r>
              <a:rPr sz="1300" b="0" i="0">
                <a:solidFill>
                  <a:srgbClr val="236D9B"/>
                </a:solidFill>
                <a:latin typeface="Liberation Sans"/>
                <a:hlinkClick r:id="rId3"/>
              </a:rPr>
              <a:t>doi:10.3390/aerospace12060466</a:t>
            </a:r>
          </a:p>
        </p:txBody>
      </p:sp>
      <p:sp>
        <p:nvSpPr>
          <p:cNvPr id="12" name="TextBox 11"/>
          <p:cNvSpPr txBox="1"/>
          <p:nvPr/>
        </p:nvSpPr>
        <p:spPr>
          <a:xfrm>
            <a:off x="508000" y="3308096"/>
            <a:ext cx="11176000" cy="243840"/>
          </a:xfrm>
          <a:prstGeom prst="rect">
            <a:avLst/>
          </a:prstGeom>
          <a:noFill/>
        </p:spPr>
        <p:txBody>
          <a:bodyPr wrap="none" lIns="0" rIns="0" tIns="0" bIns="0">
            <a:spAutoFit/>
          </a:bodyPr>
          <a:lstStyle/>
          <a:p>
            <a:pPr algn="l">
              <a:spcBef>
                <a:spcPts val="0"/>
              </a:spcBef>
              <a:spcAft>
                <a:spcPts val="0"/>
              </a:spcAft>
            </a:pPr>
            <a:r>
              <a:rPr sz="1500" b="0" i="0">
                <a:solidFill>
                  <a:srgbClr val="172D43"/>
                </a:solidFill>
                <a:latin typeface="Liberation Sans"/>
              </a:rPr>
              <a:t>H. Feng, Y. Yang and Y. Wu (2025). “Design and reachable domain analysis of on-orbit electromagnetic launcher for CubeSats.”</a:t>
            </a:r>
          </a:p>
        </p:txBody>
      </p:sp>
      <p:sp>
        <p:nvSpPr>
          <p:cNvPr id="13" name="TextBox 12"/>
          <p:cNvSpPr txBox="1"/>
          <p:nvPr/>
        </p:nvSpPr>
        <p:spPr>
          <a:xfrm>
            <a:off x="508000" y="3532886"/>
            <a:ext cx="11176000" cy="243840"/>
          </a:xfrm>
          <a:prstGeom prst="rect">
            <a:avLst/>
          </a:prstGeom>
          <a:noFill/>
        </p:spPr>
        <p:txBody>
          <a:bodyPr wrap="none" lIns="0" rIns="0" tIns="0" bIns="0">
            <a:spAutoFit/>
          </a:bodyPr>
          <a:lstStyle/>
          <a:p>
            <a:pPr algn="l">
              <a:spcBef>
                <a:spcPts val="0"/>
              </a:spcBef>
              <a:spcAft>
                <a:spcPts val="0"/>
              </a:spcAft>
            </a:pPr>
            <a:r>
              <a:rPr sz="1500" b="0" i="0">
                <a:solidFill>
                  <a:srgbClr val="172D43"/>
                </a:solidFill>
                <a:latin typeface="Liberation Sans"/>
              </a:rPr>
              <a:t>International Journal of Aerospace Engineering, 3000765.</a:t>
            </a:r>
          </a:p>
        </p:txBody>
      </p:sp>
      <p:sp>
        <p:nvSpPr>
          <p:cNvPr id="14" name="TextBox 13"/>
          <p:cNvSpPr txBox="1"/>
          <p:nvPr/>
        </p:nvSpPr>
        <p:spPr>
          <a:xfrm>
            <a:off x="508000" y="3808476"/>
            <a:ext cx="11176000" cy="211328"/>
          </a:xfrm>
          <a:prstGeom prst="rect">
            <a:avLst/>
          </a:prstGeom>
          <a:noFill/>
        </p:spPr>
        <p:txBody>
          <a:bodyPr wrap="none" lIns="0" rIns="0" tIns="0" bIns="0">
            <a:spAutoFit/>
          </a:bodyPr>
          <a:lstStyle/>
          <a:p>
            <a:pPr algn="l">
              <a:spcBef>
                <a:spcPts val="0"/>
              </a:spcBef>
              <a:spcAft>
                <a:spcPts val="0"/>
              </a:spcAft>
            </a:pPr>
            <a:r>
              <a:rPr sz="1300" b="0" i="0">
                <a:solidFill>
                  <a:srgbClr val="236D9B"/>
                </a:solidFill>
                <a:latin typeface="Liberation Sans"/>
                <a:hlinkClick r:id="rId4"/>
              </a:rPr>
              <a:t>doi:10.1155/ijae/3000765</a:t>
            </a:r>
          </a:p>
        </p:txBody>
      </p:sp>
      <p:sp>
        <p:nvSpPr>
          <p:cNvPr id="15" name="TextBox 14"/>
          <p:cNvSpPr txBox="1"/>
          <p:nvPr/>
        </p:nvSpPr>
        <p:spPr>
          <a:xfrm>
            <a:off x="508000" y="4749800"/>
            <a:ext cx="11176000" cy="227584"/>
          </a:xfrm>
          <a:prstGeom prst="rect">
            <a:avLst/>
          </a:prstGeom>
          <a:noFill/>
        </p:spPr>
        <p:txBody>
          <a:bodyPr wrap="none" lIns="0" rIns="0" tIns="0" bIns="0">
            <a:spAutoFit/>
          </a:bodyPr>
          <a:lstStyle/>
          <a:p>
            <a:pPr algn="l">
              <a:spcBef>
                <a:spcPts val="0"/>
              </a:spcBef>
              <a:spcAft>
                <a:spcPts val="0"/>
              </a:spcAft>
            </a:pPr>
            <a:r>
              <a:rPr sz="1400" b="1" i="0">
                <a:solidFill>
                  <a:srgbClr val="102238"/>
                </a:solidFill>
                <a:latin typeface="Liberation Sans"/>
              </a:rPr>
              <a:t>Architectural and mission context</a:t>
            </a:r>
          </a:p>
        </p:txBody>
      </p:sp>
      <p:sp>
        <p:nvSpPr>
          <p:cNvPr id="16" name="TextBox 15"/>
          <p:cNvSpPr txBox="1"/>
          <p:nvPr/>
        </p:nvSpPr>
        <p:spPr>
          <a:xfrm>
            <a:off x="508000" y="5080000"/>
            <a:ext cx="3556000" cy="203200"/>
          </a:xfrm>
          <a:prstGeom prst="rect">
            <a:avLst/>
          </a:prstGeom>
          <a:noFill/>
        </p:spPr>
        <p:txBody>
          <a:bodyPr wrap="none" lIns="0" rIns="0" tIns="0" bIns="0">
            <a:spAutoFit/>
          </a:bodyPr>
          <a:lstStyle/>
          <a:p>
            <a:pPr algn="l">
              <a:spcBef>
                <a:spcPts val="0"/>
              </a:spcBef>
              <a:spcAft>
                <a:spcPts val="0"/>
              </a:spcAft>
            </a:pPr>
            <a:r>
              <a:rPr sz="1250" b="0" i="0">
                <a:solidFill>
                  <a:srgbClr val="236D9B"/>
                </a:solidFill>
                <a:latin typeface="Liberation Sans"/>
                <a:hlinkClick r:id="rId5"/>
              </a:rPr>
              <a:t>ISRO · POEM-3 mission account</a:t>
            </a:r>
          </a:p>
        </p:txBody>
      </p:sp>
      <p:sp>
        <p:nvSpPr>
          <p:cNvPr id="17" name="TextBox 16"/>
          <p:cNvSpPr txBox="1"/>
          <p:nvPr/>
        </p:nvSpPr>
        <p:spPr>
          <a:xfrm>
            <a:off x="4254500" y="5080000"/>
            <a:ext cx="3556000" cy="203200"/>
          </a:xfrm>
          <a:prstGeom prst="rect">
            <a:avLst/>
          </a:prstGeom>
          <a:noFill/>
        </p:spPr>
        <p:txBody>
          <a:bodyPr wrap="none" lIns="0" rIns="0" tIns="0" bIns="0">
            <a:spAutoFit/>
          </a:bodyPr>
          <a:lstStyle/>
          <a:p>
            <a:pPr algn="l">
              <a:spcBef>
                <a:spcPts val="0"/>
              </a:spcBef>
              <a:spcAft>
                <a:spcPts val="0"/>
              </a:spcAft>
            </a:pPr>
            <a:r>
              <a:rPr sz="1250" b="0" i="0">
                <a:solidFill>
                  <a:srgbClr val="236D9B"/>
                </a:solidFill>
                <a:latin typeface="Liberation Sans"/>
                <a:hlinkClick r:id="rId6"/>
              </a:rPr>
              <a:t>Rocket Lab · Electron guide v7.0</a:t>
            </a:r>
          </a:p>
        </p:txBody>
      </p:sp>
      <p:sp>
        <p:nvSpPr>
          <p:cNvPr id="18" name="TextBox 17"/>
          <p:cNvSpPr txBox="1"/>
          <p:nvPr/>
        </p:nvSpPr>
        <p:spPr>
          <a:xfrm>
            <a:off x="8001000" y="5080000"/>
            <a:ext cx="3556000" cy="203200"/>
          </a:xfrm>
          <a:prstGeom prst="rect">
            <a:avLst/>
          </a:prstGeom>
          <a:noFill/>
        </p:spPr>
        <p:txBody>
          <a:bodyPr wrap="none" lIns="0" rIns="0" tIns="0" bIns="0">
            <a:spAutoFit/>
          </a:bodyPr>
          <a:lstStyle/>
          <a:p>
            <a:pPr algn="l">
              <a:spcBef>
                <a:spcPts val="0"/>
              </a:spcBef>
              <a:spcAft>
                <a:spcPts val="0"/>
              </a:spcAft>
            </a:pPr>
            <a:r>
              <a:rPr sz="1250" b="0" i="0">
                <a:solidFill>
                  <a:srgbClr val="236D9B"/>
                </a:solidFill>
                <a:latin typeface="Liberation Sans"/>
                <a:hlinkClick r:id="rId7"/>
              </a:rPr>
              <a:t>NASA · Lunar surface technology</a:t>
            </a:r>
          </a:p>
        </p:txBody>
      </p:sp>
      <p:sp>
        <p:nvSpPr>
          <p:cNvPr id="19" name="TextBox 18"/>
          <p:cNvSpPr txBox="1"/>
          <p:nvPr/>
        </p:nvSpPr>
        <p:spPr>
          <a:xfrm>
            <a:off x="508000" y="5422900"/>
            <a:ext cx="11176000" cy="195072"/>
          </a:xfrm>
          <a:prstGeom prst="rect">
            <a:avLst/>
          </a:prstGeom>
          <a:noFill/>
        </p:spPr>
        <p:txBody>
          <a:bodyPr wrap="none" lIns="0" rIns="0" tIns="0" bIns="0">
            <a:spAutoFit/>
          </a:bodyPr>
          <a:lstStyle/>
          <a:p>
            <a:pPr algn="l">
              <a:spcBef>
                <a:spcPts val="0"/>
              </a:spcBef>
              <a:spcAft>
                <a:spcPts val="0"/>
              </a:spcAft>
            </a:pPr>
            <a:r>
              <a:rPr sz="1200" b="0" i="0">
                <a:solidFill>
                  <a:srgbClr val="596C7B"/>
                </a:solidFill>
                <a:latin typeface="Liberation Sans"/>
              </a:rPr>
              <a:t>Planned IEEE-formatted paper · venue unselected · manuscript unsubmitted</a:t>
            </a:r>
          </a:p>
        </p:txBody>
      </p:sp>
      <p:sp>
        <p:nvSpPr>
          <p:cNvPr id="20" name="Rounded Rectangle 19"/>
          <p:cNvSpPr/>
          <p:nvPr/>
        </p:nvSpPr>
        <p:spPr>
          <a:xfrm>
            <a:off x="457200" y="5727700"/>
            <a:ext cx="11277600" cy="495299"/>
          </a:xfrm>
          <a:prstGeom prst="roundRect">
            <a:avLst>
              <a:gd name="adj" fmla="val 6000"/>
            </a:avLst>
          </a:prstGeom>
          <a:solidFill>
            <a:srgbClr val="ED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727700"/>
            <a:ext cx="50800" cy="495299"/>
          </a:xfrm>
          <a:prstGeom prst="rect">
            <a:avLst/>
          </a:prstGeom>
          <a:solidFill>
            <a:srgbClr val="B971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700" y="5842000"/>
            <a:ext cx="10896600" cy="260096"/>
          </a:xfrm>
          <a:prstGeom prst="rect">
            <a:avLst/>
          </a:prstGeom>
          <a:noFill/>
        </p:spPr>
        <p:txBody>
          <a:bodyPr wrap="none" lIns="0" rIns="0" tIns="0" bIns="0">
            <a:spAutoFit/>
          </a:bodyPr>
          <a:lstStyle/>
          <a:p>
            <a:pPr algn="l">
              <a:spcBef>
                <a:spcPts val="0"/>
              </a:spcBef>
              <a:spcAft>
                <a:spcPts val="0"/>
              </a:spcAft>
            </a:pPr>
            <a:r>
              <a:rPr sz="1600" b="1" i="0">
                <a:solidFill>
                  <a:srgbClr val="172D43"/>
                </a:solidFill>
                <a:latin typeface="Liberation Sans"/>
              </a:rPr>
              <a:t>The paper documents the checked study; tools retain their own contribution boundaries.</a:t>
            </a:r>
          </a:p>
        </p:txBody>
      </p:sp>
      <p:cxnSp>
        <p:nvCxnSpPr>
          <p:cNvPr id="23" name="Connector 22"/>
          <p:cNvCxnSpPr/>
          <p:nvPr/>
        </p:nvCxnSpPr>
        <p:spPr>
          <a:xfrm>
            <a:off x="457200" y="6388100"/>
            <a:ext cx="11277600" cy="0"/>
          </a:xfrm>
          <a:prstGeom prst="line">
            <a:avLst/>
          </a:prstGeom>
          <a:ln w="12700">
            <a:solidFill>
              <a:srgbClr val="D4DFE7"/>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7200" y="6502400"/>
            <a:ext cx="10033000" cy="149555"/>
          </a:xfrm>
          <a:prstGeom prst="rect">
            <a:avLst/>
          </a:prstGeom>
          <a:noFill/>
        </p:spPr>
        <p:txBody>
          <a:bodyPr wrap="none" lIns="0" rIns="0" tIns="0" bIns="0">
            <a:spAutoFit/>
          </a:bodyPr>
          <a:lstStyle/>
          <a:p>
            <a:pPr algn="l">
              <a:spcBef>
                <a:spcPts val="0"/>
              </a:spcBef>
              <a:spcAft>
                <a:spcPts val="0"/>
              </a:spcAft>
            </a:pPr>
            <a:r>
              <a:rPr sz="919" b="0" i="0">
                <a:solidFill>
                  <a:srgbClr val="596C7B"/>
                </a:solidFill>
                <a:latin typeface="Liberation Sans"/>
              </a:rPr>
              <a:t>Blackbook: References and research ecosystem</a:t>
            </a:r>
          </a:p>
        </p:txBody>
      </p:sp>
      <p:sp>
        <p:nvSpPr>
          <p:cNvPr id="25" name="TextBox 24"/>
          <p:cNvSpPr txBox="1"/>
          <p:nvPr/>
        </p:nvSpPr>
        <p:spPr>
          <a:xfrm>
            <a:off x="10756900" y="6502400"/>
            <a:ext cx="977900" cy="162560"/>
          </a:xfrm>
          <a:prstGeom prst="rect">
            <a:avLst/>
          </a:prstGeom>
          <a:noFill/>
        </p:spPr>
        <p:txBody>
          <a:bodyPr wrap="none" lIns="0" rIns="0" tIns="0" bIns="0">
            <a:spAutoFit/>
          </a:bodyPr>
          <a:lstStyle/>
          <a:p>
            <a:pPr algn="r">
              <a:spcBef>
                <a:spcPts val="0"/>
              </a:spcBef>
              <a:spcAft>
                <a:spcPts val="0"/>
              </a:spcAft>
            </a:pPr>
            <a:r>
              <a:rPr sz="1000" b="0" i="0">
                <a:solidFill>
                  <a:srgbClr val="596C7B"/>
                </a:solidFill>
                <a:latin typeface="Liberation Sans"/>
              </a:rPr>
              <a:t>31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VOLLEY: A Commanded Electromagnetic CubeSat Deployment Mechanism</dc:title>
  <dc:subject>Computational design and engineering evaluation</dc:subject>
  <dc:creator>Adityavardhan Mishra and Pratham Chawla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