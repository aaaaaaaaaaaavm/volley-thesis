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30 s (0:00–0:30)</a:t>
            </a:r>
          </a:p>
          <a:p/>
          <a:p>
            <a:r>
              <a:t>Good morning. We are Adityavardhan Mishra and Pratham Chawla, presenting VOLLEY under the guidance of Vikas Gulia. This project develops and computationally evaluates a commanded electromagnetic CubeSat deployment mechanism. The presentation focuses on the completed Gen5 ACR1 computational reference and the physical validation proposed for Gen6.</a:t>
            </a:r>
          </a:p>
          <a:p/>
          <a:p>
            <a:r>
              <a:t>Source basis: Symbiosis Institute of Technology, Pune |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20 s (0:30–0:50)</a:t>
            </a:r>
          </a:p>
          <a:p/>
          <a:p>
            <a:r>
              <a:t>We begin with the deployment problem and relevant prior work, then define the research gap and objectives. We explain the computational method and progress before moving to the mechanism and results. We close with the mission trade, conclusions and the proposed Gen6 validation programme.</a:t>
            </a:r>
          </a:p>
          <a:p/>
          <a:p>
            <a:r>
              <a:t>Source basis: College presentation structure adapted to the VOLLEY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65 s (0:50–1:55)</a:t>
            </a:r>
          </a:p>
          <a:p/>
          <a:p>
            <a:r>
              <a:t>A deployer is an interface between a host platform and a free-flying spacecraft. The host can manoeuvre before release, while the deployer sets a local relative velocity at a specific event. These are related but distinct controls. A release impulse can change orbital energy and subsequent phasing, and its usefulness depends on the delivery objective and the available host resources. Our schematic identifies the event rather than depicting a flight vehicle. The design question is therefore broader than generating force. The payload must remain retained and guided before command, the moving carrier must be arrested and returned, and its momentum and installed mass must remain in the mission budget. This is the system boundary used throughout the study.</a:t>
            </a:r>
          </a:p>
          <a:p/>
          <a:p>
            <a:r>
              <a:t>Source basis: Sources: JAXA deployment ICD; Cal Poly CDS Rev. 14.1; Foster et al. (2018); Vallado (2013)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90 s (1:55–3:25)</a:t>
            </a:r>
          </a:p>
          <a:p/>
          <a:p>
            <a:r>
              <a:t>Electromagnetic CubeSat deployment and high-volume storage are established prior art. Zhao and colleagues reported stacked electromagnetic release in 2022, including gravity-compensated laboratory tests. Their measured velocities belong to their mechanism, payloads and test conditions. The 2025 storage study examines pushing, receiving guides and magnetic transport, including spacecraft-side grooves and iron patches. That interface differs from the passive rectangular envelope represented here. Feng and colleagues examine a higher-speed launcher and reachable domain, which provides mission context but uses a different operating regime. Halbach supplies the permanent-magnet field concept, while finite-motor literature identifies the importance of longitudinal end effects. The present contribution is the integration and evaluation of one explicit retained-carrier reference: custody, finite force, source limits, arrest and host burden are assessed together. We preserve the distinction between third-party experimental evidence and our numerical results.</a:t>
            </a:r>
          </a:p>
          <a:p/>
          <a:p>
            <a:r>
              <a:t>Source basis: Sources: Zhao et al. (2022, 2025); Feng et al. (2025); Halbach (1980); Yamaguchi &amp; Morishita (2023)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70 s (3:25–4:35)</a:t>
            </a:r>
          </a:p>
          <a:p/>
          <a:p>
            <a:r>
              <a:t>The research gap addressed here is integration at a defined reference boundary. First, a storage-to-release mechanism needs an explicit answer to who holds the payload at every transition. Second, a useful electromagnetic result requires the force map, real moving mass and electrical source to be solved as one problem, including what happens after the spacecraft separates. Third, the retained carrier and installed hardware affect the host even when the payload has departed. The study connects these questions using one controlled mechanical revision. This supplies a reproducible basis for evaluating operating cases and for deciding which measurements a physical prototype must provide. It is a design-specific integration contribution rather than a claim that adjustable electromagnetic ejection is a new principle.</a:t>
            </a:r>
          </a:p>
          <a:p/>
          <a:p>
            <a:r>
              <a:t>Source basis: Basis: literature synthesis and the defined Gen5 ACR1 system boundary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60 s (4:35–5:35)</a:t>
            </a:r>
          </a:p>
          <a:p/>
          <a:p>
            <a:r>
              <a:t>The reference manifest contains twelve identical four-kilogram 3U envelope surrogates. The represented contact envelope is 340.5 by 100 by 100 millimetres. The current computational operating study covers commands from one to three metres per second. The rail is 2250 millimetres long, and the post-release arrest allocation is 210 millimetres. Within this boundary, the objectives are to define continuous payload custody, evaluate the finite motor geometry, solve the coupled source and mechanical cycle, and carry the retained burden into structural and mission evaluation. These values identify the analysed configuration. The later mixed-size prototype will need its own payload interfaces and verification rather than inheriting this twelve-3U definition.</a:t>
            </a:r>
          </a:p>
          <a:p/>
          <a:p>
            <a:r>
              <a:t>Source basis: Sources: frozen CAD manifest; PARAMETERS.json; coupled operating-study definition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80 s (5:35–6:55)</a:t>
            </a:r>
          </a:p>
          <a:p/>
          <a:p>
            <a:r>
              <a:t>The method follows the physical dependencies. CAD defines contact paths and conductor and magnet placement. The same solids and assigned reference masses produce the mass and inertia ledger. Finite electromagnetic and current models then define the force and resistance used by the source-coupled shot model. The shot includes unilateral payload contact, electrical braking, mechanical separation and active arrest of the retained carrier. Actual-chassis elasticity and declared clearance, thermal and contact budgets assess the mechanical consequences. Finally, the achieved release map and installed burden enter the host mission comparison. Independent checks supplement these models: STEP imports are compared with native geometry, a source-face field formulation and conductor-current FEM check the electromagnetic calculation, and an independently reviewed five-microsecond timestep audit checks the principal three-metre-per-second cases using the shared production solver. These are computational checks with distinct purposes; they do not replace future physical correlation.</a:t>
            </a:r>
          </a:p>
          <a:p/>
          <a:p>
            <a:r>
              <a:t>Source basis: Sources: engineering manifests; finite field/current models; STEP readback and reviewed 5 µs timestep-audit records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time: 35 s (6:55–7:30)</a:t>
            </a:r>
          </a:p>
          <a:p/>
          <a:p>
            <a:r>
              <a:t>The work has progressed from literature and problem framing to the Gen5 ACR1 reference, followed by the coupled computational study. The current stage is the academic report and presentation capture. The computational design study is complete within its stated reference cases. Gen6 is the proposed physical development stage, beginning with an instrumented mixed 1U and 3U prototype. Pratham will now explain the reference mechanism and the engineering results.</a:t>
            </a:r>
          </a:p>
          <a:p/>
          <a:p>
            <a:r>
              <a:t>Source basis: Current submission: October 2026 | Gen6 physical prototype is future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70 s (7:30–8:40)</a:t>
            </a:r>
          </a:p>
          <a:p/>
          <a:p>
            <a:r>
              <a:t>The reference mechanism has two fixed banks with six cells per bank. Positive guided pushers feed one selected payload toward the central lift. The lift carries a single captive pallet, and that same physical pallet docks to the launch carrier. The magnet arrays remain on the reusable carrier rather than on the payload. This is the complete native CAD home state, including the storage banks and generic mounting ladder. The retained moving carrier, pallet, lock pins and reference actuators total 13.128 kilograms. Represented dry CAD mass is 149.557 kilograms, with a separate seven-kilogram power and control allowance. These masses are part of the system assessment. They are material-volume and assigned-reference totals, rather than a weighed physical article.</a:t>
            </a:r>
          </a:p>
          <a:p/>
          <a:p>
            <a:r>
              <a:t>Source basis: Native CAD render: final Gen5 ACR1 home state; represented masses include declared reference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70 s (8:40–9:50)</a:t>
            </a:r>
          </a:p>
          <a:p/>
          <a:p>
            <a:r>
              <a:t>These are three native CAD states of the same mechanism. At the source level, the lift grips support the pallet while the end frames and Y keepers contain the spacecraft envelope. At docking, four pallet feet land on the carrier. The upper capture caps and the two keyed bayonet locks engage before the lift grip pins retract, so the sequence explicitly captures before releasing custody. The lift then raises clear while the pallet remains attached to the carrier for launch, arrest and return. The handoff view omits the banks, host ladder and fixed lift frame to expose the interfaces, and that omission is disclosed. During the shot, fixed passive cams open the two forekeepers over fifty millimetres of carrier travel. Their twelve-millimetre opening completes five millimetres before release. This separates the slow transfer actuation from the position-defined release motion.</a:t>
            </a:r>
          </a:p>
          <a:p/>
          <a:p>
            <a:r>
              <a:t>Source basis: Native CAD states; handoff detail hides banks, host ladder and fixed lift frame as disclosed in its provenance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55 s (9:50–10:45)</a:t>
            </a:r>
          </a:p>
          <a:p/>
          <a:p>
            <a:r>
              <a:t>The motor uses forty-two discrete eight-millimetre magnet blocks on each opposed carrier array and a finite three-phase stator with two hundred and sixteen active bars. The active bar section is forty-two square millimetres, while the minimum represented return neck is twenty-one. Force is obtained by integrating current density crossed with the finite permanent-magnet field over copper. At the checked interior station, active conductors give 1.3287 newtons per peak phase ampere; including the represented returns gives 1.3991. The conductor-current finite-element comparison differs by 0.172 percent at that interior station. Position dependence is retained for launch and arrest. These comparisons support the specified numerical model; static force and back-emf measurements remain part of Gen6.</a:t>
            </a:r>
          </a:p>
          <a:p/>
          <a:p>
            <a:r>
              <a:t>Source basis: Sources: FINITE_MOTOR.json; CURRENT_FIELD_FORCE.json | coefficients use peak phase amperes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65 s (10:45–11:50)</a:t>
            </a:r>
          </a:p>
          <a:p/>
          <a:p>
            <a:r>
              <a:t>The left plot shows the nominal twenty-microhenry, three-metre-per-second source-coupled reference. Current accelerates the retained carrier and spacecraft, then reverses for active arrest after mechanical separation. The signed current is therefore negative during braking. Model release is 2.999864 metres per second, and the carrier stops at 1.507 metres of relative travel, inside the 210-millimetre post-release allocation. Nominal source draw is 379.7 joules, apportioned in the energy ledger. All six principal three-metre-per-second cases, spanning nominal and adverse assumptions and three inductance values, pass the independently reviewed five-microsecond timestep audit, which shares the production simulation implementation. The thermal values shown are the worst reviewed sensitivity estimates, not the nominal trace alone: 0.0667 kelvin bulk copper rise and a 2.495-kelvin local DC-current-FEM adiabatic mesh observation. They define physical correlation priorities rather than a measured hotspot rating.</a:t>
            </a:r>
          </a:p>
          <a:p/>
          <a:p>
            <a:r>
              <a:t>Source basis: Numerical source-coupled model; nominal 3 m/s, 20 µH trace | sensitivity values retain their declared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65 s (11:50–12:55)</a:t>
            </a:r>
          </a:p>
          <a:p/>
          <a:p>
            <a:r>
              <a:t>The structural figure uses the actual connected chassis, including its final shaft and axle bores, rather than an idealised rectangular section. Linear elasticity assumes seventy gigapascals Young’s modulus and Poisson’s ratio 0.33, with 3.010 kilonewtons applied inward on each magnet-array patch. Displacements are enlarged twenty times in the visualisation. Maximum paired face closure is 0.286 millimetres. Scaling the same linear solution by 1.3 gives 0.372 millimetres. Combining this with the declared centring, flatness, assembly and thermal allocations leaves a 0.264-millimetre per-face design margin. The contact figures are a separate elastic-energy bound for a declared four-rail surrogate: 1.044 degrees per second in pitch or yaw and 2.619 degrees per second over all axes. These are analytical bounds, not measured tip-off. Physical stiffness, inertia, friction and contact behaviour are future correlation measurements.</a:t>
            </a:r>
          </a:p>
          <a:p/>
          <a:p>
            <a:r>
              <a:t>Source basis: Sources: actual-chassis CalculiX solve; DESIGN_BUDGETS.json | simulations and analytical bounds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65 s (12:55–14:00)</a:t>
            </a:r>
          </a:p>
          <a:p/>
          <a:p>
            <a:r>
              <a:t>The mission comparison keeps the same five-hundred-kilogram wet bus, including twenty kilograms of propellant, and twelve four-kilogram payloads. Corrected Gen5 initial wet mass is 704.557 kilograms, compared with 620 kilograms for the declared spring class assumption. For uniform two-metre-per-second targets, Gen5 uses 0.05244 kilograms of fuel and the fixed two-metre-per-second spring case uses 0.04696. For alternating one and three targets, Gen5 meets the five-newton ceiling with about 0.28987 kilograms, while ideal ground pretrim uses about 0.05365 at five newtons and also has a tested one-newton solution. The fixed-two spring family’s minimum tested peak is 7.537 newtons; this is not a global infeasibility proof. Gen5 uses four-hundred-second coast-only release windows while spring policies allow broader burns. The result establishes no mass or fuel advantage over ideal pretrim under these stated families. A separate native Orekit replay checks the accepted mission trajectories.</a:t>
            </a:r>
          </a:p>
          <a:p/>
          <a:p>
            <a:r>
              <a:t>Source basis: Accepted finite-burn comparison: same 500 kg wet bus and twelve 4 kg payloads; tested policy families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30 s (14:00–14:30)</a:t>
            </a:r>
          </a:p>
          <a:p/>
          <a:p>
            <a:r>
              <a:t>The study produces a complete computational reference for a repeated deployment cycle, from retained storage to carrier return. The declared low-speed cases are evaluated with finite motor geometry, actual retained mass and a stated source, and the principal three-metre-per-second cases receive an independently reviewed shared-solver timestep audit. The system burden remains substantial and the mission comparison supplies no mass or fuel advantage over ideal pretrim. This defines the outcome and the next physical validation step.</a:t>
            </a:r>
          </a:p>
          <a:p/>
          <a:p>
            <a:r>
              <a:t>Source basis: Basis: controlled Gen5 ACR1 geometry, coupled simulations, independent checks and mission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20 s (14:30–14:50)</a:t>
            </a:r>
          </a:p>
          <a:p/>
          <a:p>
            <a:r>
              <a:t>Gen6 is the proposed physical prototype stage. It should characterise the motor and source, correlate custody and contact behaviour, and then demonstrate instrumented release, arrest and repeated duty. Mixed one-unit and three-unit handling needs fresh envelopes, retention definitions and mass accounting. Higher-speed scaling requires new coupled energy, acceleration, arrest and thermal budgets.</a:t>
            </a:r>
          </a:p>
          <a:p/>
          <a:p>
            <a:r>
              <a:t>Source basis: Proposed development programme; no measured VOLLEY prototype performance is reported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time: 10 s (14:50–15:00)</a:t>
            </a:r>
          </a:p>
          <a:p/>
          <a:p>
            <a:r>
              <a:t>These selected references support the interface assumptions, prior-work comparison and numerical methods. The full bibliography and traceable engineering records accompany the report. Thank you; we welcome questions.</a:t>
            </a:r>
          </a:p>
          <a:p/>
          <a:p>
            <a:r>
              <a:t>Source basis: Full bibliography, source data sheets and engineering provenance accompany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B.TECH PROJECT PRESENTATION</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Symbiosis Institute of Technology, Pune | October 2026</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01 / 17</a:t>
            </a:r>
          </a:p>
        </p:txBody>
      </p:sp>
      <p:sp>
        <p:nvSpPr>
          <p:cNvPr id="9" name="TextBox 8"/>
          <p:cNvSpPr txBox="1"/>
          <p:nvPr/>
        </p:nvSpPr>
        <p:spPr>
          <a:xfrm>
            <a:off x="502920" y="557784"/>
            <a:ext cx="7315200" cy="310896"/>
          </a:xfrm>
          <a:prstGeom prst="rect">
            <a:avLst/>
          </a:prstGeom>
          <a:noFill/>
        </p:spPr>
        <p:txBody>
          <a:bodyPr wrap="square" lIns="0" rIns="0" tIns="0" bIns="0">
            <a:spAutoFit/>
          </a:bodyPr>
          <a:lstStyle/>
          <a:p>
            <a:pPr algn="l">
              <a:lnSpc>
                <a:spcPct val="108000"/>
              </a:lnSpc>
              <a:spcBef>
                <a:spcPts val="0"/>
              </a:spcBef>
              <a:spcAft>
                <a:spcPts val="300"/>
              </a:spcAft>
            </a:pPr>
            <a:r>
              <a:rPr sz="1400" b="1">
                <a:solidFill>
                  <a:srgbClr val="617386"/>
                </a:solidFill>
                <a:latin typeface="Liberation Sans"/>
              </a:rPr>
              <a:t>DEPARTMENT OF MECHANICAL ENGINEERING</a:t>
            </a:r>
          </a:p>
        </p:txBody>
      </p:sp>
      <p:sp>
        <p:nvSpPr>
          <p:cNvPr id="10" name="TextBox 9"/>
          <p:cNvSpPr txBox="1"/>
          <p:nvPr/>
        </p:nvSpPr>
        <p:spPr>
          <a:xfrm>
            <a:off x="502920" y="1188720"/>
            <a:ext cx="6400800" cy="612648"/>
          </a:xfrm>
          <a:prstGeom prst="rect">
            <a:avLst/>
          </a:prstGeom>
          <a:noFill/>
        </p:spPr>
        <p:txBody>
          <a:bodyPr wrap="square" lIns="0" rIns="0" tIns="0" bIns="0">
            <a:spAutoFit/>
          </a:bodyPr>
          <a:lstStyle/>
          <a:p>
            <a:pPr algn="l">
              <a:lnSpc>
                <a:spcPct val="108000"/>
              </a:lnSpc>
              <a:spcBef>
                <a:spcPts val="0"/>
              </a:spcBef>
              <a:spcAft>
                <a:spcPts val="300"/>
              </a:spcAft>
            </a:pPr>
            <a:r>
              <a:rPr sz="4200" b="1">
                <a:solidFill>
                  <a:srgbClr val="102A43"/>
                </a:solidFill>
                <a:latin typeface="Liberation Sans"/>
              </a:rPr>
              <a:t>VOLLEY</a:t>
            </a:r>
          </a:p>
        </p:txBody>
      </p:sp>
      <p:sp>
        <p:nvSpPr>
          <p:cNvPr id="11" name="TextBox 10"/>
          <p:cNvSpPr txBox="1"/>
          <p:nvPr/>
        </p:nvSpPr>
        <p:spPr>
          <a:xfrm>
            <a:off x="502920" y="1938528"/>
            <a:ext cx="6720840" cy="1920240"/>
          </a:xfrm>
          <a:prstGeom prst="rect">
            <a:avLst/>
          </a:prstGeom>
          <a:noFill/>
        </p:spPr>
        <p:txBody>
          <a:bodyPr wrap="square" lIns="0" rIns="0" tIns="0" bIns="0">
            <a:spAutoFit/>
          </a:bodyPr>
          <a:lstStyle/>
          <a:p>
            <a:pPr algn="l">
              <a:lnSpc>
                <a:spcPct val="108000"/>
              </a:lnSpc>
              <a:spcBef>
                <a:spcPts val="0"/>
              </a:spcBef>
              <a:spcAft>
                <a:spcPts val="300"/>
              </a:spcAft>
            </a:pPr>
            <a:r>
              <a:rPr sz="2700" b="1">
                <a:solidFill>
                  <a:srgbClr val="102A43"/>
                </a:solidFill>
                <a:latin typeface="Liberation Sans"/>
              </a:rPr>
              <a:t>Design and Computational Evaluation</a:t>
            </a:r>
          </a:p>
          <a:p>
            <a:pPr algn="l">
              <a:lnSpc>
                <a:spcPct val="108000"/>
              </a:lnSpc>
              <a:spcBef>
                <a:spcPts val="0"/>
              </a:spcBef>
              <a:spcAft>
                <a:spcPts val="300"/>
              </a:spcAft>
            </a:pPr>
            <a:r>
              <a:rPr sz="2700" b="1">
                <a:solidFill>
                  <a:srgbClr val="102A43"/>
                </a:solidFill>
                <a:latin typeface="Liberation Sans"/>
              </a:rPr>
              <a:t>of a Commanded Electromagnetic</a:t>
            </a:r>
          </a:p>
          <a:p>
            <a:pPr algn="l">
              <a:lnSpc>
                <a:spcPct val="108000"/>
              </a:lnSpc>
              <a:spcBef>
                <a:spcPts val="0"/>
              </a:spcBef>
              <a:spcAft>
                <a:spcPts val="300"/>
              </a:spcAft>
            </a:pPr>
            <a:r>
              <a:rPr sz="2700" b="1">
                <a:solidFill>
                  <a:srgbClr val="102A43"/>
                </a:solidFill>
                <a:latin typeface="Liberation Sans"/>
              </a:rPr>
              <a:t>CubeSat Deployment Mechanism</a:t>
            </a:r>
          </a:p>
        </p:txBody>
      </p:sp>
      <p:sp>
        <p:nvSpPr>
          <p:cNvPr id="12" name="TextBox 11"/>
          <p:cNvSpPr txBox="1"/>
          <p:nvPr/>
        </p:nvSpPr>
        <p:spPr>
          <a:xfrm>
            <a:off x="521207" y="3913632"/>
            <a:ext cx="6583680" cy="347472"/>
          </a:xfrm>
          <a:prstGeom prst="rect">
            <a:avLst/>
          </a:prstGeom>
          <a:noFill/>
        </p:spPr>
        <p:txBody>
          <a:bodyPr wrap="square" lIns="0" rIns="0" tIns="0" bIns="0">
            <a:spAutoFit/>
          </a:bodyPr>
          <a:lstStyle/>
          <a:p>
            <a:pPr algn="l">
              <a:lnSpc>
                <a:spcPct val="108000"/>
              </a:lnSpc>
              <a:spcBef>
                <a:spcPts val="0"/>
              </a:spcBef>
              <a:spcAft>
                <a:spcPts val="300"/>
              </a:spcAft>
            </a:pPr>
            <a:r>
              <a:rPr sz="1350" b="1">
                <a:solidFill>
                  <a:srgbClr val="A9683D"/>
                </a:solidFill>
                <a:latin typeface="Liberation Sans"/>
              </a:rPr>
              <a:t>GEN5 ACR1  |  COMPUTATIONAL DESIGN STUDY</a:t>
            </a:r>
          </a:p>
        </p:txBody>
      </p:sp>
      <p:sp>
        <p:nvSpPr>
          <p:cNvPr id="13" name="TextBox 12"/>
          <p:cNvSpPr txBox="1"/>
          <p:nvPr/>
        </p:nvSpPr>
        <p:spPr>
          <a:xfrm>
            <a:off x="502920" y="4590288"/>
            <a:ext cx="3383280" cy="777240"/>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Adityavardhan Mishra</a:t>
            </a:r>
          </a:p>
          <a:p>
            <a:pPr algn="l">
              <a:lnSpc>
                <a:spcPct val="108000"/>
              </a:lnSpc>
              <a:spcBef>
                <a:spcPts val="0"/>
              </a:spcBef>
              <a:spcAft>
                <a:spcPts val="300"/>
              </a:spcAft>
            </a:pPr>
            <a:r>
              <a:rPr sz="1800" b="0">
                <a:solidFill>
                  <a:srgbClr val="26384B"/>
                </a:solidFill>
                <a:latin typeface="Liberation Sans"/>
              </a:rPr>
              <a:t>PRN: 23070125054</a:t>
            </a:r>
          </a:p>
        </p:txBody>
      </p:sp>
      <p:sp>
        <p:nvSpPr>
          <p:cNvPr id="14" name="TextBox 13"/>
          <p:cNvSpPr txBox="1"/>
          <p:nvPr/>
        </p:nvSpPr>
        <p:spPr>
          <a:xfrm>
            <a:off x="3840480" y="4590288"/>
            <a:ext cx="3291840" cy="777240"/>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Pratham Chawla</a:t>
            </a:r>
          </a:p>
          <a:p>
            <a:pPr algn="l">
              <a:lnSpc>
                <a:spcPct val="108000"/>
              </a:lnSpc>
              <a:spcBef>
                <a:spcPts val="0"/>
              </a:spcBef>
              <a:spcAft>
                <a:spcPts val="300"/>
              </a:spcAft>
            </a:pPr>
            <a:r>
              <a:rPr sz="1800" b="0">
                <a:solidFill>
                  <a:srgbClr val="26384B"/>
                </a:solidFill>
                <a:latin typeface="Liberation Sans"/>
              </a:rPr>
              <a:t>PRN: 23070125029</a:t>
            </a:r>
          </a:p>
        </p:txBody>
      </p:sp>
      <p:sp>
        <p:nvSpPr>
          <p:cNvPr id="15" name="TextBox 14"/>
          <p:cNvSpPr txBox="1"/>
          <p:nvPr/>
        </p:nvSpPr>
        <p:spPr>
          <a:xfrm>
            <a:off x="502920" y="5623560"/>
            <a:ext cx="6400800" cy="384048"/>
          </a:xfrm>
          <a:prstGeom prst="rect">
            <a:avLst/>
          </a:prstGeom>
          <a:noFill/>
        </p:spPr>
        <p:txBody>
          <a:bodyPr wrap="square" lIns="0" rIns="0" tIns="0" bIns="0">
            <a:spAutoFit/>
          </a:bodyPr>
          <a:lstStyle/>
          <a:p>
            <a:pPr algn="l">
              <a:lnSpc>
                <a:spcPct val="108000"/>
              </a:lnSpc>
              <a:spcBef>
                <a:spcPts val="0"/>
              </a:spcBef>
              <a:spcAft>
                <a:spcPts val="300"/>
              </a:spcAft>
            </a:pPr>
            <a:r>
              <a:rPr sz="1900" b="0">
                <a:solidFill>
                  <a:srgbClr val="26384B"/>
                </a:solidFill>
                <a:latin typeface="Liberation Sans"/>
              </a:rPr>
              <a:t>Project guide: Vikas Gulia</a:t>
            </a:r>
          </a:p>
        </p:txBody>
      </p:sp>
      <p:pic>
        <p:nvPicPr>
          <p:cNvPr id="16" name="Picture 15" descr="sit-logo.jpg"/>
          <p:cNvPicPr>
            <a:picLocks noChangeAspect="1"/>
          </p:cNvPicPr>
          <p:nvPr/>
        </p:nvPicPr>
        <p:blipFill>
          <a:blip r:embed="rId2"/>
          <a:stretch>
            <a:fillRect/>
          </a:stretch>
        </p:blipFill>
        <p:spPr>
          <a:xfrm>
            <a:off x="10172700" y="484632"/>
            <a:ext cx="731520" cy="731520"/>
          </a:xfrm>
          <a:prstGeom prst="rect">
            <a:avLst/>
          </a:prstGeom>
        </p:spPr>
      </p:pic>
      <p:pic>
        <p:nvPicPr>
          <p:cNvPr id="17" name="Picture 16" descr="01_assembly_isometric.png"/>
          <p:cNvPicPr>
            <a:picLocks noChangeAspect="1"/>
          </p:cNvPicPr>
          <p:nvPr/>
        </p:nvPicPr>
        <p:blipFill>
          <a:blip r:embed="rId3"/>
          <a:srcRect t="9500" b="11500"/>
          <a:stretch>
            <a:fillRect/>
          </a:stretch>
        </p:blipFill>
        <p:spPr>
          <a:xfrm>
            <a:off x="7223760" y="2375954"/>
            <a:ext cx="4480560" cy="2654731"/>
          </a:xfrm>
          <a:prstGeom prst="rect">
            <a:avLst/>
          </a:prstGeom>
        </p:spPr>
      </p:pic>
      <p:sp>
        <p:nvSpPr>
          <p:cNvPr id="18" name="TextBox 17"/>
          <p:cNvSpPr txBox="1"/>
          <p:nvPr/>
        </p:nvSpPr>
        <p:spPr>
          <a:xfrm>
            <a:off x="7223760" y="5687568"/>
            <a:ext cx="4480560" cy="411480"/>
          </a:xfrm>
          <a:prstGeom prst="rect">
            <a:avLst/>
          </a:prstGeom>
          <a:noFill/>
        </p:spPr>
        <p:txBody>
          <a:bodyPr wrap="square" lIns="0" rIns="0" tIns="0" bIns="0">
            <a:spAutoFit/>
          </a:bodyPr>
          <a:lstStyle/>
          <a:p>
            <a:pPr algn="r">
              <a:lnSpc>
                <a:spcPct val="108000"/>
              </a:lnSpc>
              <a:spcBef>
                <a:spcPts val="0"/>
              </a:spcBef>
              <a:spcAft>
                <a:spcPts val="300"/>
              </a:spcAft>
            </a:pPr>
            <a:r>
              <a:rPr sz="1600" b="0">
                <a:solidFill>
                  <a:srgbClr val="617386"/>
                </a:solidFill>
                <a:latin typeface="Liberation Sans"/>
              </a:rPr>
              <a:t>Symbiosis Institute of Technology,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OUTLINE</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Presentation outline</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College presentation structure adapted to the VOLLEY study</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02 / 17</a:t>
            </a:r>
          </a:p>
        </p:txBody>
      </p:sp>
      <p:sp>
        <p:nvSpPr>
          <p:cNvPr id="9" name="Rectangle 8"/>
          <p:cNvSpPr/>
          <p:nvPr/>
        </p:nvSpPr>
        <p:spPr>
          <a:xfrm>
            <a:off x="594360" y="1508760"/>
            <a:ext cx="10972800" cy="859536"/>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45919"/>
            <a:ext cx="4206240" cy="402336"/>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01  Motivation and prior work</a:t>
            </a:r>
          </a:p>
        </p:txBody>
      </p:sp>
      <p:sp>
        <p:nvSpPr>
          <p:cNvPr id="11" name="TextBox 10"/>
          <p:cNvSpPr txBox="1"/>
          <p:nvPr/>
        </p:nvSpPr>
        <p:spPr>
          <a:xfrm>
            <a:off x="4983480" y="1700784"/>
            <a:ext cx="6355080" cy="475488"/>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617386"/>
                </a:solidFill>
                <a:latin typeface="Liberation Sans"/>
              </a:rPr>
              <a:t>Introduction, literature, research gap and objectives</a:t>
            </a:r>
          </a:p>
        </p:txBody>
      </p:sp>
      <p:sp>
        <p:nvSpPr>
          <p:cNvPr id="12" name="Rectangle 11"/>
          <p:cNvSpPr/>
          <p:nvPr/>
        </p:nvSpPr>
        <p:spPr>
          <a:xfrm>
            <a:off x="594360" y="2587752"/>
            <a:ext cx="10972800" cy="859536"/>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724912"/>
            <a:ext cx="4206240" cy="402336"/>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02  Method and progress</a:t>
            </a:r>
          </a:p>
        </p:txBody>
      </p:sp>
      <p:sp>
        <p:nvSpPr>
          <p:cNvPr id="14" name="TextBox 13"/>
          <p:cNvSpPr txBox="1"/>
          <p:nvPr/>
        </p:nvSpPr>
        <p:spPr>
          <a:xfrm>
            <a:off x="4983480" y="2779776"/>
            <a:ext cx="6355080" cy="475488"/>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617386"/>
                </a:solidFill>
                <a:latin typeface="Liberation Sans"/>
              </a:rPr>
              <a:t>Controlled configuration and dependent numerical models</a:t>
            </a:r>
          </a:p>
        </p:txBody>
      </p:sp>
      <p:sp>
        <p:nvSpPr>
          <p:cNvPr id="15" name="Rectangle 14"/>
          <p:cNvSpPr/>
          <p:nvPr/>
        </p:nvSpPr>
        <p:spPr>
          <a:xfrm>
            <a:off x="594360" y="3666744"/>
            <a:ext cx="10972800" cy="859536"/>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803904"/>
            <a:ext cx="4206240" cy="402336"/>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03  Mechanism and results</a:t>
            </a:r>
          </a:p>
        </p:txBody>
      </p:sp>
      <p:sp>
        <p:nvSpPr>
          <p:cNvPr id="17" name="TextBox 16"/>
          <p:cNvSpPr txBox="1"/>
          <p:nvPr/>
        </p:nvSpPr>
        <p:spPr>
          <a:xfrm>
            <a:off x="4983480" y="3858768"/>
            <a:ext cx="6355080" cy="475488"/>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617386"/>
                </a:solidFill>
                <a:latin typeface="Liberation Sans"/>
              </a:rPr>
              <a:t>Payload custody, finite motor, source, structure and mission</a:t>
            </a:r>
          </a:p>
        </p:txBody>
      </p:sp>
      <p:sp>
        <p:nvSpPr>
          <p:cNvPr id="18" name="Rectangle 17"/>
          <p:cNvSpPr/>
          <p:nvPr/>
        </p:nvSpPr>
        <p:spPr>
          <a:xfrm>
            <a:off x="594360" y="4745736"/>
            <a:ext cx="10972800" cy="859536"/>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882896"/>
            <a:ext cx="4206240" cy="402336"/>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04  Conclusions and next steps</a:t>
            </a:r>
          </a:p>
        </p:txBody>
      </p:sp>
      <p:sp>
        <p:nvSpPr>
          <p:cNvPr id="20" name="TextBox 19"/>
          <p:cNvSpPr txBox="1"/>
          <p:nvPr/>
        </p:nvSpPr>
        <p:spPr>
          <a:xfrm>
            <a:off x="4983480" y="4937759"/>
            <a:ext cx="6355080" cy="475488"/>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617386"/>
                </a:solidFill>
                <a:latin typeface="Liberation Sans"/>
              </a:rPr>
              <a:t>Study outcome, Gen6 prototype and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INTRODUCTION</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Commanded release adds a local delivery variable</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JAXA deployment ICD; Cal Poly CDS Rev. 14.1; Foster et al. (2018); Vallado (2013)</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03 / 17</a:t>
            </a:r>
          </a:p>
        </p:txBody>
      </p:sp>
      <p:sp>
        <p:nvSpPr>
          <p:cNvPr id="9" name="Rectangle 8"/>
          <p:cNvSpPr/>
          <p:nvPr/>
        </p:nvSpPr>
        <p:spPr>
          <a:xfrm>
            <a:off x="594360" y="1417320"/>
            <a:ext cx="4892040" cy="452628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45920"/>
            <a:ext cx="4480560" cy="320040"/>
          </a:xfrm>
          <a:prstGeom prst="rect">
            <a:avLst/>
          </a:prstGeom>
          <a:noFill/>
        </p:spPr>
        <p:txBody>
          <a:bodyPr wrap="square" lIns="0" rIns="0" tIns="0" bIns="0">
            <a:spAutoFit/>
          </a:bodyPr>
          <a:lstStyle/>
          <a:p>
            <a:pPr algn="l">
              <a:lnSpc>
                <a:spcPct val="108000"/>
              </a:lnSpc>
              <a:spcBef>
                <a:spcPts val="0"/>
              </a:spcBef>
              <a:spcAft>
                <a:spcPts val="300"/>
              </a:spcAft>
            </a:pPr>
            <a:r>
              <a:rPr sz="1500" b="1">
                <a:solidFill>
                  <a:srgbClr val="A9683D"/>
                </a:solidFill>
                <a:latin typeface="Liberation Sans"/>
              </a:rPr>
              <a:t>DEPLOYMENT EVENT - SCHEMATIC</a:t>
            </a:r>
          </a:p>
        </p:txBody>
      </p:sp>
      <p:sp>
        <p:nvSpPr>
          <p:cNvPr id="11" name="Oval 10"/>
          <p:cNvSpPr/>
          <p:nvPr/>
        </p:nvSpPr>
        <p:spPr>
          <a:xfrm>
            <a:off x="1124712" y="2395728"/>
            <a:ext cx="2514600" cy="2514600"/>
          </a:xfrm>
          <a:prstGeom prst="ellipse">
            <a:avLst/>
          </a:prstGeom>
          <a:solidFill>
            <a:srgbClr val="E4EDF5"/>
          </a:solidFill>
          <a:ln>
            <a:solidFill>
              <a:srgbClr val="CF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19" y="3429000"/>
            <a:ext cx="1051560" cy="365760"/>
          </a:xfrm>
          <a:prstGeom prst="rect">
            <a:avLst/>
          </a:prstGeom>
          <a:noFill/>
        </p:spPr>
        <p:txBody>
          <a:bodyPr wrap="square" lIns="0" rIns="0" tIns="0" bIns="0">
            <a:spAutoFit/>
          </a:bodyPr>
          <a:lstStyle/>
          <a:p>
            <a:pPr algn="ctr">
              <a:lnSpc>
                <a:spcPct val="108000"/>
              </a:lnSpc>
              <a:spcBef>
                <a:spcPts val="0"/>
              </a:spcBef>
              <a:spcAft>
                <a:spcPts val="300"/>
              </a:spcAft>
            </a:pPr>
            <a:r>
              <a:rPr sz="2100" b="0">
                <a:solidFill>
                  <a:srgbClr val="617386"/>
                </a:solidFill>
                <a:latin typeface="Liberation Sans"/>
              </a:rPr>
              <a:t>Earth</a:t>
            </a:r>
          </a:p>
        </p:txBody>
      </p:sp>
      <p:sp>
        <p:nvSpPr>
          <p:cNvPr id="13" name="Rectangle 12"/>
          <p:cNvSpPr/>
          <p:nvPr/>
        </p:nvSpPr>
        <p:spPr>
          <a:xfrm>
            <a:off x="3977639" y="2450592"/>
            <a:ext cx="548640" cy="384048"/>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2194560"/>
            <a:ext cx="201168" cy="20116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535424" y="2532888"/>
            <a:ext cx="530352" cy="0"/>
          </a:xfrm>
          <a:prstGeom prst="line">
            <a:avLst/>
          </a:prstGeom>
          <a:ln w="27940">
            <a:solidFill>
              <a:srgbClr val="A9683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31920" y="2971800"/>
            <a:ext cx="1097280" cy="320040"/>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102A43"/>
                </a:solidFill>
                <a:latin typeface="Liberation Sans"/>
              </a:rPr>
              <a:t>Host</a:t>
            </a:r>
          </a:p>
        </p:txBody>
      </p:sp>
      <p:sp>
        <p:nvSpPr>
          <p:cNvPr id="17" name="TextBox 16"/>
          <p:cNvSpPr txBox="1"/>
          <p:nvPr/>
        </p:nvSpPr>
        <p:spPr>
          <a:xfrm>
            <a:off x="4251960" y="3520440"/>
            <a:ext cx="914400"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A9683D"/>
                </a:solidFill>
                <a:latin typeface="Liberation Sans"/>
              </a:rPr>
              <a:t>Relative</a:t>
            </a:r>
          </a:p>
          <a:p>
            <a:pPr algn="l">
              <a:lnSpc>
                <a:spcPct val="108000"/>
              </a:lnSpc>
              <a:spcBef>
                <a:spcPts val="0"/>
              </a:spcBef>
              <a:spcAft>
                <a:spcPts val="300"/>
              </a:spcAft>
            </a:pPr>
            <a:r>
              <a:rPr sz="1700" b="0">
                <a:solidFill>
                  <a:srgbClr val="A9683D"/>
                </a:solidFill>
                <a:latin typeface="Liberation Sans"/>
              </a:rPr>
              <a:t>release</a:t>
            </a:r>
          </a:p>
        </p:txBody>
      </p:sp>
      <p:sp>
        <p:nvSpPr>
          <p:cNvPr id="18" name="TextBox 17"/>
          <p:cNvSpPr txBox="1"/>
          <p:nvPr/>
        </p:nvSpPr>
        <p:spPr>
          <a:xfrm>
            <a:off x="822960" y="5285232"/>
            <a:ext cx="4389120" cy="411480"/>
          </a:xfrm>
          <a:prstGeom prst="rect">
            <a:avLst/>
          </a:prstGeom>
          <a:noFill/>
        </p:spPr>
        <p:txBody>
          <a:bodyPr wrap="square" lIns="0" rIns="0" tIns="0" bIns="0">
            <a:spAutoFit/>
          </a:bodyPr>
          <a:lstStyle/>
          <a:p>
            <a:pPr algn="l">
              <a:lnSpc>
                <a:spcPct val="108000"/>
              </a:lnSpc>
              <a:spcBef>
                <a:spcPts val="0"/>
              </a:spcBef>
              <a:spcAft>
                <a:spcPts val="300"/>
              </a:spcAft>
            </a:pPr>
            <a:r>
              <a:rPr sz="1300" b="0">
                <a:solidFill>
                  <a:srgbClr val="617386"/>
                </a:solidFill>
                <a:latin typeface="Liberation Sans"/>
              </a:rPr>
              <a:t>Concept only; arrows are not to scale.</a:t>
            </a:r>
          </a:p>
        </p:txBody>
      </p:sp>
      <p:sp>
        <p:nvSpPr>
          <p:cNvPr id="19" name="TextBox 18"/>
          <p:cNvSpPr txBox="1"/>
          <p:nvPr/>
        </p:nvSpPr>
        <p:spPr>
          <a:xfrm>
            <a:off x="5989320" y="1682496"/>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A9683D"/>
                </a:solidFill>
                <a:latin typeface="Liberation Sans"/>
              </a:rPr>
              <a:t>•</a:t>
            </a:r>
          </a:p>
        </p:txBody>
      </p:sp>
      <p:sp>
        <p:nvSpPr>
          <p:cNvPr id="20" name="TextBox 19"/>
          <p:cNvSpPr txBox="1"/>
          <p:nvPr/>
        </p:nvSpPr>
        <p:spPr>
          <a:xfrm>
            <a:off x="6263640" y="1682496"/>
            <a:ext cx="5303520" cy="1088136"/>
          </a:xfrm>
          <a:prstGeom prst="rect">
            <a:avLst/>
          </a:prstGeom>
          <a:noFill/>
        </p:spPr>
        <p:txBody>
          <a:bodyPr wrap="square" lIns="0" rIns="0" tIns="0" bIns="0">
            <a:spAutoFit/>
          </a:bodyPr>
          <a:lstStyle/>
          <a:p>
            <a:pPr algn="l">
              <a:lnSpc>
                <a:spcPct val="108000"/>
              </a:lnSpc>
              <a:spcBef>
                <a:spcPts val="0"/>
              </a:spcBef>
              <a:spcAft>
                <a:spcPts val="300"/>
              </a:spcAft>
            </a:pPr>
            <a:r>
              <a:rPr sz="2200" b="0">
                <a:solidFill>
                  <a:srgbClr val="26384B"/>
                </a:solidFill>
                <a:latin typeface="Liberation Sans"/>
              </a:rPr>
              <a:t>Host manoeuvres establish the carrier state.</a:t>
            </a:r>
          </a:p>
        </p:txBody>
      </p:sp>
      <p:sp>
        <p:nvSpPr>
          <p:cNvPr id="21" name="TextBox 20"/>
          <p:cNvSpPr txBox="1"/>
          <p:nvPr/>
        </p:nvSpPr>
        <p:spPr>
          <a:xfrm>
            <a:off x="5989320" y="2843784"/>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A9683D"/>
                </a:solidFill>
                <a:latin typeface="Liberation Sans"/>
              </a:rPr>
              <a:t>•</a:t>
            </a:r>
          </a:p>
        </p:txBody>
      </p:sp>
      <p:sp>
        <p:nvSpPr>
          <p:cNvPr id="22" name="TextBox 21"/>
          <p:cNvSpPr txBox="1"/>
          <p:nvPr/>
        </p:nvSpPr>
        <p:spPr>
          <a:xfrm>
            <a:off x="6263640" y="2843784"/>
            <a:ext cx="5303520" cy="1088136"/>
          </a:xfrm>
          <a:prstGeom prst="rect">
            <a:avLst/>
          </a:prstGeom>
          <a:noFill/>
        </p:spPr>
        <p:txBody>
          <a:bodyPr wrap="square" lIns="0" rIns="0" tIns="0" bIns="0">
            <a:spAutoFit/>
          </a:bodyPr>
          <a:lstStyle/>
          <a:p>
            <a:pPr algn="l">
              <a:lnSpc>
                <a:spcPct val="108000"/>
              </a:lnSpc>
              <a:spcBef>
                <a:spcPts val="0"/>
              </a:spcBef>
              <a:spcAft>
                <a:spcPts val="300"/>
              </a:spcAft>
            </a:pPr>
            <a:r>
              <a:rPr sz="2200" b="0">
                <a:solidFill>
                  <a:srgbClr val="26384B"/>
                </a:solidFill>
                <a:latin typeface="Liberation Sans"/>
              </a:rPr>
              <a:t>A release command changes the payload initial condition relative to the host.</a:t>
            </a:r>
          </a:p>
        </p:txBody>
      </p:sp>
      <p:sp>
        <p:nvSpPr>
          <p:cNvPr id="23" name="TextBox 22"/>
          <p:cNvSpPr txBox="1"/>
          <p:nvPr/>
        </p:nvSpPr>
        <p:spPr>
          <a:xfrm>
            <a:off x="5989320" y="4005072"/>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A9683D"/>
                </a:solidFill>
                <a:latin typeface="Liberation Sans"/>
              </a:rPr>
              <a:t>•</a:t>
            </a:r>
          </a:p>
        </p:txBody>
      </p:sp>
      <p:sp>
        <p:nvSpPr>
          <p:cNvPr id="24" name="TextBox 23"/>
          <p:cNvSpPr txBox="1"/>
          <p:nvPr/>
        </p:nvSpPr>
        <p:spPr>
          <a:xfrm>
            <a:off x="6263640" y="4005072"/>
            <a:ext cx="5303520" cy="1088136"/>
          </a:xfrm>
          <a:prstGeom prst="rect">
            <a:avLst/>
          </a:prstGeom>
          <a:noFill/>
        </p:spPr>
        <p:txBody>
          <a:bodyPr wrap="square" lIns="0" rIns="0" tIns="0" bIns="0">
            <a:spAutoFit/>
          </a:bodyPr>
          <a:lstStyle/>
          <a:p>
            <a:pPr algn="l">
              <a:lnSpc>
                <a:spcPct val="108000"/>
              </a:lnSpc>
              <a:spcBef>
                <a:spcPts val="0"/>
              </a:spcBef>
              <a:spcAft>
                <a:spcPts val="300"/>
              </a:spcAft>
            </a:pPr>
            <a:r>
              <a:rPr sz="2200" b="0">
                <a:solidFill>
                  <a:srgbClr val="26384B"/>
                </a:solidFill>
                <a:latin typeface="Liberation Sans"/>
              </a:rPr>
              <a:t>Retention, guidance, arrest and host recoil complete the system boundary.</a:t>
            </a:r>
          </a:p>
        </p:txBody>
      </p:sp>
      <p:sp>
        <p:nvSpPr>
          <p:cNvPr id="25" name="TextBox 24"/>
          <p:cNvSpPr txBox="1"/>
          <p:nvPr/>
        </p:nvSpPr>
        <p:spPr>
          <a:xfrm>
            <a:off x="6263640" y="5358384"/>
            <a:ext cx="5029200" cy="320040"/>
          </a:xfrm>
          <a:prstGeom prst="rect">
            <a:avLst/>
          </a:prstGeom>
          <a:noFill/>
        </p:spPr>
        <p:txBody>
          <a:bodyPr wrap="square" lIns="0" rIns="0" tIns="0" bIns="0">
            <a:spAutoFit/>
          </a:bodyPr>
          <a:lstStyle/>
          <a:p>
            <a:pPr algn="l">
              <a:lnSpc>
                <a:spcPct val="108000"/>
              </a:lnSpc>
              <a:spcBef>
                <a:spcPts val="0"/>
              </a:spcBef>
              <a:spcAft>
                <a:spcPts val="300"/>
              </a:spcAft>
            </a:pPr>
            <a:r>
              <a:rPr sz="1500" b="1">
                <a:solidFill>
                  <a:srgbClr val="A9683D"/>
                </a:solidFill>
                <a:latin typeface="Liberation Sans"/>
              </a:rPr>
              <a:t>Research question</a:t>
            </a:r>
          </a:p>
        </p:txBody>
      </p:sp>
      <p:sp>
        <p:nvSpPr>
          <p:cNvPr id="26" name="TextBox 25"/>
          <p:cNvSpPr txBox="1"/>
          <p:nvPr/>
        </p:nvSpPr>
        <p:spPr>
          <a:xfrm>
            <a:off x="6263640" y="5650992"/>
            <a:ext cx="4937760" cy="603504"/>
          </a:xfrm>
          <a:prstGeom prst="rect">
            <a:avLst/>
          </a:prstGeom>
          <a:noFill/>
        </p:spPr>
        <p:txBody>
          <a:bodyPr wrap="square" lIns="0" rIns="0" tIns="0" bIns="0">
            <a:spAutoFit/>
          </a:bodyPr>
          <a:lstStyle/>
          <a:p>
            <a:pPr algn="l">
              <a:lnSpc>
                <a:spcPct val="108000"/>
              </a:lnSpc>
              <a:spcBef>
                <a:spcPts val="0"/>
              </a:spcBef>
              <a:spcAft>
                <a:spcPts val="300"/>
              </a:spcAft>
            </a:pPr>
            <a:r>
              <a:rPr sz="1900" b="1">
                <a:solidFill>
                  <a:srgbClr val="102A43"/>
                </a:solidFill>
                <a:latin typeface="Liberation Sans"/>
              </a:rPr>
              <a:t>Can a twelve-payload system complete a</a:t>
            </a:r>
          </a:p>
          <a:p>
            <a:pPr algn="l">
              <a:lnSpc>
                <a:spcPct val="108000"/>
              </a:lnSpc>
              <a:spcBef>
                <a:spcPts val="0"/>
              </a:spcBef>
              <a:spcAft>
                <a:spcPts val="300"/>
              </a:spcAft>
            </a:pPr>
            <a:r>
              <a:rPr sz="1900" b="1">
                <a:solidFill>
                  <a:srgbClr val="102A43"/>
                </a:solidFill>
                <a:latin typeface="Liberation Sans"/>
              </a:rPr>
              <a:t>coupled, reusable deployment cycle?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LITERATURE REVIEW</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Prior work establishes the mechanisms and comparison context</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Zhao et al. (2022, 2025); Feng et al. (2025); Halbach (1980); Yamaguchi &amp; Morishita (2023)</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04 / 17</a:t>
            </a:r>
          </a:p>
        </p:txBody>
      </p:sp>
      <p:sp>
        <p:nvSpPr>
          <p:cNvPr id="9" name="Rectangle 8"/>
          <p:cNvSpPr/>
          <p:nvPr/>
        </p:nvSpPr>
        <p:spPr>
          <a:xfrm>
            <a:off x="594360" y="1481328"/>
            <a:ext cx="2788920" cy="8046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91056"/>
            <a:ext cx="2587751" cy="658368"/>
          </a:xfrm>
          <a:prstGeom prst="rect">
            <a:avLst/>
          </a:prstGeom>
          <a:noFill/>
        </p:spPr>
        <p:txBody>
          <a:bodyPr wrap="square" lIns="0" rIns="0" tIns="0" bIns="0">
            <a:spAutoFit/>
          </a:bodyPr>
          <a:lstStyle/>
          <a:p>
            <a:pPr algn="l">
              <a:lnSpc>
                <a:spcPct val="108000"/>
              </a:lnSpc>
              <a:spcBef>
                <a:spcPts val="0"/>
              </a:spcBef>
              <a:spcAft>
                <a:spcPts val="300"/>
              </a:spcAft>
            </a:pPr>
            <a:r>
              <a:rPr sz="1700" b="1">
                <a:solidFill>
                  <a:srgbClr val="FFFFFF"/>
                </a:solidFill>
                <a:latin typeface="Liberation Sans"/>
              </a:rPr>
              <a:t>Published work</a:t>
            </a:r>
          </a:p>
        </p:txBody>
      </p:sp>
      <p:sp>
        <p:nvSpPr>
          <p:cNvPr id="11" name="Rectangle 10"/>
          <p:cNvSpPr/>
          <p:nvPr/>
        </p:nvSpPr>
        <p:spPr>
          <a:xfrm>
            <a:off x="3383279" y="1481328"/>
            <a:ext cx="4096512" cy="8046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1591056"/>
            <a:ext cx="3895344" cy="658368"/>
          </a:xfrm>
          <a:prstGeom prst="rect">
            <a:avLst/>
          </a:prstGeom>
          <a:noFill/>
        </p:spPr>
        <p:txBody>
          <a:bodyPr wrap="square" lIns="0" rIns="0" tIns="0" bIns="0">
            <a:spAutoFit/>
          </a:bodyPr>
          <a:lstStyle/>
          <a:p>
            <a:pPr algn="l">
              <a:lnSpc>
                <a:spcPct val="108000"/>
              </a:lnSpc>
              <a:spcBef>
                <a:spcPts val="0"/>
              </a:spcBef>
              <a:spcAft>
                <a:spcPts val="300"/>
              </a:spcAft>
            </a:pPr>
            <a:r>
              <a:rPr sz="1700" b="1">
                <a:solidFill>
                  <a:srgbClr val="FFFFFF"/>
                </a:solidFill>
                <a:latin typeface="Liberation Sans"/>
              </a:rPr>
              <a:t>Evidence / interface</a:t>
            </a:r>
          </a:p>
        </p:txBody>
      </p:sp>
      <p:sp>
        <p:nvSpPr>
          <p:cNvPr id="13" name="Rectangle 12"/>
          <p:cNvSpPr/>
          <p:nvPr/>
        </p:nvSpPr>
        <p:spPr>
          <a:xfrm>
            <a:off x="7479792" y="1481328"/>
            <a:ext cx="4114800" cy="80467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591056"/>
            <a:ext cx="3913632" cy="658368"/>
          </a:xfrm>
          <a:prstGeom prst="rect">
            <a:avLst/>
          </a:prstGeom>
          <a:noFill/>
        </p:spPr>
        <p:txBody>
          <a:bodyPr wrap="square" lIns="0" rIns="0" tIns="0" bIns="0">
            <a:spAutoFit/>
          </a:bodyPr>
          <a:lstStyle/>
          <a:p>
            <a:pPr algn="l">
              <a:lnSpc>
                <a:spcPct val="108000"/>
              </a:lnSpc>
              <a:spcBef>
                <a:spcPts val="0"/>
              </a:spcBef>
              <a:spcAft>
                <a:spcPts val="300"/>
              </a:spcAft>
            </a:pPr>
            <a:r>
              <a:rPr sz="1700" b="1">
                <a:solidFill>
                  <a:srgbClr val="FFFFFF"/>
                </a:solidFill>
                <a:latin typeface="Liberation Sans"/>
              </a:rPr>
              <a:t>Implication for VOLLEY</a:t>
            </a:r>
          </a:p>
        </p:txBody>
      </p:sp>
      <p:sp>
        <p:nvSpPr>
          <p:cNvPr id="15" name="Rectangle 14"/>
          <p:cNvSpPr/>
          <p:nvPr/>
        </p:nvSpPr>
        <p:spPr>
          <a:xfrm>
            <a:off x="594360" y="2286000"/>
            <a:ext cx="2788920"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2386584"/>
            <a:ext cx="2587751"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Zhao et al., 2022</a:t>
            </a:r>
          </a:p>
          <a:p>
            <a:pPr algn="l">
              <a:lnSpc>
                <a:spcPct val="108000"/>
              </a:lnSpc>
              <a:spcBef>
                <a:spcPts val="0"/>
              </a:spcBef>
              <a:spcAft>
                <a:spcPts val="300"/>
              </a:spcAft>
            </a:pPr>
            <a:r>
              <a:rPr sz="1700" b="0">
                <a:solidFill>
                  <a:srgbClr val="26384B"/>
                </a:solidFill>
                <a:latin typeface="Liberation Sans"/>
              </a:rPr>
              <a:t>Stacked EM deployment</a:t>
            </a:r>
          </a:p>
        </p:txBody>
      </p:sp>
      <p:sp>
        <p:nvSpPr>
          <p:cNvPr id="17" name="Rectangle 16"/>
          <p:cNvSpPr/>
          <p:nvPr/>
        </p:nvSpPr>
        <p:spPr>
          <a:xfrm>
            <a:off x="3383279" y="2286000"/>
            <a:ext cx="4096512"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386584"/>
            <a:ext cx="3895344"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Gravity-compensated tests;</a:t>
            </a:r>
          </a:p>
          <a:p>
            <a:pPr algn="l">
              <a:lnSpc>
                <a:spcPct val="108000"/>
              </a:lnSpc>
              <a:spcBef>
                <a:spcPts val="0"/>
              </a:spcBef>
              <a:spcAft>
                <a:spcPts val="300"/>
              </a:spcAft>
            </a:pPr>
            <a:r>
              <a:rPr sz="1700" b="0">
                <a:solidFill>
                  <a:srgbClr val="26384B"/>
                </a:solidFill>
                <a:latin typeface="Liberation Sans"/>
              </a:rPr>
              <a:t>stacked CubeSat release</a:t>
            </a:r>
          </a:p>
        </p:txBody>
      </p:sp>
      <p:sp>
        <p:nvSpPr>
          <p:cNvPr id="19" name="Rectangle 18"/>
          <p:cNvSpPr/>
          <p:nvPr/>
        </p:nvSpPr>
        <p:spPr>
          <a:xfrm>
            <a:off x="7479792" y="2286000"/>
            <a:ext cx="4114800"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19" y="2386584"/>
            <a:ext cx="3913632"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Distinguish published measurements</a:t>
            </a:r>
          </a:p>
          <a:p>
            <a:pPr algn="l">
              <a:lnSpc>
                <a:spcPct val="108000"/>
              </a:lnSpc>
              <a:spcBef>
                <a:spcPts val="0"/>
              </a:spcBef>
              <a:spcAft>
                <a:spcPts val="300"/>
              </a:spcAft>
            </a:pPr>
            <a:r>
              <a:rPr sz="1700" b="0">
                <a:solidFill>
                  <a:srgbClr val="26384B"/>
                </a:solidFill>
                <a:latin typeface="Liberation Sans"/>
              </a:rPr>
              <a:t>from the present computational results.</a:t>
            </a:r>
          </a:p>
        </p:txBody>
      </p:sp>
      <p:sp>
        <p:nvSpPr>
          <p:cNvPr id="21" name="Rectangle 20"/>
          <p:cNvSpPr/>
          <p:nvPr/>
        </p:nvSpPr>
        <p:spPr>
          <a:xfrm>
            <a:off x="594360" y="3090672"/>
            <a:ext cx="278892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3191256"/>
            <a:ext cx="2587751"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Zhao et al., 2025</a:t>
            </a:r>
          </a:p>
          <a:p>
            <a:pPr algn="l">
              <a:lnSpc>
                <a:spcPct val="108000"/>
              </a:lnSpc>
              <a:spcBef>
                <a:spcPts val="0"/>
              </a:spcBef>
              <a:spcAft>
                <a:spcPts val="300"/>
              </a:spcAft>
            </a:pPr>
            <a:r>
              <a:rPr sz="1700" b="0">
                <a:solidFill>
                  <a:srgbClr val="26384B"/>
                </a:solidFill>
                <a:latin typeface="Liberation Sans"/>
              </a:rPr>
              <a:t>High-volume storage</a:t>
            </a:r>
          </a:p>
        </p:txBody>
      </p:sp>
      <p:sp>
        <p:nvSpPr>
          <p:cNvPr id="23" name="Rectangle 22"/>
          <p:cNvSpPr/>
          <p:nvPr/>
        </p:nvSpPr>
        <p:spPr>
          <a:xfrm>
            <a:off x="3383279" y="3090672"/>
            <a:ext cx="4096512"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93008" y="3191256"/>
            <a:ext cx="3895344"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Receiving guides and magnetic transfer;</a:t>
            </a:r>
          </a:p>
          <a:p>
            <a:pPr algn="l">
              <a:lnSpc>
                <a:spcPct val="108000"/>
              </a:lnSpc>
              <a:spcBef>
                <a:spcPts val="0"/>
              </a:spcBef>
              <a:spcAft>
                <a:spcPts val="300"/>
              </a:spcAft>
            </a:pPr>
            <a:r>
              <a:rPr sz="1700" b="0">
                <a:solidFill>
                  <a:srgbClr val="26384B"/>
                </a:solidFill>
                <a:latin typeface="Liberation Sans"/>
              </a:rPr>
              <a:t>payload grooves and iron patches</a:t>
            </a:r>
          </a:p>
        </p:txBody>
      </p:sp>
      <p:sp>
        <p:nvSpPr>
          <p:cNvPr id="25" name="Rectangle 24"/>
          <p:cNvSpPr/>
          <p:nvPr/>
        </p:nvSpPr>
        <p:spPr>
          <a:xfrm>
            <a:off x="7479792" y="3090672"/>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19" y="3191256"/>
            <a:ext cx="3913632"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Define the passive payload interface</a:t>
            </a:r>
          </a:p>
          <a:p>
            <a:pPr algn="l">
              <a:lnSpc>
                <a:spcPct val="108000"/>
              </a:lnSpc>
              <a:spcBef>
                <a:spcPts val="0"/>
              </a:spcBef>
              <a:spcAft>
                <a:spcPts val="300"/>
              </a:spcAft>
            </a:pPr>
            <a:r>
              <a:rPr sz="1700" b="0">
                <a:solidFill>
                  <a:srgbClr val="26384B"/>
                </a:solidFill>
                <a:latin typeface="Liberation Sans"/>
              </a:rPr>
              <a:t>and receiving custody explicitly.</a:t>
            </a:r>
          </a:p>
        </p:txBody>
      </p:sp>
      <p:sp>
        <p:nvSpPr>
          <p:cNvPr id="27" name="Rectangle 26"/>
          <p:cNvSpPr/>
          <p:nvPr/>
        </p:nvSpPr>
        <p:spPr>
          <a:xfrm>
            <a:off x="594360" y="3895344"/>
            <a:ext cx="2788920"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3995928"/>
            <a:ext cx="2587751"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Feng et al., 2025</a:t>
            </a:r>
          </a:p>
          <a:p>
            <a:pPr algn="l">
              <a:lnSpc>
                <a:spcPct val="108000"/>
              </a:lnSpc>
              <a:spcBef>
                <a:spcPts val="0"/>
              </a:spcBef>
              <a:spcAft>
                <a:spcPts val="300"/>
              </a:spcAft>
            </a:pPr>
            <a:r>
              <a:rPr sz="1700" b="0">
                <a:solidFill>
                  <a:srgbClr val="26384B"/>
                </a:solidFill>
                <a:latin typeface="Liberation Sans"/>
              </a:rPr>
              <a:t>EM reachable domain</a:t>
            </a:r>
          </a:p>
        </p:txBody>
      </p:sp>
      <p:sp>
        <p:nvSpPr>
          <p:cNvPr id="29" name="Rectangle 28"/>
          <p:cNvSpPr/>
          <p:nvPr/>
        </p:nvSpPr>
        <p:spPr>
          <a:xfrm>
            <a:off x="3383279" y="3895344"/>
            <a:ext cx="4096512"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93008" y="3995928"/>
            <a:ext cx="3895344"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Higher-speed launcher and</a:t>
            </a:r>
          </a:p>
          <a:p>
            <a:pPr algn="l">
              <a:lnSpc>
                <a:spcPct val="108000"/>
              </a:lnSpc>
              <a:spcBef>
                <a:spcPts val="0"/>
              </a:spcBef>
              <a:spcAft>
                <a:spcPts val="300"/>
              </a:spcAft>
            </a:pPr>
            <a:r>
              <a:rPr sz="1700" b="0">
                <a:solidFill>
                  <a:srgbClr val="26384B"/>
                </a:solidFill>
                <a:latin typeface="Liberation Sans"/>
              </a:rPr>
              <a:t>mission-domain analysis</a:t>
            </a:r>
          </a:p>
        </p:txBody>
      </p:sp>
      <p:sp>
        <p:nvSpPr>
          <p:cNvPr id="31" name="Rectangle 30"/>
          <p:cNvSpPr/>
          <p:nvPr/>
        </p:nvSpPr>
        <p:spPr>
          <a:xfrm>
            <a:off x="7479792" y="3895344"/>
            <a:ext cx="4114800" cy="804672"/>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19" y="3995928"/>
            <a:ext cx="3913632"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Couple the selected operating regime</a:t>
            </a:r>
          </a:p>
          <a:p>
            <a:pPr algn="l">
              <a:lnSpc>
                <a:spcPct val="108000"/>
              </a:lnSpc>
              <a:spcBef>
                <a:spcPts val="0"/>
              </a:spcBef>
              <a:spcAft>
                <a:spcPts val="300"/>
              </a:spcAft>
            </a:pPr>
            <a:r>
              <a:rPr sz="1700" b="0">
                <a:solidFill>
                  <a:srgbClr val="26384B"/>
                </a:solidFill>
                <a:latin typeface="Liberation Sans"/>
              </a:rPr>
              <a:t>to its energy and mission assumptions.</a:t>
            </a:r>
          </a:p>
        </p:txBody>
      </p:sp>
      <p:sp>
        <p:nvSpPr>
          <p:cNvPr id="33" name="Rectangle 32"/>
          <p:cNvSpPr/>
          <p:nvPr/>
        </p:nvSpPr>
        <p:spPr>
          <a:xfrm>
            <a:off x="594360" y="4700016"/>
            <a:ext cx="278892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4800600"/>
            <a:ext cx="2587751"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Halbach; finite-motor studies</a:t>
            </a:r>
          </a:p>
        </p:txBody>
      </p:sp>
      <p:sp>
        <p:nvSpPr>
          <p:cNvPr id="35" name="Rectangle 34"/>
          <p:cNvSpPr/>
          <p:nvPr/>
        </p:nvSpPr>
        <p:spPr>
          <a:xfrm>
            <a:off x="3383279" y="4700016"/>
            <a:ext cx="4096512"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93008" y="4800600"/>
            <a:ext cx="3895344"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Permanent-magnet field shaping</a:t>
            </a:r>
          </a:p>
          <a:p>
            <a:pPr algn="l">
              <a:lnSpc>
                <a:spcPct val="108000"/>
              </a:lnSpc>
              <a:spcBef>
                <a:spcPts val="0"/>
              </a:spcBef>
              <a:spcAft>
                <a:spcPts val="300"/>
              </a:spcAft>
            </a:pPr>
            <a:r>
              <a:rPr sz="1700" b="0">
                <a:solidFill>
                  <a:srgbClr val="26384B"/>
                </a:solidFill>
                <a:latin typeface="Liberation Sans"/>
              </a:rPr>
              <a:t>and longitudinal end effects</a:t>
            </a:r>
          </a:p>
        </p:txBody>
      </p:sp>
      <p:sp>
        <p:nvSpPr>
          <p:cNvPr id="37" name="Rectangle 36"/>
          <p:cNvSpPr/>
          <p:nvPr/>
        </p:nvSpPr>
        <p:spPr>
          <a:xfrm>
            <a:off x="7479792" y="4700016"/>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9519" y="4800600"/>
            <a:ext cx="3913632" cy="694944"/>
          </a:xfrm>
          <a:prstGeom prst="rect">
            <a:avLst/>
          </a:prstGeom>
          <a:noFill/>
        </p:spPr>
        <p:txBody>
          <a:bodyPr wrap="square" lIns="0" rIns="0" tIns="0" bIns="0">
            <a:spAutoFit/>
          </a:bodyPr>
          <a:lstStyle/>
          <a:p>
            <a:pPr algn="l">
              <a:lnSpc>
                <a:spcPct val="108000"/>
              </a:lnSpc>
              <a:spcBef>
                <a:spcPts val="0"/>
              </a:spcBef>
              <a:spcAft>
                <a:spcPts val="300"/>
              </a:spcAft>
            </a:pPr>
            <a:r>
              <a:rPr sz="1700" b="0">
                <a:solidFill>
                  <a:srgbClr val="26384B"/>
                </a:solidFill>
                <a:latin typeface="Liberation Sans"/>
              </a:rPr>
              <a:t>Use finite magnet and conductor</a:t>
            </a:r>
          </a:p>
          <a:p>
            <a:pPr algn="l">
              <a:lnSpc>
                <a:spcPct val="108000"/>
              </a:lnSpc>
              <a:spcBef>
                <a:spcPts val="0"/>
              </a:spcBef>
              <a:spcAft>
                <a:spcPts val="300"/>
              </a:spcAft>
            </a:pPr>
            <a:r>
              <a:rPr sz="1700" b="0">
                <a:solidFill>
                  <a:srgbClr val="26384B"/>
                </a:solidFill>
                <a:latin typeface="Liberation Sans"/>
              </a:rPr>
              <a:t>geometry at launch and arrest.</a:t>
            </a:r>
          </a:p>
        </p:txBody>
      </p:sp>
      <p:sp>
        <p:nvSpPr>
          <p:cNvPr id="39" name="TextBox 38"/>
          <p:cNvSpPr txBox="1"/>
          <p:nvPr/>
        </p:nvSpPr>
        <p:spPr>
          <a:xfrm>
            <a:off x="731520" y="5852160"/>
            <a:ext cx="10789920" cy="365760"/>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Study focus: integration and same-revision evaluation of a retained-carrier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RESEARCH GAP</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Research gap: closing the complete retained-carrier cycle</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Basis: literature synthesis and the defined Gen5 ACR1 system boundary</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05 / 17</a:t>
            </a:r>
          </a:p>
        </p:txBody>
      </p:sp>
      <p:sp>
        <p:nvSpPr>
          <p:cNvPr id="9" name="Rectangle 8"/>
          <p:cNvSpPr/>
          <p:nvPr/>
        </p:nvSpPr>
        <p:spPr>
          <a:xfrm>
            <a:off x="594360" y="1691640"/>
            <a:ext cx="3410712" cy="342900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691640"/>
            <a:ext cx="3410712" cy="6400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11680"/>
            <a:ext cx="2999232" cy="731520"/>
          </a:xfrm>
          <a:prstGeom prst="rect">
            <a:avLst/>
          </a:prstGeom>
          <a:noFill/>
        </p:spPr>
        <p:txBody>
          <a:bodyPr wrap="square" lIns="0" rIns="0" tIns="0" bIns="0">
            <a:spAutoFit/>
          </a:bodyPr>
          <a:lstStyle/>
          <a:p>
            <a:pPr algn="l">
              <a:lnSpc>
                <a:spcPct val="108000"/>
              </a:lnSpc>
              <a:spcBef>
                <a:spcPts val="0"/>
              </a:spcBef>
              <a:spcAft>
                <a:spcPts val="300"/>
              </a:spcAft>
            </a:pPr>
            <a:r>
              <a:rPr sz="2500" b="1">
                <a:solidFill>
                  <a:srgbClr val="102A43"/>
                </a:solidFill>
                <a:latin typeface="Liberation Sans"/>
              </a:rPr>
              <a:t>Who holds the payload?</a:t>
            </a:r>
          </a:p>
        </p:txBody>
      </p:sp>
      <p:sp>
        <p:nvSpPr>
          <p:cNvPr id="12" name="TextBox 11"/>
          <p:cNvSpPr txBox="1"/>
          <p:nvPr/>
        </p:nvSpPr>
        <p:spPr>
          <a:xfrm>
            <a:off x="795528" y="2999232"/>
            <a:ext cx="2999232" cy="1737360"/>
          </a:xfrm>
          <a:prstGeom prst="rect">
            <a:avLst/>
          </a:prstGeom>
          <a:noFill/>
        </p:spPr>
        <p:txBody>
          <a:bodyPr wrap="square" lIns="0" rIns="0" tIns="0" bIns="0">
            <a:spAutoFit/>
          </a:bodyPr>
          <a:lstStyle/>
          <a:p>
            <a:pPr algn="l">
              <a:lnSpc>
                <a:spcPct val="108000"/>
              </a:lnSpc>
              <a:spcBef>
                <a:spcPts val="0"/>
              </a:spcBef>
              <a:spcAft>
                <a:spcPts val="300"/>
              </a:spcAft>
            </a:pPr>
            <a:r>
              <a:rPr sz="2100" b="0">
                <a:solidFill>
                  <a:srgbClr val="26384B"/>
                </a:solidFill>
                <a:latin typeface="Liberation Sans"/>
              </a:rPr>
              <a:t>A complete custody path through cell opening, receiving, docking and commanded departure.</a:t>
            </a:r>
          </a:p>
        </p:txBody>
      </p:sp>
      <p:sp>
        <p:nvSpPr>
          <p:cNvPr id="13" name="Rectangle 12"/>
          <p:cNvSpPr/>
          <p:nvPr/>
        </p:nvSpPr>
        <p:spPr>
          <a:xfrm>
            <a:off x="4389120" y="1691640"/>
            <a:ext cx="3410712" cy="342900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691640"/>
            <a:ext cx="3410712" cy="6400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011680"/>
            <a:ext cx="2999232" cy="731520"/>
          </a:xfrm>
          <a:prstGeom prst="rect">
            <a:avLst/>
          </a:prstGeom>
          <a:noFill/>
        </p:spPr>
        <p:txBody>
          <a:bodyPr wrap="square" lIns="0" rIns="0" tIns="0" bIns="0">
            <a:spAutoFit/>
          </a:bodyPr>
          <a:lstStyle/>
          <a:p>
            <a:pPr algn="l">
              <a:lnSpc>
                <a:spcPct val="108000"/>
              </a:lnSpc>
              <a:spcBef>
                <a:spcPts val="0"/>
              </a:spcBef>
              <a:spcAft>
                <a:spcPts val="300"/>
              </a:spcAft>
            </a:pPr>
            <a:r>
              <a:rPr sz="2500" b="1">
                <a:solidFill>
                  <a:srgbClr val="102A43"/>
                </a:solidFill>
                <a:latin typeface="Liberation Sans"/>
              </a:rPr>
              <a:t>Can the source deliver it?</a:t>
            </a:r>
          </a:p>
        </p:txBody>
      </p:sp>
      <p:sp>
        <p:nvSpPr>
          <p:cNvPr id="16" name="TextBox 15"/>
          <p:cNvSpPr txBox="1"/>
          <p:nvPr/>
        </p:nvSpPr>
        <p:spPr>
          <a:xfrm>
            <a:off x="4590288" y="2999232"/>
            <a:ext cx="2999232" cy="1737360"/>
          </a:xfrm>
          <a:prstGeom prst="rect">
            <a:avLst/>
          </a:prstGeom>
          <a:noFill/>
        </p:spPr>
        <p:txBody>
          <a:bodyPr wrap="square" lIns="0" rIns="0" tIns="0" bIns="0">
            <a:spAutoFit/>
          </a:bodyPr>
          <a:lstStyle/>
          <a:p>
            <a:pPr algn="l">
              <a:lnSpc>
                <a:spcPct val="108000"/>
              </a:lnSpc>
              <a:spcBef>
                <a:spcPts val="0"/>
              </a:spcBef>
              <a:spcAft>
                <a:spcPts val="300"/>
              </a:spcAft>
            </a:pPr>
            <a:r>
              <a:rPr sz="2100" b="0">
                <a:solidFill>
                  <a:srgbClr val="26384B"/>
                </a:solidFill>
                <a:latin typeface="Liberation Sans"/>
              </a:rPr>
              <a:t>Finite force, actual moving mass, current dynamics and post-release arrest evaluated together.</a:t>
            </a:r>
          </a:p>
        </p:txBody>
      </p:sp>
      <p:sp>
        <p:nvSpPr>
          <p:cNvPr id="17" name="Rectangle 16"/>
          <p:cNvSpPr/>
          <p:nvPr/>
        </p:nvSpPr>
        <p:spPr>
          <a:xfrm>
            <a:off x="8183879" y="1691640"/>
            <a:ext cx="3410712" cy="342900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691640"/>
            <a:ext cx="3410712" cy="6400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2011680"/>
            <a:ext cx="2999232" cy="731520"/>
          </a:xfrm>
          <a:prstGeom prst="rect">
            <a:avLst/>
          </a:prstGeom>
          <a:noFill/>
        </p:spPr>
        <p:txBody>
          <a:bodyPr wrap="square" lIns="0" rIns="0" tIns="0" bIns="0">
            <a:spAutoFit/>
          </a:bodyPr>
          <a:lstStyle/>
          <a:p>
            <a:pPr algn="l">
              <a:lnSpc>
                <a:spcPct val="108000"/>
              </a:lnSpc>
              <a:spcBef>
                <a:spcPts val="0"/>
              </a:spcBef>
              <a:spcAft>
                <a:spcPts val="300"/>
              </a:spcAft>
            </a:pPr>
            <a:r>
              <a:rPr sz="2500" b="1">
                <a:solidFill>
                  <a:srgbClr val="102A43"/>
                </a:solidFill>
                <a:latin typeface="Liberation Sans"/>
              </a:rPr>
              <a:t>What does the host retain?</a:t>
            </a:r>
          </a:p>
        </p:txBody>
      </p:sp>
      <p:sp>
        <p:nvSpPr>
          <p:cNvPr id="20" name="TextBox 19"/>
          <p:cNvSpPr txBox="1"/>
          <p:nvPr/>
        </p:nvSpPr>
        <p:spPr>
          <a:xfrm>
            <a:off x="8385048" y="2999232"/>
            <a:ext cx="2999232" cy="1737360"/>
          </a:xfrm>
          <a:prstGeom prst="rect">
            <a:avLst/>
          </a:prstGeom>
          <a:noFill/>
        </p:spPr>
        <p:txBody>
          <a:bodyPr wrap="square" lIns="0" rIns="0" tIns="0" bIns="0">
            <a:spAutoFit/>
          </a:bodyPr>
          <a:lstStyle/>
          <a:p>
            <a:pPr algn="l">
              <a:lnSpc>
                <a:spcPct val="108000"/>
              </a:lnSpc>
              <a:spcBef>
                <a:spcPts val="0"/>
              </a:spcBef>
              <a:spcAft>
                <a:spcPts val="300"/>
              </a:spcAft>
            </a:pPr>
            <a:r>
              <a:rPr sz="2100" b="0">
                <a:solidFill>
                  <a:srgbClr val="26384B"/>
                </a:solidFill>
                <a:latin typeface="Liberation Sans"/>
              </a:rPr>
              <a:t>The reusable carrier, installed hardware, power allowance and recoil carried into mission comparison.</a:t>
            </a:r>
          </a:p>
        </p:txBody>
      </p:sp>
      <p:sp>
        <p:nvSpPr>
          <p:cNvPr id="21" name="TextBox 20"/>
          <p:cNvSpPr txBox="1"/>
          <p:nvPr/>
        </p:nvSpPr>
        <p:spPr>
          <a:xfrm>
            <a:off x="777240" y="5577840"/>
            <a:ext cx="10515600" cy="585216"/>
          </a:xfrm>
          <a:prstGeom prst="rect">
            <a:avLst/>
          </a:prstGeom>
          <a:noFill/>
        </p:spPr>
        <p:txBody>
          <a:bodyPr wrap="square" lIns="0" rIns="0" tIns="0" bIns="0">
            <a:spAutoFit/>
          </a:bodyPr>
          <a:lstStyle/>
          <a:p>
            <a:pPr algn="l">
              <a:lnSpc>
                <a:spcPct val="108000"/>
              </a:lnSpc>
              <a:spcBef>
                <a:spcPts val="0"/>
              </a:spcBef>
              <a:spcAft>
                <a:spcPts val="300"/>
              </a:spcAft>
            </a:pPr>
            <a:r>
              <a:rPr sz="2400" b="1">
                <a:solidFill>
                  <a:srgbClr val="102A43"/>
                </a:solidFill>
                <a:latin typeface="Liberation Sans"/>
              </a:rPr>
              <a:t>One controlled design links mechanical interfaces, electromechanics and mission resources.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OBJECTIVES</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Objectives and controlled reference requirements</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frozen CAD manifest; PARAMETERS.json; coupled operating-study definition</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06 / 17</a:t>
            </a:r>
          </a:p>
        </p:txBody>
      </p:sp>
      <p:sp>
        <p:nvSpPr>
          <p:cNvPr id="9" name="Rectangle 8"/>
          <p:cNvSpPr/>
          <p:nvPr/>
        </p:nvSpPr>
        <p:spPr>
          <a:xfrm>
            <a:off x="594360" y="1600200"/>
            <a:ext cx="5358384" cy="106070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600200"/>
            <a:ext cx="50292" cy="106070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709928"/>
            <a:ext cx="5084064" cy="438912"/>
          </a:xfrm>
          <a:prstGeom prst="rect">
            <a:avLst/>
          </a:prstGeom>
          <a:noFill/>
        </p:spPr>
        <p:txBody>
          <a:bodyPr wrap="square" lIns="0" rIns="0" tIns="0" bIns="0">
            <a:spAutoFit/>
          </a:bodyPr>
          <a:lstStyle/>
          <a:p>
            <a:pPr algn="l">
              <a:lnSpc>
                <a:spcPct val="108000"/>
              </a:lnSpc>
              <a:spcBef>
                <a:spcPts val="0"/>
              </a:spcBef>
              <a:spcAft>
                <a:spcPts val="300"/>
              </a:spcAft>
            </a:pPr>
            <a:r>
              <a:rPr sz="3300" b="1">
                <a:solidFill>
                  <a:srgbClr val="102A43"/>
                </a:solidFill>
                <a:latin typeface="Liberation Sans"/>
              </a:rPr>
              <a:t>12 × 4 kg</a:t>
            </a:r>
          </a:p>
        </p:txBody>
      </p:sp>
      <p:sp>
        <p:nvSpPr>
          <p:cNvPr id="12" name="TextBox 11"/>
          <p:cNvSpPr txBox="1"/>
          <p:nvPr/>
        </p:nvSpPr>
        <p:spPr>
          <a:xfrm>
            <a:off x="758952" y="2212848"/>
            <a:ext cx="5084064" cy="42976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Identical 3U envelope surrogates</a:t>
            </a:r>
          </a:p>
        </p:txBody>
      </p:sp>
      <p:sp>
        <p:nvSpPr>
          <p:cNvPr id="13" name="Rectangle 12"/>
          <p:cNvSpPr/>
          <p:nvPr/>
        </p:nvSpPr>
        <p:spPr>
          <a:xfrm>
            <a:off x="6236208" y="1600200"/>
            <a:ext cx="5358384" cy="106070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8" y="1600200"/>
            <a:ext cx="50292" cy="106070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09928"/>
            <a:ext cx="5084064" cy="438912"/>
          </a:xfrm>
          <a:prstGeom prst="rect">
            <a:avLst/>
          </a:prstGeom>
          <a:noFill/>
        </p:spPr>
        <p:txBody>
          <a:bodyPr wrap="square" lIns="0" rIns="0" tIns="0" bIns="0">
            <a:spAutoFit/>
          </a:bodyPr>
          <a:lstStyle/>
          <a:p>
            <a:pPr algn="l">
              <a:lnSpc>
                <a:spcPct val="108000"/>
              </a:lnSpc>
              <a:spcBef>
                <a:spcPts val="0"/>
              </a:spcBef>
              <a:spcAft>
                <a:spcPts val="300"/>
              </a:spcAft>
            </a:pPr>
            <a:r>
              <a:rPr sz="3300" b="1">
                <a:solidFill>
                  <a:srgbClr val="102A43"/>
                </a:solidFill>
                <a:latin typeface="Liberation Sans"/>
              </a:rPr>
              <a:t>1–3 m/s</a:t>
            </a:r>
          </a:p>
        </p:txBody>
      </p:sp>
      <p:sp>
        <p:nvSpPr>
          <p:cNvPr id="16" name="TextBox 15"/>
          <p:cNvSpPr txBox="1"/>
          <p:nvPr/>
        </p:nvSpPr>
        <p:spPr>
          <a:xfrm>
            <a:off x="6400800" y="2212848"/>
            <a:ext cx="5084064" cy="42976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Analysed commanded-speed cases</a:t>
            </a:r>
          </a:p>
        </p:txBody>
      </p:sp>
      <p:sp>
        <p:nvSpPr>
          <p:cNvPr id="17" name="Rectangle 16"/>
          <p:cNvSpPr/>
          <p:nvPr/>
        </p:nvSpPr>
        <p:spPr>
          <a:xfrm>
            <a:off x="594360" y="2953512"/>
            <a:ext cx="5358384" cy="106070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953512"/>
            <a:ext cx="50292" cy="106070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063240"/>
            <a:ext cx="5084064" cy="438912"/>
          </a:xfrm>
          <a:prstGeom prst="rect">
            <a:avLst/>
          </a:prstGeom>
          <a:noFill/>
        </p:spPr>
        <p:txBody>
          <a:bodyPr wrap="square" lIns="0" rIns="0" tIns="0" bIns="0">
            <a:spAutoFit/>
          </a:bodyPr>
          <a:lstStyle/>
          <a:p>
            <a:pPr algn="l">
              <a:lnSpc>
                <a:spcPct val="108000"/>
              </a:lnSpc>
              <a:spcBef>
                <a:spcPts val="0"/>
              </a:spcBef>
              <a:spcAft>
                <a:spcPts val="300"/>
              </a:spcAft>
            </a:pPr>
            <a:r>
              <a:rPr sz="3300" b="1">
                <a:solidFill>
                  <a:srgbClr val="102A43"/>
                </a:solidFill>
                <a:latin typeface="Liberation Sans"/>
              </a:rPr>
              <a:t>2250 mm</a:t>
            </a:r>
          </a:p>
        </p:txBody>
      </p:sp>
      <p:sp>
        <p:nvSpPr>
          <p:cNvPr id="20" name="TextBox 19"/>
          <p:cNvSpPr txBox="1"/>
          <p:nvPr/>
        </p:nvSpPr>
        <p:spPr>
          <a:xfrm>
            <a:off x="758952" y="3566160"/>
            <a:ext cx="5084064" cy="42976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Guide-rail allocation</a:t>
            </a:r>
          </a:p>
        </p:txBody>
      </p:sp>
      <p:sp>
        <p:nvSpPr>
          <p:cNvPr id="21" name="Rectangle 20"/>
          <p:cNvSpPr/>
          <p:nvPr/>
        </p:nvSpPr>
        <p:spPr>
          <a:xfrm>
            <a:off x="6236208" y="2953512"/>
            <a:ext cx="5358384" cy="106070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2953512"/>
            <a:ext cx="50292" cy="106070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63240"/>
            <a:ext cx="5084064" cy="438912"/>
          </a:xfrm>
          <a:prstGeom prst="rect">
            <a:avLst/>
          </a:prstGeom>
          <a:noFill/>
        </p:spPr>
        <p:txBody>
          <a:bodyPr wrap="square" lIns="0" rIns="0" tIns="0" bIns="0">
            <a:spAutoFit/>
          </a:bodyPr>
          <a:lstStyle/>
          <a:p>
            <a:pPr algn="l">
              <a:lnSpc>
                <a:spcPct val="108000"/>
              </a:lnSpc>
              <a:spcBef>
                <a:spcPts val="0"/>
              </a:spcBef>
              <a:spcAft>
                <a:spcPts val="300"/>
              </a:spcAft>
            </a:pPr>
            <a:r>
              <a:rPr sz="3300" b="1">
                <a:solidFill>
                  <a:srgbClr val="102A43"/>
                </a:solidFill>
                <a:latin typeface="Liberation Sans"/>
              </a:rPr>
              <a:t>210 mm</a:t>
            </a:r>
          </a:p>
        </p:txBody>
      </p:sp>
      <p:sp>
        <p:nvSpPr>
          <p:cNvPr id="24" name="TextBox 23"/>
          <p:cNvSpPr txBox="1"/>
          <p:nvPr/>
        </p:nvSpPr>
        <p:spPr>
          <a:xfrm>
            <a:off x="6400800" y="3566160"/>
            <a:ext cx="5084064" cy="42976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Post-release arrest allocation</a:t>
            </a:r>
          </a:p>
        </p:txBody>
      </p:sp>
      <p:sp>
        <p:nvSpPr>
          <p:cNvPr id="25" name="TextBox 24"/>
          <p:cNvSpPr txBox="1"/>
          <p:nvPr/>
        </p:nvSpPr>
        <p:spPr>
          <a:xfrm>
            <a:off x="749808" y="4498848"/>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A9683D"/>
                </a:solidFill>
                <a:latin typeface="Liberation Sans"/>
              </a:rPr>
              <a:t>•</a:t>
            </a:r>
          </a:p>
        </p:txBody>
      </p:sp>
      <p:sp>
        <p:nvSpPr>
          <p:cNvPr id="26" name="TextBox 25"/>
          <p:cNvSpPr txBox="1"/>
          <p:nvPr/>
        </p:nvSpPr>
        <p:spPr>
          <a:xfrm>
            <a:off x="1024127" y="4498848"/>
            <a:ext cx="10469880" cy="448055"/>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Define continuous payload custody and a reusable carrier cycle.</a:t>
            </a:r>
          </a:p>
        </p:txBody>
      </p:sp>
      <p:sp>
        <p:nvSpPr>
          <p:cNvPr id="27" name="TextBox 26"/>
          <p:cNvSpPr txBox="1"/>
          <p:nvPr/>
        </p:nvSpPr>
        <p:spPr>
          <a:xfrm>
            <a:off x="749808" y="5020056"/>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A9683D"/>
                </a:solidFill>
                <a:latin typeface="Liberation Sans"/>
              </a:rPr>
              <a:t>•</a:t>
            </a:r>
          </a:p>
        </p:txBody>
      </p:sp>
      <p:sp>
        <p:nvSpPr>
          <p:cNvPr id="28" name="TextBox 27"/>
          <p:cNvSpPr txBox="1"/>
          <p:nvPr/>
        </p:nvSpPr>
        <p:spPr>
          <a:xfrm>
            <a:off x="1024127" y="5020056"/>
            <a:ext cx="10469880" cy="448055"/>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Evaluate finite motor force with the represented winding and magnet geometry.</a:t>
            </a:r>
          </a:p>
        </p:txBody>
      </p:sp>
      <p:sp>
        <p:nvSpPr>
          <p:cNvPr id="29" name="TextBox 28"/>
          <p:cNvSpPr txBox="1"/>
          <p:nvPr/>
        </p:nvSpPr>
        <p:spPr>
          <a:xfrm>
            <a:off x="749808" y="5541264"/>
            <a:ext cx="182880" cy="320040"/>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A9683D"/>
                </a:solidFill>
                <a:latin typeface="Liberation Sans"/>
              </a:rPr>
              <a:t>•</a:t>
            </a:r>
          </a:p>
        </p:txBody>
      </p:sp>
      <p:sp>
        <p:nvSpPr>
          <p:cNvPr id="30" name="TextBox 29"/>
          <p:cNvSpPr txBox="1"/>
          <p:nvPr/>
        </p:nvSpPr>
        <p:spPr>
          <a:xfrm>
            <a:off x="1024127" y="5541264"/>
            <a:ext cx="10469880" cy="448055"/>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Couple source, release and arrest; assess structural and mission consequences.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RESEARCH METHODOLOGY</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Methodology follows the physical dependency chain</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engineering manifests; finite field/current models; STEP readback and reviewed 5 µs timestep-audit records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07 / 17</a:t>
            </a:r>
          </a:p>
        </p:txBody>
      </p:sp>
      <p:sp>
        <p:nvSpPr>
          <p:cNvPr id="9" name="Rectangle 8"/>
          <p:cNvSpPr/>
          <p:nvPr/>
        </p:nvSpPr>
        <p:spPr>
          <a:xfrm>
            <a:off x="594360"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1</a:t>
            </a:r>
          </a:p>
        </p:txBody>
      </p:sp>
      <p:sp>
        <p:nvSpPr>
          <p:cNvPr id="11" name="TextBox 10"/>
          <p:cNvSpPr txBox="1"/>
          <p:nvPr/>
        </p:nvSpPr>
        <p:spPr>
          <a:xfrm>
            <a:off x="731520"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Controlled CAD</a:t>
            </a:r>
          </a:p>
        </p:txBody>
      </p:sp>
      <p:sp>
        <p:nvSpPr>
          <p:cNvPr id="12" name="TextBox 11"/>
          <p:cNvSpPr txBox="1"/>
          <p:nvPr/>
        </p:nvSpPr>
        <p:spPr>
          <a:xfrm>
            <a:off x="731520"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Solids and</a:t>
            </a:r>
          </a:p>
          <a:p>
            <a:pPr algn="l">
              <a:lnSpc>
                <a:spcPct val="108000"/>
              </a:lnSpc>
              <a:spcBef>
                <a:spcPts val="0"/>
              </a:spcBef>
              <a:spcAft>
                <a:spcPts val="300"/>
              </a:spcAft>
            </a:pPr>
            <a:r>
              <a:rPr sz="1450" b="0">
                <a:solidFill>
                  <a:srgbClr val="617386"/>
                </a:solidFill>
                <a:latin typeface="Liberation Sans"/>
              </a:rPr>
              <a:t>custody states</a:t>
            </a:r>
          </a:p>
        </p:txBody>
      </p:sp>
      <p:cxnSp>
        <p:nvCxnSpPr>
          <p:cNvPr id="13" name="Connector 12"/>
          <p:cNvCxnSpPr/>
          <p:nvPr/>
        </p:nvCxnSpPr>
        <p:spPr>
          <a:xfrm>
            <a:off x="2331720" y="2834640"/>
            <a:ext cx="128016" cy="0"/>
          </a:xfrm>
          <a:prstGeom prst="line">
            <a:avLst/>
          </a:prstGeom>
          <a:ln w="25400">
            <a:solidFill>
              <a:srgbClr val="A9683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478024"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15184"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2</a:t>
            </a:r>
          </a:p>
        </p:txBody>
      </p:sp>
      <p:sp>
        <p:nvSpPr>
          <p:cNvPr id="16" name="TextBox 15"/>
          <p:cNvSpPr txBox="1"/>
          <p:nvPr/>
        </p:nvSpPr>
        <p:spPr>
          <a:xfrm>
            <a:off x="2615184"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Mass and inertia</a:t>
            </a:r>
          </a:p>
        </p:txBody>
      </p:sp>
      <p:sp>
        <p:nvSpPr>
          <p:cNvPr id="17" name="TextBox 16"/>
          <p:cNvSpPr txBox="1"/>
          <p:nvPr/>
        </p:nvSpPr>
        <p:spPr>
          <a:xfrm>
            <a:off x="2615184"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Solid ledger</a:t>
            </a:r>
          </a:p>
          <a:p>
            <a:pPr algn="l">
              <a:lnSpc>
                <a:spcPct val="108000"/>
              </a:lnSpc>
              <a:spcBef>
                <a:spcPts val="0"/>
              </a:spcBef>
              <a:spcAft>
                <a:spcPts val="300"/>
              </a:spcAft>
            </a:pPr>
            <a:r>
              <a:rPr sz="1450" b="0">
                <a:solidFill>
                  <a:srgbClr val="617386"/>
                </a:solidFill>
                <a:latin typeface="Liberation Sans"/>
              </a:rPr>
              <a:t>and allowances</a:t>
            </a:r>
          </a:p>
        </p:txBody>
      </p:sp>
      <p:cxnSp>
        <p:nvCxnSpPr>
          <p:cNvPr id="18" name="Connector 17"/>
          <p:cNvCxnSpPr/>
          <p:nvPr/>
        </p:nvCxnSpPr>
        <p:spPr>
          <a:xfrm>
            <a:off x="4215383" y="2834640"/>
            <a:ext cx="128017" cy="0"/>
          </a:xfrm>
          <a:prstGeom prst="line">
            <a:avLst/>
          </a:prstGeom>
          <a:ln w="25400">
            <a:solidFill>
              <a:srgbClr val="A9683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61688"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3</a:t>
            </a:r>
          </a:p>
        </p:txBody>
      </p:sp>
      <p:sp>
        <p:nvSpPr>
          <p:cNvPr id="21" name="TextBox 20"/>
          <p:cNvSpPr txBox="1"/>
          <p:nvPr/>
        </p:nvSpPr>
        <p:spPr>
          <a:xfrm>
            <a:off x="4498848"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Finite motor</a:t>
            </a:r>
          </a:p>
        </p:txBody>
      </p:sp>
      <p:sp>
        <p:nvSpPr>
          <p:cNvPr id="22" name="TextBox 21"/>
          <p:cNvSpPr txBox="1"/>
          <p:nvPr/>
        </p:nvSpPr>
        <p:spPr>
          <a:xfrm>
            <a:off x="4498848"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Field and</a:t>
            </a:r>
          </a:p>
          <a:p>
            <a:pPr algn="l">
              <a:lnSpc>
                <a:spcPct val="108000"/>
              </a:lnSpc>
              <a:spcBef>
                <a:spcPts val="0"/>
              </a:spcBef>
              <a:spcAft>
                <a:spcPts val="300"/>
              </a:spcAft>
            </a:pPr>
            <a:r>
              <a:rPr sz="1450" b="0">
                <a:solidFill>
                  <a:srgbClr val="617386"/>
                </a:solidFill>
                <a:latin typeface="Liberation Sans"/>
              </a:rPr>
              <a:t>current paths</a:t>
            </a:r>
          </a:p>
        </p:txBody>
      </p:sp>
      <p:cxnSp>
        <p:nvCxnSpPr>
          <p:cNvPr id="23" name="Connector 22"/>
          <p:cNvCxnSpPr/>
          <p:nvPr/>
        </p:nvCxnSpPr>
        <p:spPr>
          <a:xfrm>
            <a:off x="6099048" y="2834640"/>
            <a:ext cx="128016" cy="0"/>
          </a:xfrm>
          <a:prstGeom prst="line">
            <a:avLst/>
          </a:prstGeom>
          <a:ln w="25400">
            <a:solidFill>
              <a:srgbClr val="A9683D"/>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5352"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4</a:t>
            </a:r>
          </a:p>
        </p:txBody>
      </p:sp>
      <p:sp>
        <p:nvSpPr>
          <p:cNvPr id="26" name="TextBox 25"/>
          <p:cNvSpPr txBox="1"/>
          <p:nvPr/>
        </p:nvSpPr>
        <p:spPr>
          <a:xfrm>
            <a:off x="6382512"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Coupled shot</a:t>
            </a:r>
          </a:p>
        </p:txBody>
      </p:sp>
      <p:sp>
        <p:nvSpPr>
          <p:cNvPr id="27" name="TextBox 26"/>
          <p:cNvSpPr txBox="1"/>
          <p:nvPr/>
        </p:nvSpPr>
        <p:spPr>
          <a:xfrm>
            <a:off x="6382512"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Source and</a:t>
            </a:r>
          </a:p>
          <a:p>
            <a:pPr algn="l">
              <a:lnSpc>
                <a:spcPct val="108000"/>
              </a:lnSpc>
              <a:spcBef>
                <a:spcPts val="0"/>
              </a:spcBef>
              <a:spcAft>
                <a:spcPts val="300"/>
              </a:spcAft>
            </a:pPr>
            <a:r>
              <a:rPr sz="1450" b="0">
                <a:solidFill>
                  <a:srgbClr val="617386"/>
                </a:solidFill>
                <a:latin typeface="Liberation Sans"/>
              </a:rPr>
              <a:t>release/arrest</a:t>
            </a:r>
          </a:p>
        </p:txBody>
      </p:sp>
      <p:cxnSp>
        <p:nvCxnSpPr>
          <p:cNvPr id="28" name="Connector 27"/>
          <p:cNvCxnSpPr/>
          <p:nvPr/>
        </p:nvCxnSpPr>
        <p:spPr>
          <a:xfrm>
            <a:off x="7982712" y="2834640"/>
            <a:ext cx="128016" cy="0"/>
          </a:xfrm>
          <a:prstGeom prst="line">
            <a:avLst/>
          </a:prstGeom>
          <a:ln w="25400">
            <a:solidFill>
              <a:srgbClr val="A9683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129016"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6"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5</a:t>
            </a:r>
          </a:p>
        </p:txBody>
      </p:sp>
      <p:sp>
        <p:nvSpPr>
          <p:cNvPr id="31" name="TextBox 30"/>
          <p:cNvSpPr txBox="1"/>
          <p:nvPr/>
        </p:nvSpPr>
        <p:spPr>
          <a:xfrm>
            <a:off x="8266176"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Mechanical budgets</a:t>
            </a:r>
          </a:p>
        </p:txBody>
      </p:sp>
      <p:sp>
        <p:nvSpPr>
          <p:cNvPr id="32" name="TextBox 31"/>
          <p:cNvSpPr txBox="1"/>
          <p:nvPr/>
        </p:nvSpPr>
        <p:spPr>
          <a:xfrm>
            <a:off x="8266176"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Chassis and</a:t>
            </a:r>
          </a:p>
          <a:p>
            <a:pPr algn="l">
              <a:lnSpc>
                <a:spcPct val="108000"/>
              </a:lnSpc>
              <a:spcBef>
                <a:spcPts val="0"/>
              </a:spcBef>
              <a:spcAft>
                <a:spcPts val="300"/>
              </a:spcAft>
            </a:pPr>
            <a:r>
              <a:rPr sz="1450" b="0">
                <a:solidFill>
                  <a:srgbClr val="617386"/>
                </a:solidFill>
                <a:latin typeface="Liberation Sans"/>
              </a:rPr>
              <a:t>interfaces</a:t>
            </a:r>
          </a:p>
        </p:txBody>
      </p:sp>
      <p:cxnSp>
        <p:nvCxnSpPr>
          <p:cNvPr id="33" name="Connector 32"/>
          <p:cNvCxnSpPr/>
          <p:nvPr/>
        </p:nvCxnSpPr>
        <p:spPr>
          <a:xfrm>
            <a:off x="9866376" y="2834640"/>
            <a:ext cx="128016" cy="0"/>
          </a:xfrm>
          <a:prstGeom prst="line">
            <a:avLst/>
          </a:prstGeom>
          <a:ln w="25400">
            <a:solidFill>
              <a:srgbClr val="A9683D"/>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0012680" y="1828800"/>
            <a:ext cx="1719072" cy="21214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0" y="1993392"/>
            <a:ext cx="13716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6</a:t>
            </a:r>
          </a:p>
        </p:txBody>
      </p:sp>
      <p:sp>
        <p:nvSpPr>
          <p:cNvPr id="36" name="TextBox 35"/>
          <p:cNvSpPr txBox="1"/>
          <p:nvPr/>
        </p:nvSpPr>
        <p:spPr>
          <a:xfrm>
            <a:off x="10149840" y="2670048"/>
            <a:ext cx="1444752" cy="603504"/>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Mission boundary</a:t>
            </a:r>
          </a:p>
        </p:txBody>
      </p:sp>
      <p:sp>
        <p:nvSpPr>
          <p:cNvPr id="37" name="TextBox 36"/>
          <p:cNvSpPr txBox="1"/>
          <p:nvPr/>
        </p:nvSpPr>
        <p:spPr>
          <a:xfrm>
            <a:off x="10149840" y="3310128"/>
            <a:ext cx="1444752" cy="539496"/>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Release map</a:t>
            </a:r>
          </a:p>
          <a:p>
            <a:pPr algn="l">
              <a:lnSpc>
                <a:spcPct val="108000"/>
              </a:lnSpc>
              <a:spcBef>
                <a:spcPts val="0"/>
              </a:spcBef>
              <a:spcAft>
                <a:spcPts val="300"/>
              </a:spcAft>
            </a:pPr>
            <a:r>
              <a:rPr sz="1450" b="0">
                <a:solidFill>
                  <a:srgbClr val="617386"/>
                </a:solidFill>
                <a:latin typeface="Liberation Sans"/>
              </a:rPr>
              <a:t>and host mass</a:t>
            </a:r>
          </a:p>
        </p:txBody>
      </p:sp>
      <p:sp>
        <p:nvSpPr>
          <p:cNvPr id="38" name="TextBox 37"/>
          <p:cNvSpPr txBox="1"/>
          <p:nvPr/>
        </p:nvSpPr>
        <p:spPr>
          <a:xfrm>
            <a:off x="731520" y="4462272"/>
            <a:ext cx="10698480" cy="384048"/>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102A43"/>
                </a:solidFill>
                <a:latin typeface="Liberation Sans"/>
              </a:rPr>
              <a:t>Computational cross-checks</a:t>
            </a:r>
          </a:p>
        </p:txBody>
      </p:sp>
      <p:sp>
        <p:nvSpPr>
          <p:cNvPr id="39" name="TextBox 38"/>
          <p:cNvSpPr txBox="1"/>
          <p:nvPr/>
        </p:nvSpPr>
        <p:spPr>
          <a:xfrm>
            <a:off x="731520" y="5065776"/>
            <a:ext cx="3200400" cy="338328"/>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A9683D"/>
                </a:solidFill>
                <a:latin typeface="Liberation Sans"/>
              </a:rPr>
              <a:t>Geometry</a:t>
            </a:r>
          </a:p>
        </p:txBody>
      </p:sp>
      <p:sp>
        <p:nvSpPr>
          <p:cNvPr id="40" name="TextBox 39"/>
          <p:cNvSpPr txBox="1"/>
          <p:nvPr/>
        </p:nvSpPr>
        <p:spPr>
          <a:xfrm>
            <a:off x="731520" y="5477256"/>
            <a:ext cx="3200400" cy="66751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Native / STEP readback</a:t>
            </a:r>
          </a:p>
        </p:txBody>
      </p:sp>
      <p:sp>
        <p:nvSpPr>
          <p:cNvPr id="41" name="TextBox 40"/>
          <p:cNvSpPr txBox="1"/>
          <p:nvPr/>
        </p:nvSpPr>
        <p:spPr>
          <a:xfrm>
            <a:off x="4526280" y="5065776"/>
            <a:ext cx="3200400" cy="338328"/>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A9683D"/>
                </a:solidFill>
                <a:latin typeface="Liberation Sans"/>
              </a:rPr>
              <a:t>Electromagnetics</a:t>
            </a:r>
          </a:p>
        </p:txBody>
      </p:sp>
      <p:sp>
        <p:nvSpPr>
          <p:cNvPr id="42" name="TextBox 41"/>
          <p:cNvSpPr txBox="1"/>
          <p:nvPr/>
        </p:nvSpPr>
        <p:spPr>
          <a:xfrm>
            <a:off x="4526280" y="5477256"/>
            <a:ext cx="3200400" cy="66751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Source-face and current-FEM checks</a:t>
            </a:r>
          </a:p>
        </p:txBody>
      </p:sp>
      <p:sp>
        <p:nvSpPr>
          <p:cNvPr id="43" name="TextBox 42"/>
          <p:cNvSpPr txBox="1"/>
          <p:nvPr/>
        </p:nvSpPr>
        <p:spPr>
          <a:xfrm>
            <a:off x="8321040" y="5065776"/>
            <a:ext cx="3200400" cy="338328"/>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A9683D"/>
                </a:solidFill>
                <a:latin typeface="Liberation Sans"/>
              </a:rPr>
              <a:t>Dynamics</a:t>
            </a:r>
          </a:p>
        </p:txBody>
      </p:sp>
      <p:sp>
        <p:nvSpPr>
          <p:cNvPr id="44" name="TextBox 43"/>
          <p:cNvSpPr txBox="1"/>
          <p:nvPr/>
        </p:nvSpPr>
        <p:spPr>
          <a:xfrm>
            <a:off x="8321040" y="5477256"/>
            <a:ext cx="3200400" cy="66751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5 µs timestep audit (shared solver)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TIMELINE / WORK PROGRESS</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Timeline and work progress</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Current submission: October 2026 | Gen6 physical prototype is future development</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08 / 17</a:t>
            </a:r>
          </a:p>
        </p:txBody>
      </p:sp>
      <p:sp>
        <p:nvSpPr>
          <p:cNvPr id="9" name="Rectangle 8"/>
          <p:cNvSpPr/>
          <p:nvPr/>
        </p:nvSpPr>
        <p:spPr>
          <a:xfrm>
            <a:off x="594360" y="1901952"/>
            <a:ext cx="2093976" cy="256032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12264"/>
            <a:ext cx="1737360" cy="393192"/>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A9683D"/>
                </a:solidFill>
                <a:latin typeface="Liberation Sans"/>
              </a:rPr>
              <a:t>01</a:t>
            </a:r>
          </a:p>
        </p:txBody>
      </p:sp>
      <p:sp>
        <p:nvSpPr>
          <p:cNvPr id="11" name="TextBox 10"/>
          <p:cNvSpPr txBox="1"/>
          <p:nvPr/>
        </p:nvSpPr>
        <p:spPr>
          <a:xfrm>
            <a:off x="749808" y="2816352"/>
            <a:ext cx="1792224" cy="7863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Problem and literature</a:t>
            </a:r>
          </a:p>
        </p:txBody>
      </p:sp>
      <p:sp>
        <p:nvSpPr>
          <p:cNvPr id="12" name="TextBox 11"/>
          <p:cNvSpPr txBox="1"/>
          <p:nvPr/>
        </p:nvSpPr>
        <p:spPr>
          <a:xfrm>
            <a:off x="749808" y="3877056"/>
            <a:ext cx="1792224" cy="411480"/>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Complete</a:t>
            </a:r>
          </a:p>
        </p:txBody>
      </p:sp>
      <p:sp>
        <p:nvSpPr>
          <p:cNvPr id="13" name="Rectangle 12"/>
          <p:cNvSpPr/>
          <p:nvPr/>
        </p:nvSpPr>
        <p:spPr>
          <a:xfrm>
            <a:off x="2871216" y="1901952"/>
            <a:ext cx="2093976" cy="256032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26664" y="2112264"/>
            <a:ext cx="1737360" cy="393192"/>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A9683D"/>
                </a:solidFill>
                <a:latin typeface="Liberation Sans"/>
              </a:rPr>
              <a:t>02</a:t>
            </a:r>
          </a:p>
        </p:txBody>
      </p:sp>
      <p:sp>
        <p:nvSpPr>
          <p:cNvPr id="15" name="TextBox 14"/>
          <p:cNvSpPr txBox="1"/>
          <p:nvPr/>
        </p:nvSpPr>
        <p:spPr>
          <a:xfrm>
            <a:off x="3026664" y="2816352"/>
            <a:ext cx="1792224" cy="7863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Gen5 ACR1 definition</a:t>
            </a:r>
          </a:p>
        </p:txBody>
      </p:sp>
      <p:sp>
        <p:nvSpPr>
          <p:cNvPr id="16" name="TextBox 15"/>
          <p:cNvSpPr txBox="1"/>
          <p:nvPr/>
        </p:nvSpPr>
        <p:spPr>
          <a:xfrm>
            <a:off x="3026664" y="3877056"/>
            <a:ext cx="1792224" cy="411480"/>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Complete</a:t>
            </a:r>
          </a:p>
        </p:txBody>
      </p:sp>
      <p:sp>
        <p:nvSpPr>
          <p:cNvPr id="17" name="Rectangle 16"/>
          <p:cNvSpPr/>
          <p:nvPr/>
        </p:nvSpPr>
        <p:spPr>
          <a:xfrm>
            <a:off x="5148072" y="1901952"/>
            <a:ext cx="2093976" cy="256032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112264"/>
            <a:ext cx="1737360" cy="393192"/>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A9683D"/>
                </a:solidFill>
                <a:latin typeface="Liberation Sans"/>
              </a:rPr>
              <a:t>03</a:t>
            </a:r>
          </a:p>
        </p:txBody>
      </p:sp>
      <p:sp>
        <p:nvSpPr>
          <p:cNvPr id="19" name="TextBox 18"/>
          <p:cNvSpPr txBox="1"/>
          <p:nvPr/>
        </p:nvSpPr>
        <p:spPr>
          <a:xfrm>
            <a:off x="5303520" y="2816352"/>
            <a:ext cx="1792224" cy="7863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Coupled computational study</a:t>
            </a:r>
          </a:p>
        </p:txBody>
      </p:sp>
      <p:sp>
        <p:nvSpPr>
          <p:cNvPr id="20" name="TextBox 19"/>
          <p:cNvSpPr txBox="1"/>
          <p:nvPr/>
        </p:nvSpPr>
        <p:spPr>
          <a:xfrm>
            <a:off x="5303520" y="3877056"/>
            <a:ext cx="1792224" cy="411480"/>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Complete</a:t>
            </a:r>
          </a:p>
        </p:txBody>
      </p:sp>
      <p:sp>
        <p:nvSpPr>
          <p:cNvPr id="21" name="Rectangle 20"/>
          <p:cNvSpPr/>
          <p:nvPr/>
        </p:nvSpPr>
        <p:spPr>
          <a:xfrm>
            <a:off x="7424928" y="1901952"/>
            <a:ext cx="2093976" cy="256032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0376" y="2112264"/>
            <a:ext cx="1737360" cy="393192"/>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A9683D"/>
                </a:solidFill>
                <a:latin typeface="Liberation Sans"/>
              </a:rPr>
              <a:t>04</a:t>
            </a:r>
          </a:p>
        </p:txBody>
      </p:sp>
      <p:sp>
        <p:nvSpPr>
          <p:cNvPr id="23" name="TextBox 22"/>
          <p:cNvSpPr txBox="1"/>
          <p:nvPr/>
        </p:nvSpPr>
        <p:spPr>
          <a:xfrm>
            <a:off x="7580376" y="2816352"/>
            <a:ext cx="1792224" cy="7863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Report and presentation</a:t>
            </a:r>
          </a:p>
        </p:txBody>
      </p:sp>
      <p:sp>
        <p:nvSpPr>
          <p:cNvPr id="24" name="TextBox 23"/>
          <p:cNvSpPr txBox="1"/>
          <p:nvPr/>
        </p:nvSpPr>
        <p:spPr>
          <a:xfrm>
            <a:off x="7580376" y="3877056"/>
            <a:ext cx="1792224" cy="411480"/>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Current submission</a:t>
            </a:r>
          </a:p>
        </p:txBody>
      </p:sp>
      <p:sp>
        <p:nvSpPr>
          <p:cNvPr id="25" name="Rectangle 24"/>
          <p:cNvSpPr/>
          <p:nvPr/>
        </p:nvSpPr>
        <p:spPr>
          <a:xfrm>
            <a:off x="9701784" y="1901952"/>
            <a:ext cx="2093976" cy="2560320"/>
          </a:xfrm>
          <a:prstGeom prst="rect">
            <a:avLst/>
          </a:prstGeom>
          <a:solidFill>
            <a:srgbClr val="E4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57232" y="2112264"/>
            <a:ext cx="1737360" cy="393192"/>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A9683D"/>
                </a:solidFill>
                <a:latin typeface="Liberation Sans"/>
              </a:rPr>
              <a:t>05</a:t>
            </a:r>
          </a:p>
        </p:txBody>
      </p:sp>
      <p:sp>
        <p:nvSpPr>
          <p:cNvPr id="27" name="TextBox 26"/>
          <p:cNvSpPr txBox="1"/>
          <p:nvPr/>
        </p:nvSpPr>
        <p:spPr>
          <a:xfrm>
            <a:off x="9857232" y="2816352"/>
            <a:ext cx="1792224" cy="7863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Gen6 instrumented prototype</a:t>
            </a:r>
          </a:p>
        </p:txBody>
      </p:sp>
      <p:sp>
        <p:nvSpPr>
          <p:cNvPr id="28" name="TextBox 27"/>
          <p:cNvSpPr txBox="1"/>
          <p:nvPr/>
        </p:nvSpPr>
        <p:spPr>
          <a:xfrm>
            <a:off x="9857232" y="3877056"/>
            <a:ext cx="1792224" cy="411480"/>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Future work</a:t>
            </a:r>
          </a:p>
        </p:txBody>
      </p:sp>
      <p:sp>
        <p:nvSpPr>
          <p:cNvPr id="29" name="TextBox 28"/>
          <p:cNvSpPr txBox="1"/>
          <p:nvPr/>
        </p:nvSpPr>
        <p:spPr>
          <a:xfrm>
            <a:off x="731520" y="5074920"/>
            <a:ext cx="3108960" cy="320040"/>
          </a:xfrm>
          <a:prstGeom prst="rect">
            <a:avLst/>
          </a:prstGeom>
          <a:noFill/>
        </p:spPr>
        <p:txBody>
          <a:bodyPr wrap="square" lIns="0" rIns="0" tIns="0" bIns="0">
            <a:spAutoFit/>
          </a:bodyPr>
          <a:lstStyle/>
          <a:p>
            <a:pPr algn="l">
              <a:lnSpc>
                <a:spcPct val="108000"/>
              </a:lnSpc>
              <a:spcBef>
                <a:spcPts val="0"/>
              </a:spcBef>
              <a:spcAft>
                <a:spcPts val="300"/>
              </a:spcAft>
            </a:pPr>
            <a:r>
              <a:rPr sz="1500" b="1">
                <a:solidFill>
                  <a:srgbClr val="A9683D"/>
                </a:solidFill>
                <a:latin typeface="Liberation Sans"/>
              </a:rPr>
              <a:t>Completed outcome</a:t>
            </a:r>
          </a:p>
        </p:txBody>
      </p:sp>
      <p:sp>
        <p:nvSpPr>
          <p:cNvPr id="30" name="TextBox 29"/>
          <p:cNvSpPr txBox="1"/>
          <p:nvPr/>
        </p:nvSpPr>
        <p:spPr>
          <a:xfrm>
            <a:off x="731520" y="5468112"/>
            <a:ext cx="10698480" cy="658368"/>
          </a:xfrm>
          <a:prstGeom prst="rect">
            <a:avLst/>
          </a:prstGeom>
          <a:noFill/>
        </p:spPr>
        <p:txBody>
          <a:bodyPr wrap="square" lIns="0" rIns="0" tIns="0" bIns="0">
            <a:spAutoFit/>
          </a:bodyPr>
          <a:lstStyle/>
          <a:p>
            <a:pPr algn="l">
              <a:lnSpc>
                <a:spcPct val="108000"/>
              </a:lnSpc>
              <a:spcBef>
                <a:spcPts val="0"/>
              </a:spcBef>
              <a:spcAft>
                <a:spcPts val="300"/>
              </a:spcAft>
            </a:pPr>
            <a:r>
              <a:rPr sz="2400" b="1">
                <a:solidFill>
                  <a:srgbClr val="102A43"/>
                </a:solidFill>
                <a:latin typeface="Liberation Sans"/>
              </a:rPr>
              <a:t>A controlled computational design reference with defined operating cases and a hardware validation programme.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ARCHITECTURE</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Reference architecture: fixed banks and one captive pallet</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Native CAD render: final Gen5 ACR1 home state; represented masses include declared reference components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09 / 17</a:t>
            </a:r>
          </a:p>
        </p:txBody>
      </p:sp>
      <p:pic>
        <p:nvPicPr>
          <p:cNvPr id="9" name="Picture 8" descr="01_assembly_isometric.png"/>
          <p:cNvPicPr>
            <a:picLocks noChangeAspect="1"/>
          </p:cNvPicPr>
          <p:nvPr/>
        </p:nvPicPr>
        <p:blipFill>
          <a:blip r:embed="rId2"/>
          <a:srcRect t="9500" b="11500"/>
          <a:stretch>
            <a:fillRect/>
          </a:stretch>
        </p:blipFill>
        <p:spPr>
          <a:xfrm>
            <a:off x="484632" y="1409376"/>
            <a:ext cx="7635240" cy="4523879"/>
          </a:xfrm>
          <a:prstGeom prst="rect">
            <a:avLst/>
          </a:prstGeom>
        </p:spPr>
      </p:pic>
      <p:sp>
        <p:nvSpPr>
          <p:cNvPr id="10" name="Rectangle 9"/>
          <p:cNvSpPr/>
          <p:nvPr/>
        </p:nvSpPr>
        <p:spPr>
          <a:xfrm>
            <a:off x="8348472" y="1536192"/>
            <a:ext cx="3246120" cy="10058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48472" y="1536192"/>
            <a:ext cx="50292" cy="10058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13064" y="1645919"/>
            <a:ext cx="29718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102A43"/>
                </a:solidFill>
                <a:latin typeface="Liberation Sans"/>
              </a:rPr>
              <a:t>2 × 6 cells</a:t>
            </a:r>
          </a:p>
        </p:txBody>
      </p:sp>
      <p:sp>
        <p:nvSpPr>
          <p:cNvPr id="13" name="TextBox 12"/>
          <p:cNvSpPr txBox="1"/>
          <p:nvPr/>
        </p:nvSpPr>
        <p:spPr>
          <a:xfrm>
            <a:off x="8513064" y="2148840"/>
            <a:ext cx="2971800" cy="374904"/>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Fixed, individually retained storage</a:t>
            </a:r>
          </a:p>
        </p:txBody>
      </p:sp>
      <p:sp>
        <p:nvSpPr>
          <p:cNvPr id="14" name="Rectangle 13"/>
          <p:cNvSpPr/>
          <p:nvPr/>
        </p:nvSpPr>
        <p:spPr>
          <a:xfrm>
            <a:off x="8348472" y="2743200"/>
            <a:ext cx="3246120" cy="10058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48472" y="2743200"/>
            <a:ext cx="50292" cy="10058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13064" y="2852928"/>
            <a:ext cx="29718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102A43"/>
                </a:solidFill>
                <a:latin typeface="Liberation Sans"/>
              </a:rPr>
              <a:t>13.128 kg</a:t>
            </a:r>
          </a:p>
        </p:txBody>
      </p:sp>
      <p:sp>
        <p:nvSpPr>
          <p:cNvPr id="17" name="TextBox 16"/>
          <p:cNvSpPr txBox="1"/>
          <p:nvPr/>
        </p:nvSpPr>
        <p:spPr>
          <a:xfrm>
            <a:off x="8513064" y="3355848"/>
            <a:ext cx="2971800" cy="374904"/>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Retained moving carrier + pallet</a:t>
            </a:r>
          </a:p>
        </p:txBody>
      </p:sp>
      <p:sp>
        <p:nvSpPr>
          <p:cNvPr id="18" name="Rectangle 17"/>
          <p:cNvSpPr/>
          <p:nvPr/>
        </p:nvSpPr>
        <p:spPr>
          <a:xfrm>
            <a:off x="8348472" y="3950208"/>
            <a:ext cx="3246120" cy="10058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48472" y="3950208"/>
            <a:ext cx="50292" cy="10058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13064" y="4059936"/>
            <a:ext cx="2971800" cy="438912"/>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102A43"/>
                </a:solidFill>
                <a:latin typeface="Liberation Sans"/>
              </a:rPr>
              <a:t>149.557 kg</a:t>
            </a:r>
          </a:p>
        </p:txBody>
      </p:sp>
      <p:sp>
        <p:nvSpPr>
          <p:cNvPr id="21" name="TextBox 20"/>
          <p:cNvSpPr txBox="1"/>
          <p:nvPr/>
        </p:nvSpPr>
        <p:spPr>
          <a:xfrm>
            <a:off x="8513064" y="4562856"/>
            <a:ext cx="2971800" cy="374904"/>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Represented dry CAD mass</a:t>
            </a:r>
          </a:p>
        </p:txBody>
      </p:sp>
      <p:sp>
        <p:nvSpPr>
          <p:cNvPr id="22" name="TextBox 21"/>
          <p:cNvSpPr txBox="1"/>
          <p:nvPr/>
        </p:nvSpPr>
        <p:spPr>
          <a:xfrm>
            <a:off x="8412480" y="5266944"/>
            <a:ext cx="3200400" cy="365760"/>
          </a:xfrm>
          <a:prstGeom prst="rect">
            <a:avLst/>
          </a:prstGeom>
          <a:noFill/>
        </p:spPr>
        <p:txBody>
          <a:bodyPr wrap="square" lIns="0" rIns="0" tIns="0" bIns="0">
            <a:spAutoFit/>
          </a:bodyPr>
          <a:lstStyle/>
          <a:p>
            <a:pPr algn="l">
              <a:lnSpc>
                <a:spcPct val="108000"/>
              </a:lnSpc>
              <a:spcBef>
                <a:spcPts val="0"/>
              </a:spcBef>
              <a:spcAft>
                <a:spcPts val="300"/>
              </a:spcAft>
            </a:pPr>
            <a:r>
              <a:rPr sz="1600" b="1">
                <a:solidFill>
                  <a:srgbClr val="A9683D"/>
                </a:solidFill>
                <a:latin typeface="Liberation Sans"/>
              </a:rPr>
              <a:t>+7 kg power/control allowance</a:t>
            </a:r>
          </a:p>
        </p:txBody>
      </p:sp>
      <p:sp>
        <p:nvSpPr>
          <p:cNvPr id="23" name="TextBox 22"/>
          <p:cNvSpPr txBox="1"/>
          <p:nvPr/>
        </p:nvSpPr>
        <p:spPr>
          <a:xfrm>
            <a:off x="8412480" y="5742432"/>
            <a:ext cx="3154680" cy="384048"/>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Magnet arrays stay on the carrier.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FEEDER AND PALLET</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Capture before release: three explicit custody states</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Native CAD states; handoff detail hides banks, host ladder and fixed lift frame as disclosed in its provenance</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10 / 17</a:t>
            </a:r>
          </a:p>
        </p:txBody>
      </p:sp>
      <p:pic>
        <p:nvPicPr>
          <p:cNvPr id="9" name="Picture 8" descr="03_captured_source_level.png"/>
          <p:cNvPicPr>
            <a:picLocks noChangeAspect="1"/>
          </p:cNvPicPr>
          <p:nvPr/>
        </p:nvPicPr>
        <p:blipFill>
          <a:blip r:embed="rId2"/>
          <a:srcRect t="9500" b="11500"/>
          <a:stretch>
            <a:fillRect/>
          </a:stretch>
        </p:blipFill>
        <p:spPr>
          <a:xfrm>
            <a:off x="530352" y="1661659"/>
            <a:ext cx="3465576" cy="2053353"/>
          </a:xfrm>
          <a:prstGeom prst="rect">
            <a:avLst/>
          </a:prstGeom>
        </p:spPr>
      </p:pic>
      <p:sp>
        <p:nvSpPr>
          <p:cNvPr id="10" name="TextBox 9"/>
          <p:cNvSpPr txBox="1"/>
          <p:nvPr/>
        </p:nvSpPr>
        <p:spPr>
          <a:xfrm>
            <a:off x="530352" y="4059936"/>
            <a:ext cx="3474720" cy="493776"/>
          </a:xfrm>
          <a:prstGeom prst="rect">
            <a:avLst/>
          </a:prstGeom>
          <a:noFill/>
        </p:spPr>
        <p:txBody>
          <a:bodyPr wrap="square" lIns="0" rIns="0" tIns="0" bIns="0">
            <a:spAutoFit/>
          </a:bodyPr>
          <a:lstStyle/>
          <a:p>
            <a:pPr algn="l">
              <a:lnSpc>
                <a:spcPct val="108000"/>
              </a:lnSpc>
              <a:spcBef>
                <a:spcPts val="0"/>
              </a:spcBef>
              <a:spcAft>
                <a:spcPts val="300"/>
              </a:spcAft>
            </a:pPr>
            <a:r>
              <a:rPr sz="2100" b="1">
                <a:solidFill>
                  <a:srgbClr val="102A43"/>
                </a:solidFill>
                <a:latin typeface="Liberation Sans"/>
              </a:rPr>
              <a:t>1  Capture at the source</a:t>
            </a:r>
          </a:p>
        </p:txBody>
      </p:sp>
      <p:sp>
        <p:nvSpPr>
          <p:cNvPr id="11" name="TextBox 10"/>
          <p:cNvSpPr txBox="1"/>
          <p:nvPr/>
        </p:nvSpPr>
        <p:spPr>
          <a:xfrm>
            <a:off x="530352" y="4681728"/>
            <a:ext cx="3447288" cy="98755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Lift grips support the pallet; end frames and Y keepers contain the payload.</a:t>
            </a:r>
          </a:p>
        </p:txBody>
      </p:sp>
      <p:pic>
        <p:nvPicPr>
          <p:cNvPr id="12" name="Picture 11" descr="02_handoff_pallet_locks.png"/>
          <p:cNvPicPr>
            <a:picLocks noChangeAspect="1"/>
          </p:cNvPicPr>
          <p:nvPr/>
        </p:nvPicPr>
        <p:blipFill>
          <a:blip r:embed="rId3"/>
          <a:srcRect t="9500" b="11500"/>
          <a:stretch>
            <a:fillRect/>
          </a:stretch>
        </p:blipFill>
        <p:spPr>
          <a:xfrm>
            <a:off x="4370832" y="1661659"/>
            <a:ext cx="3465576" cy="2053353"/>
          </a:xfrm>
          <a:prstGeom prst="rect">
            <a:avLst/>
          </a:prstGeom>
        </p:spPr>
      </p:pic>
      <p:sp>
        <p:nvSpPr>
          <p:cNvPr id="13" name="TextBox 12"/>
          <p:cNvSpPr txBox="1"/>
          <p:nvPr/>
        </p:nvSpPr>
        <p:spPr>
          <a:xfrm>
            <a:off x="4370832" y="4059936"/>
            <a:ext cx="3474720" cy="493776"/>
          </a:xfrm>
          <a:prstGeom prst="rect">
            <a:avLst/>
          </a:prstGeom>
          <a:noFill/>
        </p:spPr>
        <p:txBody>
          <a:bodyPr wrap="square" lIns="0" rIns="0" tIns="0" bIns="0">
            <a:spAutoFit/>
          </a:bodyPr>
          <a:lstStyle/>
          <a:p>
            <a:pPr algn="l">
              <a:lnSpc>
                <a:spcPct val="108000"/>
              </a:lnSpc>
              <a:spcBef>
                <a:spcPts val="0"/>
              </a:spcBef>
              <a:spcAft>
                <a:spcPts val="300"/>
              </a:spcAft>
            </a:pPr>
            <a:r>
              <a:rPr sz="2100" b="1">
                <a:solidFill>
                  <a:srgbClr val="102A43"/>
                </a:solidFill>
                <a:latin typeface="Liberation Sans"/>
              </a:rPr>
              <a:t>2  Dock and lock</a:t>
            </a:r>
          </a:p>
        </p:txBody>
      </p:sp>
      <p:sp>
        <p:nvSpPr>
          <p:cNvPr id="14" name="TextBox 13"/>
          <p:cNvSpPr txBox="1"/>
          <p:nvPr/>
        </p:nvSpPr>
        <p:spPr>
          <a:xfrm>
            <a:off x="4370832" y="4681728"/>
            <a:ext cx="3447288" cy="98755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Carrier caps and both bayonets engage before the outboard lift grips open.</a:t>
            </a:r>
          </a:p>
        </p:txBody>
      </p:sp>
      <p:pic>
        <p:nvPicPr>
          <p:cNvPr id="15" name="Picture 14" descr="04_clear_docked.png"/>
          <p:cNvPicPr>
            <a:picLocks noChangeAspect="1"/>
          </p:cNvPicPr>
          <p:nvPr/>
        </p:nvPicPr>
        <p:blipFill>
          <a:blip r:embed="rId4"/>
          <a:srcRect t="9500" b="11500"/>
          <a:stretch>
            <a:fillRect/>
          </a:stretch>
        </p:blipFill>
        <p:spPr>
          <a:xfrm>
            <a:off x="8211312" y="1661659"/>
            <a:ext cx="3465576" cy="2053353"/>
          </a:xfrm>
          <a:prstGeom prst="rect">
            <a:avLst/>
          </a:prstGeom>
        </p:spPr>
      </p:pic>
      <p:sp>
        <p:nvSpPr>
          <p:cNvPr id="16" name="TextBox 15"/>
          <p:cNvSpPr txBox="1"/>
          <p:nvPr/>
        </p:nvSpPr>
        <p:spPr>
          <a:xfrm>
            <a:off x="8211312" y="4059936"/>
            <a:ext cx="3474720" cy="493776"/>
          </a:xfrm>
          <a:prstGeom prst="rect">
            <a:avLst/>
          </a:prstGeom>
          <a:noFill/>
        </p:spPr>
        <p:txBody>
          <a:bodyPr wrap="square" lIns="0" rIns="0" tIns="0" bIns="0">
            <a:spAutoFit/>
          </a:bodyPr>
          <a:lstStyle/>
          <a:p>
            <a:pPr algn="l">
              <a:lnSpc>
                <a:spcPct val="108000"/>
              </a:lnSpc>
              <a:spcBef>
                <a:spcPts val="0"/>
              </a:spcBef>
              <a:spcAft>
                <a:spcPts val="300"/>
              </a:spcAft>
            </a:pPr>
            <a:r>
              <a:rPr sz="2100" b="1">
                <a:solidFill>
                  <a:srgbClr val="102A43"/>
                </a:solidFill>
                <a:latin typeface="Liberation Sans"/>
              </a:rPr>
              <a:t>3  Raise clear</a:t>
            </a:r>
          </a:p>
        </p:txBody>
      </p:sp>
      <p:sp>
        <p:nvSpPr>
          <p:cNvPr id="17" name="TextBox 16"/>
          <p:cNvSpPr txBox="1"/>
          <p:nvPr/>
        </p:nvSpPr>
        <p:spPr>
          <a:xfrm>
            <a:off x="8211312" y="4681728"/>
            <a:ext cx="3447288" cy="987552"/>
          </a:xfrm>
          <a:prstGeom prst="rect">
            <a:avLst/>
          </a:prstGeom>
          <a:noFill/>
        </p:spPr>
        <p:txBody>
          <a:bodyPr wrap="square" lIns="0" rIns="0" tIns="0" bIns="0">
            <a:spAutoFit/>
          </a:bodyPr>
          <a:lstStyle/>
          <a:p>
            <a:pPr algn="l">
              <a:lnSpc>
                <a:spcPct val="108000"/>
              </a:lnSpc>
              <a:spcBef>
                <a:spcPts val="0"/>
              </a:spcBef>
              <a:spcAft>
                <a:spcPts val="300"/>
              </a:spcAft>
            </a:pPr>
            <a:r>
              <a:rPr sz="1800" b="0">
                <a:solidFill>
                  <a:srgbClr val="26384B"/>
                </a:solidFill>
                <a:latin typeface="Liberation Sans"/>
              </a:rPr>
              <a:t>The pallet stays on the carrier through release, arrest and return.</a:t>
            </a:r>
          </a:p>
        </p:txBody>
      </p:sp>
      <p:sp>
        <p:nvSpPr>
          <p:cNvPr id="18" name="Rectangle 17"/>
          <p:cNvSpPr/>
          <p:nvPr/>
        </p:nvSpPr>
        <p:spPr>
          <a:xfrm>
            <a:off x="594360" y="5815584"/>
            <a:ext cx="1097280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5861304"/>
            <a:ext cx="10607040" cy="274320"/>
          </a:xfrm>
          <a:prstGeom prst="rect">
            <a:avLst/>
          </a:prstGeom>
          <a:noFill/>
        </p:spPr>
        <p:txBody>
          <a:bodyPr wrap="square" lIns="0" rIns="0" tIns="0" bIns="0">
            <a:spAutoFit/>
          </a:bodyPr>
          <a:lstStyle/>
          <a:p>
            <a:pPr algn="l">
              <a:lnSpc>
                <a:spcPct val="108000"/>
              </a:lnSpc>
              <a:spcBef>
                <a:spcPts val="0"/>
              </a:spcBef>
              <a:spcAft>
                <a:spcPts val="300"/>
              </a:spcAft>
            </a:pPr>
            <a:r>
              <a:rPr sz="1700" b="1">
                <a:solidFill>
                  <a:srgbClr val="A9683D"/>
                </a:solidFill>
                <a:latin typeface="Liberation Sans"/>
              </a:rPr>
              <a:t>Passive cam: 12 mm forekeeper opening over 50 mm travel, complete 5 mm before release.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ELECTROMAGNETIC SIMULATION</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Finite motor geometry enters the force model</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FINITE_MOTOR.json; CURRENT_FIELD_FORCE.json | coefficients use peak phase amperes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11 / 17</a:t>
            </a:r>
          </a:p>
        </p:txBody>
      </p:sp>
      <p:pic>
        <p:nvPicPr>
          <p:cNvPr id="9" name="Picture 8" descr="magnetic_gap_section.png"/>
          <p:cNvPicPr>
            <a:picLocks noChangeAspect="1"/>
          </p:cNvPicPr>
          <p:nvPr/>
        </p:nvPicPr>
        <p:blipFill>
          <a:blip r:embed="rId2"/>
          <a:stretch>
            <a:fillRect/>
          </a:stretch>
        </p:blipFill>
        <p:spPr>
          <a:xfrm>
            <a:off x="502920" y="1902641"/>
            <a:ext cx="4617720" cy="2101741"/>
          </a:xfrm>
          <a:prstGeom prst="rect">
            <a:avLst/>
          </a:prstGeom>
        </p:spPr>
      </p:pic>
      <p:pic>
        <p:nvPicPr>
          <p:cNvPr id="10" name="Picture 9" descr="finite_force_coefficient.png"/>
          <p:cNvPicPr>
            <a:picLocks noChangeAspect="1"/>
          </p:cNvPicPr>
          <p:nvPr/>
        </p:nvPicPr>
        <p:blipFill>
          <a:blip r:embed="rId3"/>
          <a:stretch>
            <a:fillRect/>
          </a:stretch>
        </p:blipFill>
        <p:spPr>
          <a:xfrm>
            <a:off x="5688979" y="1444752"/>
            <a:ext cx="5712177" cy="3017520"/>
          </a:xfrm>
          <a:prstGeom prst="rect">
            <a:avLst/>
          </a:prstGeom>
        </p:spPr>
      </p:pic>
      <p:sp>
        <p:nvSpPr>
          <p:cNvPr id="11" name="Rectangle 10"/>
          <p:cNvSpPr/>
          <p:nvPr/>
        </p:nvSpPr>
        <p:spPr>
          <a:xfrm>
            <a:off x="594360" y="4663440"/>
            <a:ext cx="3474720" cy="101498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4663440"/>
            <a:ext cx="50292" cy="101498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773168"/>
            <a:ext cx="3200400" cy="438912"/>
          </a:xfrm>
          <a:prstGeom prst="rect">
            <a:avLst/>
          </a:prstGeom>
          <a:noFill/>
        </p:spPr>
        <p:txBody>
          <a:bodyPr wrap="square" lIns="0" rIns="0" tIns="0" bIns="0">
            <a:spAutoFit/>
          </a:bodyPr>
          <a:lstStyle/>
          <a:p>
            <a:pPr algn="l">
              <a:lnSpc>
                <a:spcPct val="108000"/>
              </a:lnSpc>
              <a:spcBef>
                <a:spcPts val="0"/>
              </a:spcBef>
              <a:spcAft>
                <a:spcPts val="300"/>
              </a:spcAft>
            </a:pPr>
            <a:r>
              <a:rPr sz="2900" b="1">
                <a:solidFill>
                  <a:srgbClr val="102A43"/>
                </a:solidFill>
                <a:latin typeface="Liberation Sans"/>
              </a:rPr>
              <a:t>42 + 42 magnets</a:t>
            </a:r>
          </a:p>
        </p:txBody>
      </p:sp>
      <p:sp>
        <p:nvSpPr>
          <p:cNvPr id="14" name="TextBox 13"/>
          <p:cNvSpPr txBox="1"/>
          <p:nvPr/>
        </p:nvSpPr>
        <p:spPr>
          <a:xfrm>
            <a:off x="758952" y="5276088"/>
            <a:ext cx="3200400" cy="38404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8 mm blocks on opposed retained arrays</a:t>
            </a:r>
          </a:p>
        </p:txBody>
      </p:sp>
      <p:sp>
        <p:nvSpPr>
          <p:cNvPr id="15" name="Rectangle 14"/>
          <p:cNvSpPr/>
          <p:nvPr/>
        </p:nvSpPr>
        <p:spPr>
          <a:xfrm>
            <a:off x="4361688" y="4663440"/>
            <a:ext cx="3474720" cy="101498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4663440"/>
            <a:ext cx="50292" cy="101498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4773168"/>
            <a:ext cx="3200400" cy="438912"/>
          </a:xfrm>
          <a:prstGeom prst="rect">
            <a:avLst/>
          </a:prstGeom>
          <a:noFill/>
        </p:spPr>
        <p:txBody>
          <a:bodyPr wrap="square" lIns="0" rIns="0" tIns="0" bIns="0">
            <a:spAutoFit/>
          </a:bodyPr>
          <a:lstStyle/>
          <a:p>
            <a:pPr algn="l">
              <a:lnSpc>
                <a:spcPct val="108000"/>
              </a:lnSpc>
              <a:spcBef>
                <a:spcPts val="0"/>
              </a:spcBef>
              <a:spcAft>
                <a:spcPts val="300"/>
              </a:spcAft>
            </a:pPr>
            <a:r>
              <a:rPr sz="2900" b="1">
                <a:solidFill>
                  <a:srgbClr val="102A43"/>
                </a:solidFill>
                <a:latin typeface="Liberation Sans"/>
              </a:rPr>
              <a:t>216 active bars</a:t>
            </a:r>
          </a:p>
        </p:txBody>
      </p:sp>
      <p:sp>
        <p:nvSpPr>
          <p:cNvPr id="18" name="TextBox 17"/>
          <p:cNvSpPr txBox="1"/>
          <p:nvPr/>
        </p:nvSpPr>
        <p:spPr>
          <a:xfrm>
            <a:off x="4526279" y="5276088"/>
            <a:ext cx="3200400" cy="38404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42 mm² bars; 21 mm² return necks</a:t>
            </a:r>
          </a:p>
        </p:txBody>
      </p:sp>
      <p:sp>
        <p:nvSpPr>
          <p:cNvPr id="19" name="Rectangle 18"/>
          <p:cNvSpPr/>
          <p:nvPr/>
        </p:nvSpPr>
        <p:spPr>
          <a:xfrm>
            <a:off x="8129016" y="4663440"/>
            <a:ext cx="3474720" cy="101498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9016" y="4663440"/>
            <a:ext cx="50292" cy="101498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4773168"/>
            <a:ext cx="3200400" cy="438912"/>
          </a:xfrm>
          <a:prstGeom prst="rect">
            <a:avLst/>
          </a:prstGeom>
          <a:noFill/>
        </p:spPr>
        <p:txBody>
          <a:bodyPr wrap="square" lIns="0" rIns="0" tIns="0" bIns="0">
            <a:spAutoFit/>
          </a:bodyPr>
          <a:lstStyle/>
          <a:p>
            <a:pPr algn="l">
              <a:lnSpc>
                <a:spcPct val="108000"/>
              </a:lnSpc>
              <a:spcBef>
                <a:spcPts val="0"/>
              </a:spcBef>
              <a:spcAft>
                <a:spcPts val="300"/>
              </a:spcAft>
            </a:pPr>
            <a:r>
              <a:rPr sz="2900" b="1">
                <a:solidFill>
                  <a:srgbClr val="102A43"/>
                </a:solidFill>
                <a:latin typeface="Liberation Sans"/>
              </a:rPr>
              <a:t>0.172%</a:t>
            </a:r>
          </a:p>
        </p:txBody>
      </p:sp>
      <p:sp>
        <p:nvSpPr>
          <p:cNvPr id="22" name="TextBox 21"/>
          <p:cNvSpPr txBox="1"/>
          <p:nvPr/>
        </p:nvSpPr>
        <p:spPr>
          <a:xfrm>
            <a:off x="8293608" y="5276088"/>
            <a:ext cx="3200400" cy="38404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Interior current-FEM force difference</a:t>
            </a:r>
          </a:p>
        </p:txBody>
      </p:sp>
      <p:sp>
        <p:nvSpPr>
          <p:cNvPr id="23" name="TextBox 22"/>
          <p:cNvSpPr txBox="1"/>
          <p:nvPr/>
        </p:nvSpPr>
        <p:spPr>
          <a:xfrm>
            <a:off x="731520" y="5934456"/>
            <a:ext cx="10789920" cy="320040"/>
          </a:xfrm>
          <a:prstGeom prst="rect">
            <a:avLst/>
          </a:prstGeom>
          <a:noFill/>
        </p:spPr>
        <p:txBody>
          <a:bodyPr wrap="square" lIns="0" rIns="0" tIns="0" bIns="0">
            <a:spAutoFit/>
          </a:bodyPr>
          <a:lstStyle/>
          <a:p>
            <a:pPr algn="l">
              <a:lnSpc>
                <a:spcPct val="108000"/>
              </a:lnSpc>
              <a:spcBef>
                <a:spcPts val="0"/>
              </a:spcBef>
              <a:spcAft>
                <a:spcPts val="300"/>
              </a:spcAft>
            </a:pPr>
            <a:r>
              <a:rPr sz="1700" b="1">
                <a:solidFill>
                  <a:srgbClr val="102A43"/>
                </a:solidFill>
                <a:latin typeface="Liberation Sans"/>
              </a:rPr>
              <a:t>At x = 0.65 m: active 1.3287 N/A; represented returns included 1.3991 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SIMULATION RESULTS</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Coupled shot: release, source and active arrest</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Numerical source-coupled model; nominal 3 m/s, 20 µH trace | sensitivity values retain their declared assumptions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12 / 17</a:t>
            </a:r>
          </a:p>
        </p:txBody>
      </p:sp>
      <p:pic>
        <p:nvPicPr>
          <p:cNvPr id="9" name="Picture 8" descr="coupled_shot_reference.png"/>
          <p:cNvPicPr>
            <a:picLocks noChangeAspect="1"/>
          </p:cNvPicPr>
          <p:nvPr/>
        </p:nvPicPr>
        <p:blipFill>
          <a:blip r:embed="rId2"/>
          <a:stretch>
            <a:fillRect/>
          </a:stretch>
        </p:blipFill>
        <p:spPr>
          <a:xfrm>
            <a:off x="533505" y="1417320"/>
            <a:ext cx="5059468" cy="4718304"/>
          </a:xfrm>
          <a:prstGeom prst="rect">
            <a:avLst/>
          </a:prstGeom>
        </p:spPr>
      </p:pic>
      <p:pic>
        <p:nvPicPr>
          <p:cNvPr id="10" name="Picture 9" descr="shot_energy_ledger.png"/>
          <p:cNvPicPr>
            <a:picLocks noChangeAspect="1"/>
          </p:cNvPicPr>
          <p:nvPr/>
        </p:nvPicPr>
        <p:blipFill>
          <a:blip r:embed="rId3"/>
          <a:stretch>
            <a:fillRect/>
          </a:stretch>
        </p:blipFill>
        <p:spPr>
          <a:xfrm>
            <a:off x="6089351" y="1463040"/>
            <a:ext cx="5304625" cy="2514600"/>
          </a:xfrm>
          <a:prstGeom prst="rect">
            <a:avLst/>
          </a:prstGeom>
        </p:spPr>
      </p:pic>
      <p:sp>
        <p:nvSpPr>
          <p:cNvPr id="11" name="Rectangle 10"/>
          <p:cNvSpPr/>
          <p:nvPr/>
        </p:nvSpPr>
        <p:spPr>
          <a:xfrm>
            <a:off x="5989320" y="4114800"/>
            <a:ext cx="2660904" cy="92354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4114800"/>
            <a:ext cx="50292" cy="92354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4224528"/>
            <a:ext cx="2386584" cy="438912"/>
          </a:xfrm>
          <a:prstGeom prst="rect">
            <a:avLst/>
          </a:prstGeom>
          <a:noFill/>
        </p:spPr>
        <p:txBody>
          <a:bodyPr wrap="square" lIns="0" rIns="0" tIns="0" bIns="0">
            <a:spAutoFit/>
          </a:bodyPr>
          <a:lstStyle/>
          <a:p>
            <a:pPr algn="l">
              <a:lnSpc>
                <a:spcPct val="108000"/>
              </a:lnSpc>
              <a:spcBef>
                <a:spcPts val="0"/>
              </a:spcBef>
              <a:spcAft>
                <a:spcPts val="300"/>
              </a:spcAft>
            </a:pPr>
            <a:r>
              <a:rPr sz="2500" b="1">
                <a:solidFill>
                  <a:srgbClr val="102A43"/>
                </a:solidFill>
                <a:latin typeface="Liberation Sans"/>
              </a:rPr>
              <a:t>3.000 m/s</a:t>
            </a:r>
          </a:p>
        </p:txBody>
      </p:sp>
      <p:sp>
        <p:nvSpPr>
          <p:cNvPr id="14" name="TextBox 13"/>
          <p:cNvSpPr txBox="1"/>
          <p:nvPr/>
        </p:nvSpPr>
        <p:spPr>
          <a:xfrm>
            <a:off x="6153912" y="4727448"/>
            <a:ext cx="2386584" cy="29260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Model release speed</a:t>
            </a:r>
          </a:p>
        </p:txBody>
      </p:sp>
      <p:sp>
        <p:nvSpPr>
          <p:cNvPr id="15" name="Rectangle 14"/>
          <p:cNvSpPr/>
          <p:nvPr/>
        </p:nvSpPr>
        <p:spPr>
          <a:xfrm>
            <a:off x="8851392" y="4114800"/>
            <a:ext cx="2660904" cy="92354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51392" y="4114800"/>
            <a:ext cx="50292" cy="923544"/>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4224528"/>
            <a:ext cx="2386584" cy="438912"/>
          </a:xfrm>
          <a:prstGeom prst="rect">
            <a:avLst/>
          </a:prstGeom>
          <a:noFill/>
        </p:spPr>
        <p:txBody>
          <a:bodyPr wrap="square" lIns="0" rIns="0" tIns="0" bIns="0">
            <a:spAutoFit/>
          </a:bodyPr>
          <a:lstStyle/>
          <a:p>
            <a:pPr algn="l">
              <a:lnSpc>
                <a:spcPct val="108000"/>
              </a:lnSpc>
              <a:spcBef>
                <a:spcPts val="0"/>
              </a:spcBef>
              <a:spcAft>
                <a:spcPts val="300"/>
              </a:spcAft>
            </a:pPr>
            <a:r>
              <a:rPr sz="2500" b="1">
                <a:solidFill>
                  <a:srgbClr val="102A43"/>
                </a:solidFill>
                <a:latin typeface="Liberation Sans"/>
              </a:rPr>
              <a:t>379.7 J</a:t>
            </a:r>
          </a:p>
        </p:txBody>
      </p:sp>
      <p:sp>
        <p:nvSpPr>
          <p:cNvPr id="18" name="TextBox 17"/>
          <p:cNvSpPr txBox="1"/>
          <p:nvPr/>
        </p:nvSpPr>
        <p:spPr>
          <a:xfrm>
            <a:off x="9015984" y="4727448"/>
            <a:ext cx="2386584" cy="292608"/>
          </a:xfrm>
          <a:prstGeom prst="rect">
            <a:avLst/>
          </a:prstGeom>
          <a:noFill/>
        </p:spPr>
        <p:txBody>
          <a:bodyPr wrap="square" lIns="0" rIns="0" tIns="0" bIns="0">
            <a:spAutoFit/>
          </a:bodyPr>
          <a:lstStyle/>
          <a:p>
            <a:pPr algn="l">
              <a:lnSpc>
                <a:spcPct val="108000"/>
              </a:lnSpc>
              <a:spcBef>
                <a:spcPts val="0"/>
              </a:spcBef>
              <a:spcAft>
                <a:spcPts val="300"/>
              </a:spcAft>
            </a:pPr>
            <a:r>
              <a:rPr sz="1400" b="0">
                <a:solidFill>
                  <a:srgbClr val="617386"/>
                </a:solidFill>
                <a:latin typeface="Liberation Sans"/>
              </a:rPr>
              <a:t>Nominal source draw</a:t>
            </a:r>
          </a:p>
        </p:txBody>
      </p:sp>
      <p:sp>
        <p:nvSpPr>
          <p:cNvPr id="19" name="TextBox 18"/>
          <p:cNvSpPr txBox="1"/>
          <p:nvPr/>
        </p:nvSpPr>
        <p:spPr>
          <a:xfrm>
            <a:off x="5989320" y="5239512"/>
            <a:ext cx="5532120" cy="347472"/>
          </a:xfrm>
          <a:prstGeom prst="rect">
            <a:avLst/>
          </a:prstGeom>
          <a:noFill/>
        </p:spPr>
        <p:txBody>
          <a:bodyPr wrap="square" lIns="0" rIns="0" tIns="0" bIns="0">
            <a:spAutoFit/>
          </a:bodyPr>
          <a:lstStyle/>
          <a:p>
            <a:pPr algn="l">
              <a:lnSpc>
                <a:spcPct val="108000"/>
              </a:lnSpc>
              <a:spcBef>
                <a:spcPts val="0"/>
              </a:spcBef>
              <a:spcAft>
                <a:spcPts val="300"/>
              </a:spcAft>
            </a:pPr>
            <a:r>
              <a:rPr sz="1800" b="1">
                <a:solidFill>
                  <a:srgbClr val="102A43"/>
                </a:solidFill>
                <a:latin typeface="Liberation Sans"/>
              </a:rPr>
              <a:t>6/6 cases pass the 5 µs timestep audit</a:t>
            </a:r>
          </a:p>
        </p:txBody>
      </p:sp>
      <p:sp>
        <p:nvSpPr>
          <p:cNvPr id="20" name="TextBox 19"/>
          <p:cNvSpPr txBox="1"/>
          <p:nvPr/>
        </p:nvSpPr>
        <p:spPr>
          <a:xfrm>
            <a:off x="5989320" y="5687568"/>
            <a:ext cx="5532120" cy="512064"/>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Worst reviewed single-shot adiabatic estimates:</a:t>
            </a:r>
          </a:p>
          <a:p>
            <a:pPr algn="l">
              <a:lnSpc>
                <a:spcPct val="108000"/>
              </a:lnSpc>
              <a:spcBef>
                <a:spcPts val="0"/>
              </a:spcBef>
              <a:spcAft>
                <a:spcPts val="300"/>
              </a:spcAft>
            </a:pPr>
            <a:r>
              <a:rPr sz="1450" b="0">
                <a:solidFill>
                  <a:srgbClr val="617386"/>
                </a:solidFill>
                <a:latin typeface="Liberation Sans"/>
              </a:rPr>
              <a:t>Bulk ≤0.0667 K; local DC-FE mesh observation 2.495 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STRUCTURE AND CONTACT</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Mechanical evaluation: actual chassis and declared contact budgets</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Sources: actual-chassis CalculiX solve; DESIGN_BUDGETS.json | simulations and analytical bounds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13 / 17</a:t>
            </a:r>
          </a:p>
        </p:txBody>
      </p:sp>
      <p:pic>
        <p:nvPicPr>
          <p:cNvPr id="9" name="Picture 8" descr="ACTUAL_CHASSIS_RESULT.png"/>
          <p:cNvPicPr>
            <a:picLocks noChangeAspect="1"/>
          </p:cNvPicPr>
          <p:nvPr/>
        </p:nvPicPr>
        <p:blipFill>
          <a:blip r:embed="rId2"/>
          <a:stretch>
            <a:fillRect/>
          </a:stretch>
        </p:blipFill>
        <p:spPr>
          <a:xfrm>
            <a:off x="502920" y="1571712"/>
            <a:ext cx="7406640" cy="3019630"/>
          </a:xfrm>
          <a:prstGeom prst="rect">
            <a:avLst/>
          </a:prstGeom>
        </p:spPr>
      </p:pic>
      <p:sp>
        <p:nvSpPr>
          <p:cNvPr id="10" name="TextBox 9"/>
          <p:cNvSpPr txBox="1"/>
          <p:nvPr/>
        </p:nvSpPr>
        <p:spPr>
          <a:xfrm>
            <a:off x="640080" y="4672584"/>
            <a:ext cx="7132320" cy="475488"/>
          </a:xfrm>
          <a:prstGeom prst="rect">
            <a:avLst/>
          </a:prstGeom>
          <a:noFill/>
        </p:spPr>
        <p:txBody>
          <a:bodyPr wrap="square" lIns="0" rIns="0" tIns="0" bIns="0">
            <a:spAutoFit/>
          </a:bodyPr>
          <a:lstStyle/>
          <a:p>
            <a:pPr algn="l">
              <a:lnSpc>
                <a:spcPct val="108000"/>
              </a:lnSpc>
              <a:spcBef>
                <a:spcPts val="0"/>
              </a:spcBef>
              <a:spcAft>
                <a:spcPts val="300"/>
              </a:spcAft>
            </a:pPr>
            <a:r>
              <a:rPr sz="1550" b="0">
                <a:solidFill>
                  <a:srgbClr val="617386"/>
                </a:solidFill>
                <a:latin typeface="Liberation Sans"/>
              </a:rPr>
              <a:t>Linear-elastic FEA; 3.010 kN per array; displacement shown ×20.</a:t>
            </a:r>
          </a:p>
        </p:txBody>
      </p:sp>
      <p:sp>
        <p:nvSpPr>
          <p:cNvPr id="11" name="Rectangle 10"/>
          <p:cNvSpPr/>
          <p:nvPr/>
        </p:nvSpPr>
        <p:spPr>
          <a:xfrm>
            <a:off x="640080" y="5367528"/>
            <a:ext cx="3438144" cy="7498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367528"/>
            <a:ext cx="50292" cy="74980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5404104"/>
            <a:ext cx="3163824" cy="402336"/>
          </a:xfrm>
          <a:prstGeom prst="rect">
            <a:avLst/>
          </a:prstGeom>
          <a:noFill/>
        </p:spPr>
        <p:txBody>
          <a:bodyPr wrap="square" lIns="0" rIns="0" tIns="0" bIns="0">
            <a:spAutoFit/>
          </a:bodyPr>
          <a:lstStyle/>
          <a:p>
            <a:pPr algn="l">
              <a:lnSpc>
                <a:spcPct val="108000"/>
              </a:lnSpc>
              <a:spcBef>
                <a:spcPts val="0"/>
              </a:spcBef>
              <a:spcAft>
                <a:spcPts val="300"/>
              </a:spcAft>
            </a:pPr>
            <a:r>
              <a:rPr sz="2700" b="1">
                <a:solidFill>
                  <a:srgbClr val="102A43"/>
                </a:solidFill>
                <a:latin typeface="Liberation Sans"/>
              </a:rPr>
              <a:t>0.286 mm</a:t>
            </a:r>
          </a:p>
        </p:txBody>
      </p:sp>
      <p:sp>
        <p:nvSpPr>
          <p:cNvPr id="14" name="TextBox 13"/>
          <p:cNvSpPr txBox="1"/>
          <p:nvPr/>
        </p:nvSpPr>
        <p:spPr>
          <a:xfrm>
            <a:off x="804671" y="5843016"/>
            <a:ext cx="3163824" cy="256031"/>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617386"/>
                </a:solidFill>
                <a:latin typeface="Liberation Sans"/>
              </a:rPr>
              <a:t>Maximum paired face closure</a:t>
            </a:r>
          </a:p>
        </p:txBody>
      </p:sp>
      <p:sp>
        <p:nvSpPr>
          <p:cNvPr id="15" name="Rectangle 14"/>
          <p:cNvSpPr/>
          <p:nvPr/>
        </p:nvSpPr>
        <p:spPr>
          <a:xfrm>
            <a:off x="4251960" y="5367528"/>
            <a:ext cx="3438144" cy="749808"/>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5367528"/>
            <a:ext cx="50292" cy="749808"/>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6552" y="5404104"/>
            <a:ext cx="3163824" cy="402336"/>
          </a:xfrm>
          <a:prstGeom prst="rect">
            <a:avLst/>
          </a:prstGeom>
          <a:noFill/>
        </p:spPr>
        <p:txBody>
          <a:bodyPr wrap="square" lIns="0" rIns="0" tIns="0" bIns="0">
            <a:spAutoFit/>
          </a:bodyPr>
          <a:lstStyle/>
          <a:p>
            <a:pPr algn="l">
              <a:lnSpc>
                <a:spcPct val="108000"/>
              </a:lnSpc>
              <a:spcBef>
                <a:spcPts val="0"/>
              </a:spcBef>
              <a:spcAft>
                <a:spcPts val="300"/>
              </a:spcAft>
            </a:pPr>
            <a:r>
              <a:rPr sz="2700" b="1">
                <a:solidFill>
                  <a:srgbClr val="102A43"/>
                </a:solidFill>
                <a:latin typeface="Liberation Sans"/>
              </a:rPr>
              <a:t>0.372 mm</a:t>
            </a:r>
          </a:p>
        </p:txBody>
      </p:sp>
      <p:sp>
        <p:nvSpPr>
          <p:cNvPr id="18" name="TextBox 17"/>
          <p:cNvSpPr txBox="1"/>
          <p:nvPr/>
        </p:nvSpPr>
        <p:spPr>
          <a:xfrm>
            <a:off x="4416552" y="5843016"/>
            <a:ext cx="3163824" cy="256031"/>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617386"/>
                </a:solidFill>
                <a:latin typeface="Liberation Sans"/>
              </a:rPr>
              <a:t>Declared 1.3× linear load sensitivity</a:t>
            </a:r>
          </a:p>
        </p:txBody>
      </p:sp>
      <p:sp>
        <p:nvSpPr>
          <p:cNvPr id="19" name="TextBox 18"/>
          <p:cNvSpPr txBox="1"/>
          <p:nvPr/>
        </p:nvSpPr>
        <p:spPr>
          <a:xfrm>
            <a:off x="8229600" y="1682496"/>
            <a:ext cx="3154680" cy="658368"/>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Allocated per-face gap margin</a:t>
            </a:r>
          </a:p>
        </p:txBody>
      </p:sp>
      <p:sp>
        <p:nvSpPr>
          <p:cNvPr id="20" name="TextBox 19"/>
          <p:cNvSpPr txBox="1"/>
          <p:nvPr/>
        </p:nvSpPr>
        <p:spPr>
          <a:xfrm>
            <a:off x="8229600" y="2386584"/>
            <a:ext cx="3200400" cy="539496"/>
          </a:xfrm>
          <a:prstGeom prst="rect">
            <a:avLst/>
          </a:prstGeom>
          <a:noFill/>
        </p:spPr>
        <p:txBody>
          <a:bodyPr wrap="square" lIns="0" rIns="0" tIns="0" bIns="0">
            <a:spAutoFit/>
          </a:bodyPr>
          <a:lstStyle/>
          <a:p>
            <a:pPr algn="l">
              <a:lnSpc>
                <a:spcPct val="108000"/>
              </a:lnSpc>
              <a:spcBef>
                <a:spcPts val="0"/>
              </a:spcBef>
              <a:spcAft>
                <a:spcPts val="300"/>
              </a:spcAft>
            </a:pPr>
            <a:r>
              <a:rPr sz="3100" b="1">
                <a:solidFill>
                  <a:srgbClr val="A9683D"/>
                </a:solidFill>
                <a:latin typeface="Liberation Sans"/>
              </a:rPr>
              <a:t>0.264 mm</a:t>
            </a:r>
          </a:p>
        </p:txBody>
      </p:sp>
      <p:sp>
        <p:nvSpPr>
          <p:cNvPr id="21" name="TextBox 20"/>
          <p:cNvSpPr txBox="1"/>
          <p:nvPr/>
        </p:nvSpPr>
        <p:spPr>
          <a:xfrm>
            <a:off x="8229600" y="3264408"/>
            <a:ext cx="3246120" cy="557784"/>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Four-rail contact surrogate</a:t>
            </a:r>
          </a:p>
        </p:txBody>
      </p:sp>
      <p:sp>
        <p:nvSpPr>
          <p:cNvPr id="22" name="TextBox 21"/>
          <p:cNvSpPr txBox="1"/>
          <p:nvPr/>
        </p:nvSpPr>
        <p:spPr>
          <a:xfrm>
            <a:off x="8229600" y="3840480"/>
            <a:ext cx="3218688" cy="457200"/>
          </a:xfrm>
          <a:prstGeom prst="rect">
            <a:avLst/>
          </a:prstGeom>
          <a:noFill/>
        </p:spPr>
        <p:txBody>
          <a:bodyPr wrap="square" lIns="0" rIns="0" tIns="0" bIns="0">
            <a:spAutoFit/>
          </a:bodyPr>
          <a:lstStyle/>
          <a:p>
            <a:pPr algn="l">
              <a:lnSpc>
                <a:spcPct val="108000"/>
              </a:lnSpc>
              <a:spcBef>
                <a:spcPts val="0"/>
              </a:spcBef>
              <a:spcAft>
                <a:spcPts val="300"/>
              </a:spcAft>
            </a:pPr>
            <a:r>
              <a:rPr sz="1600" b="0">
                <a:solidFill>
                  <a:srgbClr val="617386"/>
                </a:solidFill>
                <a:latin typeface="Liberation Sans"/>
              </a:rPr>
              <a:t>Elastic-energy rate bounds</a:t>
            </a:r>
          </a:p>
        </p:txBody>
      </p:sp>
      <p:sp>
        <p:nvSpPr>
          <p:cNvPr id="23" name="TextBox 22"/>
          <p:cNvSpPr txBox="1"/>
          <p:nvPr/>
        </p:nvSpPr>
        <p:spPr>
          <a:xfrm>
            <a:off x="8229600" y="4443984"/>
            <a:ext cx="3246120" cy="996696"/>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A9683D"/>
                </a:solidFill>
                <a:latin typeface="Liberation Sans"/>
              </a:rPr>
              <a:t>1.044°/s  pitch/yaw</a:t>
            </a:r>
          </a:p>
          <a:p>
            <a:pPr algn="l">
              <a:lnSpc>
                <a:spcPct val="108000"/>
              </a:lnSpc>
              <a:spcBef>
                <a:spcPts val="0"/>
              </a:spcBef>
              <a:spcAft>
                <a:spcPts val="300"/>
              </a:spcAft>
            </a:pPr>
            <a:r>
              <a:rPr sz="2300" b="1">
                <a:solidFill>
                  <a:srgbClr val="A9683D"/>
                </a:solidFill>
                <a:latin typeface="Liberation Sans"/>
              </a:rPr>
              <a:t>2.619°/s  all-axis</a:t>
            </a:r>
          </a:p>
        </p:txBody>
      </p:sp>
      <p:sp>
        <p:nvSpPr>
          <p:cNvPr id="24" name="TextBox 23"/>
          <p:cNvSpPr txBox="1"/>
          <p:nvPr/>
        </p:nvSpPr>
        <p:spPr>
          <a:xfrm>
            <a:off x="8229600" y="5623560"/>
            <a:ext cx="3246120" cy="521207"/>
          </a:xfrm>
          <a:prstGeom prst="rect">
            <a:avLst/>
          </a:prstGeom>
          <a:noFill/>
        </p:spPr>
        <p:txBody>
          <a:bodyPr wrap="square" lIns="0" rIns="0" tIns="0" bIns="0">
            <a:spAutoFit/>
          </a:bodyPr>
          <a:lstStyle/>
          <a:p>
            <a:pPr algn="l">
              <a:lnSpc>
                <a:spcPct val="108000"/>
              </a:lnSpc>
              <a:spcBef>
                <a:spcPts val="0"/>
              </a:spcBef>
              <a:spcAft>
                <a:spcPts val="300"/>
              </a:spcAft>
            </a:pPr>
            <a:r>
              <a:rPr sz="1450" b="0">
                <a:solidFill>
                  <a:srgbClr val="617386"/>
                </a:solidFill>
                <a:latin typeface="Liberation Sans"/>
              </a:rPr>
              <a:t>Declared stiffness and inertia.</a:t>
            </a:r>
          </a:p>
          <a:p>
            <a:pPr algn="l">
              <a:lnSpc>
                <a:spcPct val="108000"/>
              </a:lnSpc>
              <a:spcBef>
                <a:spcPts val="0"/>
              </a:spcBef>
              <a:spcAft>
                <a:spcPts val="300"/>
              </a:spcAft>
            </a:pPr>
            <a:r>
              <a:rPr sz="1450" b="0">
                <a:solidFill>
                  <a:srgbClr val="617386"/>
                </a:solidFill>
                <a:latin typeface="Liberation Sans"/>
              </a:rPr>
              <a:t>Gen6 physical correlation.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MISSION RESULTS</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Mission trade: retain the complete mass and control boundary</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Accepted finite-burn comparison: same 500 kg wet bus and twelve 4 kg payloads; tested policy families</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14 / 17</a:t>
            </a:r>
          </a:p>
        </p:txBody>
      </p:sp>
      <p:pic>
        <p:nvPicPr>
          <p:cNvPr id="9" name="Picture 8" descr="MISSION_RESOURCES.png"/>
          <p:cNvPicPr>
            <a:picLocks noChangeAspect="1"/>
          </p:cNvPicPr>
          <p:nvPr/>
        </p:nvPicPr>
        <p:blipFill>
          <a:blip r:embed="rId2"/>
          <a:stretch>
            <a:fillRect/>
          </a:stretch>
        </p:blipFill>
        <p:spPr>
          <a:xfrm>
            <a:off x="946404" y="1417320"/>
            <a:ext cx="10287000" cy="4114800"/>
          </a:xfrm>
          <a:prstGeom prst="rect">
            <a:avLst/>
          </a:prstGeom>
        </p:spPr>
      </p:pic>
      <p:sp>
        <p:nvSpPr>
          <p:cNvPr id="10" name="TextBox 9"/>
          <p:cNvSpPr txBox="1"/>
          <p:nvPr/>
        </p:nvSpPr>
        <p:spPr>
          <a:xfrm>
            <a:off x="685800" y="5724144"/>
            <a:ext cx="10881360" cy="347472"/>
          </a:xfrm>
          <a:prstGeom prst="rect">
            <a:avLst/>
          </a:prstGeom>
          <a:noFill/>
        </p:spPr>
        <p:txBody>
          <a:bodyPr wrap="square" lIns="0" rIns="0" tIns="0" bIns="0">
            <a:spAutoFit/>
          </a:bodyPr>
          <a:lstStyle/>
          <a:p>
            <a:pPr algn="l">
              <a:lnSpc>
                <a:spcPct val="108000"/>
              </a:lnSpc>
              <a:spcBef>
                <a:spcPts val="0"/>
              </a:spcBef>
              <a:spcAft>
                <a:spcPts val="300"/>
              </a:spcAft>
            </a:pPr>
            <a:r>
              <a:rPr sz="2000" b="1">
                <a:solidFill>
                  <a:srgbClr val="102A43"/>
                </a:solidFill>
                <a:latin typeface="Liberation Sans"/>
              </a:rPr>
              <a:t>Ideal pretrim uses less fuel and retained mass in this comparison.</a:t>
            </a:r>
          </a:p>
        </p:txBody>
      </p:sp>
      <p:sp>
        <p:nvSpPr>
          <p:cNvPr id="11" name="TextBox 10"/>
          <p:cNvSpPr txBox="1"/>
          <p:nvPr/>
        </p:nvSpPr>
        <p:spPr>
          <a:xfrm>
            <a:off x="685800" y="6108192"/>
            <a:ext cx="10881360" cy="228600"/>
          </a:xfrm>
          <a:prstGeom prst="rect">
            <a:avLst/>
          </a:prstGeom>
          <a:noFill/>
        </p:spPr>
        <p:txBody>
          <a:bodyPr wrap="square" lIns="0" rIns="0" tIns="0" bIns="0">
            <a:spAutoFit/>
          </a:bodyPr>
          <a:lstStyle/>
          <a:p>
            <a:pPr algn="l">
              <a:lnSpc>
                <a:spcPct val="108000"/>
              </a:lnSpc>
              <a:spcBef>
                <a:spcPts val="0"/>
              </a:spcBef>
              <a:spcAft>
                <a:spcPts val="300"/>
              </a:spcAft>
            </a:pPr>
            <a:r>
              <a:rPr sz="1250" b="0">
                <a:solidFill>
                  <a:srgbClr val="617386"/>
                </a:solidFill>
                <a:latin typeface="Liberation Sans"/>
              </a:rPr>
              <a:t>Control families: Gen5 has 400 s coast-only releases; spring policies allow broader burns.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CONCLUSION</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Conclusions of the computational design study</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Basis: controlled Gen5 ACR1 geometry, coupled simulations, independent checks and mission comparison</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15 / 17</a:t>
            </a:r>
          </a:p>
        </p:txBody>
      </p:sp>
      <p:sp>
        <p:nvSpPr>
          <p:cNvPr id="9" name="Rectangle 8"/>
          <p:cNvSpPr/>
          <p:nvPr/>
        </p:nvSpPr>
        <p:spPr>
          <a:xfrm>
            <a:off x="594360" y="1572768"/>
            <a:ext cx="10972800" cy="12344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572768"/>
            <a:ext cx="59436" cy="12344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9928"/>
            <a:ext cx="10469880" cy="365760"/>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A complete reference cycle is defined</a:t>
            </a:r>
          </a:p>
        </p:txBody>
      </p:sp>
      <p:sp>
        <p:nvSpPr>
          <p:cNvPr id="12" name="TextBox 11"/>
          <p:cNvSpPr txBox="1"/>
          <p:nvPr/>
        </p:nvSpPr>
        <p:spPr>
          <a:xfrm>
            <a:off x="822960" y="2194560"/>
            <a:ext cx="10469880" cy="566928"/>
          </a:xfrm>
          <a:prstGeom prst="rect">
            <a:avLst/>
          </a:prstGeom>
          <a:noFill/>
        </p:spPr>
        <p:txBody>
          <a:bodyPr wrap="square" lIns="0" rIns="0" tIns="0" bIns="0">
            <a:spAutoFit/>
          </a:bodyPr>
          <a:lstStyle/>
          <a:p>
            <a:pPr algn="l">
              <a:lnSpc>
                <a:spcPct val="108000"/>
              </a:lnSpc>
              <a:spcBef>
                <a:spcPts val="0"/>
              </a:spcBef>
              <a:spcAft>
                <a:spcPts val="300"/>
              </a:spcAft>
            </a:pPr>
            <a:r>
              <a:rPr sz="1900" b="0">
                <a:solidFill>
                  <a:srgbClr val="26384B"/>
                </a:solidFill>
                <a:latin typeface="Liberation Sans"/>
              </a:rPr>
              <a:t>Fixed cells, guided feed, positive pallet capture, commanded release, active arrest and return.</a:t>
            </a:r>
          </a:p>
        </p:txBody>
      </p:sp>
      <p:sp>
        <p:nvSpPr>
          <p:cNvPr id="13" name="Rectangle 12"/>
          <p:cNvSpPr/>
          <p:nvPr/>
        </p:nvSpPr>
        <p:spPr>
          <a:xfrm>
            <a:off x="594360" y="2962656"/>
            <a:ext cx="10972800" cy="12344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962656"/>
            <a:ext cx="59436" cy="12344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99816"/>
            <a:ext cx="10469880" cy="365760"/>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The declared low-speed cases are computationally supported</a:t>
            </a:r>
          </a:p>
        </p:txBody>
      </p:sp>
      <p:sp>
        <p:nvSpPr>
          <p:cNvPr id="16" name="TextBox 15"/>
          <p:cNvSpPr txBox="1"/>
          <p:nvPr/>
        </p:nvSpPr>
        <p:spPr>
          <a:xfrm>
            <a:off x="822960" y="3584448"/>
            <a:ext cx="10469880" cy="566928"/>
          </a:xfrm>
          <a:prstGeom prst="rect">
            <a:avLst/>
          </a:prstGeom>
          <a:noFill/>
        </p:spPr>
        <p:txBody>
          <a:bodyPr wrap="square" lIns="0" rIns="0" tIns="0" bIns="0">
            <a:spAutoFit/>
          </a:bodyPr>
          <a:lstStyle/>
          <a:p>
            <a:pPr algn="l">
              <a:lnSpc>
                <a:spcPct val="108000"/>
              </a:lnSpc>
              <a:spcBef>
                <a:spcPts val="0"/>
              </a:spcBef>
              <a:spcAft>
                <a:spcPts val="300"/>
              </a:spcAft>
            </a:pPr>
            <a:r>
              <a:rPr sz="1900" b="0">
                <a:solidFill>
                  <a:srgbClr val="26384B"/>
                </a:solidFill>
                <a:latin typeface="Liberation Sans"/>
              </a:rPr>
              <a:t>1–3 m/s cases analysed; the principal 3 m/s matrix passes a reviewed shared-solver timestep audit.</a:t>
            </a:r>
          </a:p>
        </p:txBody>
      </p:sp>
      <p:sp>
        <p:nvSpPr>
          <p:cNvPr id="17" name="Rectangle 16"/>
          <p:cNvSpPr/>
          <p:nvPr/>
        </p:nvSpPr>
        <p:spPr>
          <a:xfrm>
            <a:off x="594360" y="4352544"/>
            <a:ext cx="10972800" cy="123444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4352544"/>
            <a:ext cx="59436" cy="1234440"/>
          </a:xfrm>
          <a:prstGeom prst="rect">
            <a:avLst/>
          </a:prstGeom>
          <a:solidFill>
            <a:srgbClr val="A96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89704"/>
            <a:ext cx="10469880" cy="365760"/>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The retained system burden is visible</a:t>
            </a:r>
          </a:p>
        </p:txBody>
      </p:sp>
      <p:sp>
        <p:nvSpPr>
          <p:cNvPr id="20" name="TextBox 19"/>
          <p:cNvSpPr txBox="1"/>
          <p:nvPr/>
        </p:nvSpPr>
        <p:spPr>
          <a:xfrm>
            <a:off x="822960" y="4974336"/>
            <a:ext cx="10469880" cy="566928"/>
          </a:xfrm>
          <a:prstGeom prst="rect">
            <a:avLst/>
          </a:prstGeom>
          <a:noFill/>
        </p:spPr>
        <p:txBody>
          <a:bodyPr wrap="square" lIns="0" rIns="0" tIns="0" bIns="0">
            <a:spAutoFit/>
          </a:bodyPr>
          <a:lstStyle/>
          <a:p>
            <a:pPr algn="l">
              <a:lnSpc>
                <a:spcPct val="108000"/>
              </a:lnSpc>
              <a:spcBef>
                <a:spcPts val="0"/>
              </a:spcBef>
              <a:spcAft>
                <a:spcPts val="300"/>
              </a:spcAft>
            </a:pPr>
            <a:r>
              <a:rPr sz="1900" b="0">
                <a:solidFill>
                  <a:srgbClr val="26384B"/>
                </a:solidFill>
                <a:latin typeface="Liberation Sans"/>
              </a:rPr>
              <a:t>149.557 kg represented dry CAD plus 7 kg allowance; no resource advantage over ideal pretrim in the stated mission comparison.</a:t>
            </a:r>
          </a:p>
        </p:txBody>
      </p:sp>
      <p:sp>
        <p:nvSpPr>
          <p:cNvPr id="21" name="TextBox 20"/>
          <p:cNvSpPr txBox="1"/>
          <p:nvPr/>
        </p:nvSpPr>
        <p:spPr>
          <a:xfrm>
            <a:off x="777240" y="5907024"/>
            <a:ext cx="10607040" cy="374904"/>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102A43"/>
                </a:solidFill>
                <a:latin typeface="Liberation Sans"/>
              </a:rPr>
              <a:t>Gen5 ACR1 completes the computational reference for physical validation.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FUTURE WORK</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Gen6: an instrumented mixed 1U / 3U physical prototype</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Proposed development programme; no measured VOLLEY prototype performance is reported</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16 / 17</a:t>
            </a:r>
          </a:p>
        </p:txBody>
      </p:sp>
      <p:sp>
        <p:nvSpPr>
          <p:cNvPr id="9" name="Rectangle 8"/>
          <p:cNvSpPr/>
          <p:nvPr/>
        </p:nvSpPr>
        <p:spPr>
          <a:xfrm>
            <a:off x="594360" y="1691640"/>
            <a:ext cx="3410712" cy="33375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93392"/>
            <a:ext cx="2999232" cy="603504"/>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1  Characterise</a:t>
            </a:r>
          </a:p>
        </p:txBody>
      </p:sp>
      <p:sp>
        <p:nvSpPr>
          <p:cNvPr id="11" name="TextBox 10"/>
          <p:cNvSpPr txBox="1"/>
          <p:nvPr/>
        </p:nvSpPr>
        <p:spPr>
          <a:xfrm>
            <a:off x="795528" y="2871216"/>
            <a:ext cx="2999232" cy="1773936"/>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Force / back emf</a:t>
            </a:r>
          </a:p>
          <a:p>
            <a:pPr algn="l">
              <a:lnSpc>
                <a:spcPct val="108000"/>
              </a:lnSpc>
              <a:spcBef>
                <a:spcPts val="0"/>
              </a:spcBef>
              <a:spcAft>
                <a:spcPts val="300"/>
              </a:spcAft>
            </a:pPr>
            <a:r>
              <a:rPr sz="2000" b="0">
                <a:solidFill>
                  <a:srgbClr val="26384B"/>
                </a:solidFill>
                <a:latin typeface="Liberation Sans"/>
              </a:rPr>
              <a:t>Resistance and inductance</a:t>
            </a:r>
          </a:p>
          <a:p>
            <a:pPr algn="l">
              <a:lnSpc>
                <a:spcPct val="108000"/>
              </a:lnSpc>
              <a:spcBef>
                <a:spcPts val="0"/>
              </a:spcBef>
              <a:spcAft>
                <a:spcPts val="300"/>
              </a:spcAft>
            </a:pPr>
            <a:r>
              <a:rPr sz="2000" b="0">
                <a:solidFill>
                  <a:srgbClr val="26384B"/>
                </a:solidFill>
                <a:latin typeface="Liberation Sans"/>
              </a:rPr>
              <a:t>Source ESR and switching</a:t>
            </a:r>
          </a:p>
        </p:txBody>
      </p:sp>
      <p:sp>
        <p:nvSpPr>
          <p:cNvPr id="12" name="Rectangle 11"/>
          <p:cNvSpPr/>
          <p:nvPr/>
        </p:nvSpPr>
        <p:spPr>
          <a:xfrm>
            <a:off x="4389120" y="1691640"/>
            <a:ext cx="3410712" cy="33375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93392"/>
            <a:ext cx="2999232" cy="603504"/>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2  Correlate custody</a:t>
            </a:r>
          </a:p>
        </p:txBody>
      </p:sp>
      <p:sp>
        <p:nvSpPr>
          <p:cNvPr id="14" name="TextBox 13"/>
          <p:cNvSpPr txBox="1"/>
          <p:nvPr/>
        </p:nvSpPr>
        <p:spPr>
          <a:xfrm>
            <a:off x="4590288" y="2871216"/>
            <a:ext cx="2999232" cy="1773936"/>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Pusher and guide forces</a:t>
            </a:r>
          </a:p>
          <a:p>
            <a:pPr algn="l">
              <a:lnSpc>
                <a:spcPct val="108000"/>
              </a:lnSpc>
              <a:spcBef>
                <a:spcPts val="0"/>
              </a:spcBef>
              <a:spcAft>
                <a:spcPts val="300"/>
              </a:spcAft>
            </a:pPr>
            <a:r>
              <a:rPr sz="2000" b="0">
                <a:solidFill>
                  <a:srgbClr val="26384B"/>
                </a:solidFill>
                <a:latin typeface="Liberation Sans"/>
              </a:rPr>
              <a:t>Pallet and lock repeatability</a:t>
            </a:r>
          </a:p>
          <a:p>
            <a:pPr algn="l">
              <a:lnSpc>
                <a:spcPct val="108000"/>
              </a:lnSpc>
              <a:spcBef>
                <a:spcPts val="0"/>
              </a:spcBef>
              <a:spcAft>
                <a:spcPts val="300"/>
              </a:spcAft>
            </a:pPr>
            <a:r>
              <a:rPr sz="2000" b="0">
                <a:solidFill>
                  <a:srgbClr val="26384B"/>
                </a:solidFill>
                <a:latin typeface="Liberation Sans"/>
              </a:rPr>
              <a:t>Payload contact and angular rate</a:t>
            </a:r>
          </a:p>
        </p:txBody>
      </p:sp>
      <p:sp>
        <p:nvSpPr>
          <p:cNvPr id="15" name="Rectangle 14"/>
          <p:cNvSpPr/>
          <p:nvPr/>
        </p:nvSpPr>
        <p:spPr>
          <a:xfrm>
            <a:off x="8183879" y="1691640"/>
            <a:ext cx="3410712" cy="33375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1993392"/>
            <a:ext cx="2999232" cy="603504"/>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102A43"/>
                </a:solidFill>
                <a:latin typeface="Liberation Sans"/>
              </a:rPr>
              <a:t>3  Demonstrate the cycle</a:t>
            </a:r>
          </a:p>
        </p:txBody>
      </p:sp>
      <p:sp>
        <p:nvSpPr>
          <p:cNvPr id="17" name="TextBox 16"/>
          <p:cNvSpPr txBox="1"/>
          <p:nvPr/>
        </p:nvSpPr>
        <p:spPr>
          <a:xfrm>
            <a:off x="8385048" y="2871216"/>
            <a:ext cx="2999232" cy="1773936"/>
          </a:xfrm>
          <a:prstGeom prst="rect">
            <a:avLst/>
          </a:prstGeom>
          <a:noFill/>
        </p:spPr>
        <p:txBody>
          <a:bodyPr wrap="square" lIns="0" rIns="0" tIns="0" bIns="0">
            <a:spAutoFit/>
          </a:bodyPr>
          <a:lstStyle/>
          <a:p>
            <a:pPr algn="l">
              <a:lnSpc>
                <a:spcPct val="108000"/>
              </a:lnSpc>
              <a:spcBef>
                <a:spcPts val="0"/>
              </a:spcBef>
              <a:spcAft>
                <a:spcPts val="300"/>
              </a:spcAft>
            </a:pPr>
            <a:r>
              <a:rPr sz="2000" b="0">
                <a:solidFill>
                  <a:srgbClr val="26384B"/>
                </a:solidFill>
                <a:latin typeface="Liberation Sans"/>
              </a:rPr>
              <a:t>Release and active arrest</a:t>
            </a:r>
          </a:p>
          <a:p>
            <a:pPr algn="l">
              <a:lnSpc>
                <a:spcPct val="108000"/>
              </a:lnSpc>
              <a:spcBef>
                <a:spcPts val="0"/>
              </a:spcBef>
              <a:spcAft>
                <a:spcPts val="300"/>
              </a:spcAft>
            </a:pPr>
            <a:r>
              <a:rPr sz="2000" b="0">
                <a:solidFill>
                  <a:srgbClr val="26384B"/>
                </a:solidFill>
                <a:latin typeface="Liberation Sans"/>
              </a:rPr>
              <a:t>Repeated thermal duty</a:t>
            </a:r>
          </a:p>
          <a:p>
            <a:pPr algn="l">
              <a:lnSpc>
                <a:spcPct val="108000"/>
              </a:lnSpc>
              <a:spcBef>
                <a:spcPts val="0"/>
              </a:spcBef>
              <a:spcAft>
                <a:spcPts val="300"/>
              </a:spcAft>
            </a:pPr>
            <a:r>
              <a:rPr sz="2000" b="0">
                <a:solidFill>
                  <a:srgbClr val="26384B"/>
                </a:solidFill>
                <a:latin typeface="Liberation Sans"/>
              </a:rPr>
              <a:t>Mixed-envelope handling</a:t>
            </a:r>
          </a:p>
        </p:txBody>
      </p:sp>
      <p:sp>
        <p:nvSpPr>
          <p:cNvPr id="18" name="TextBox 17"/>
          <p:cNvSpPr txBox="1"/>
          <p:nvPr/>
        </p:nvSpPr>
        <p:spPr>
          <a:xfrm>
            <a:off x="777240" y="5596128"/>
            <a:ext cx="10515600" cy="603504"/>
          </a:xfrm>
          <a:prstGeom prst="rect">
            <a:avLst/>
          </a:prstGeom>
          <a:noFill/>
        </p:spPr>
        <p:txBody>
          <a:bodyPr wrap="square" lIns="0" rIns="0" tIns="0" bIns="0">
            <a:spAutoFit/>
          </a:bodyPr>
          <a:lstStyle/>
          <a:p>
            <a:pPr algn="l">
              <a:lnSpc>
                <a:spcPct val="108000"/>
              </a:lnSpc>
              <a:spcBef>
                <a:spcPts val="0"/>
              </a:spcBef>
              <a:spcAft>
                <a:spcPts val="300"/>
              </a:spcAft>
            </a:pPr>
            <a:r>
              <a:rPr sz="2300" b="1">
                <a:solidFill>
                  <a:srgbClr val="A9683D"/>
                </a:solidFill>
                <a:latin typeface="Liberation Sans"/>
              </a:rPr>
              <a:t>Further scaling requires fresh stroke, acceleration, energy, arrest and heat-rejection budgets.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6400800" cy="201168"/>
          </a:xfrm>
          <a:prstGeom prst="rect">
            <a:avLst/>
          </a:prstGeom>
          <a:noFill/>
        </p:spPr>
        <p:txBody>
          <a:bodyPr wrap="square" lIns="0" rIns="0" tIns="0" bIns="0">
            <a:spAutoFit/>
          </a:bodyPr>
          <a:lstStyle/>
          <a:p>
            <a:pPr algn="l">
              <a:lnSpc>
                <a:spcPct val="108000"/>
              </a:lnSpc>
              <a:spcBef>
                <a:spcPts val="0"/>
              </a:spcBef>
              <a:spcAft>
                <a:spcPts val="300"/>
              </a:spcAft>
            </a:pPr>
            <a:r>
              <a:rPr sz="1100" b="1">
                <a:solidFill>
                  <a:srgbClr val="A9683D"/>
                </a:solidFill>
                <a:latin typeface="Liberation Sans"/>
              </a:rPr>
              <a:t>VOLLEY  /  GEN5 ACR1</a:t>
            </a:r>
          </a:p>
        </p:txBody>
      </p:sp>
      <p:sp>
        <p:nvSpPr>
          <p:cNvPr id="4" name="TextBox 3"/>
          <p:cNvSpPr txBox="1"/>
          <p:nvPr/>
        </p:nvSpPr>
        <p:spPr>
          <a:xfrm>
            <a:off x="9235440" y="146304"/>
            <a:ext cx="2450592" cy="201168"/>
          </a:xfrm>
          <a:prstGeom prst="rect">
            <a:avLst/>
          </a:prstGeom>
          <a:noFill/>
        </p:spPr>
        <p:txBody>
          <a:bodyPr wrap="square" lIns="0" rIns="0" tIns="0" bIns="0">
            <a:spAutoFit/>
          </a:bodyPr>
          <a:lstStyle/>
          <a:p>
            <a:pPr algn="r">
              <a:lnSpc>
                <a:spcPct val="108000"/>
              </a:lnSpc>
              <a:spcBef>
                <a:spcPts val="0"/>
              </a:spcBef>
              <a:spcAft>
                <a:spcPts val="300"/>
              </a:spcAft>
            </a:pPr>
            <a:r>
              <a:rPr sz="1100" b="0">
                <a:solidFill>
                  <a:srgbClr val="617386"/>
                </a:solidFill>
                <a:latin typeface="Liberation Sans"/>
              </a:rPr>
              <a:t>REFERENCES</a:t>
            </a:r>
          </a:p>
        </p:txBody>
      </p:sp>
      <p:sp>
        <p:nvSpPr>
          <p:cNvPr id="5" name="TextBox 4"/>
          <p:cNvSpPr txBox="1"/>
          <p:nvPr/>
        </p:nvSpPr>
        <p:spPr>
          <a:xfrm>
            <a:off x="502920" y="466344"/>
            <a:ext cx="11155680" cy="640080"/>
          </a:xfrm>
          <a:prstGeom prst="rect">
            <a:avLst/>
          </a:prstGeom>
          <a:noFill/>
        </p:spPr>
        <p:txBody>
          <a:bodyPr wrap="square" lIns="0" rIns="0" tIns="0" bIns="0">
            <a:spAutoFit/>
          </a:bodyPr>
          <a:lstStyle/>
          <a:p>
            <a:pPr algn="l">
              <a:lnSpc>
                <a:spcPct val="108000"/>
              </a:lnSpc>
              <a:spcBef>
                <a:spcPts val="0"/>
              </a:spcBef>
              <a:spcAft>
                <a:spcPts val="300"/>
              </a:spcAft>
            </a:pPr>
            <a:r>
              <a:rPr sz="2800" b="1">
                <a:solidFill>
                  <a:srgbClr val="102A43"/>
                </a:solidFill>
                <a:latin typeface="Liberation Sans"/>
              </a:rPr>
              <a:t>Selected references</a:t>
            </a:r>
          </a:p>
        </p:txBody>
      </p:sp>
      <p:cxnSp>
        <p:nvCxnSpPr>
          <p:cNvPr id="6" name="Connector 5"/>
          <p:cNvCxnSpPr/>
          <p:nvPr/>
        </p:nvCxnSpPr>
        <p:spPr>
          <a:xfrm>
            <a:off x="502920" y="6373368"/>
            <a:ext cx="11183112" cy="0"/>
          </a:xfrm>
          <a:prstGeom prst="line">
            <a:avLst/>
          </a:prstGeom>
          <a:ln w="8890">
            <a:solidFill>
              <a:srgbClr val="CFD8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424160" cy="219456"/>
          </a:xfrm>
          <a:prstGeom prst="rect">
            <a:avLst/>
          </a:prstGeom>
          <a:noFill/>
        </p:spPr>
        <p:txBody>
          <a:bodyPr wrap="square" lIns="0" rIns="0" tIns="0" bIns="0">
            <a:spAutoFit/>
          </a:bodyPr>
          <a:lstStyle/>
          <a:p>
            <a:pPr algn="l">
              <a:lnSpc>
                <a:spcPct val="108000"/>
              </a:lnSpc>
              <a:spcBef>
                <a:spcPts val="0"/>
              </a:spcBef>
              <a:spcAft>
                <a:spcPts val="300"/>
              </a:spcAft>
            </a:pPr>
            <a:r>
              <a:rPr sz="1019" b="0">
                <a:solidFill>
                  <a:srgbClr val="617386"/>
                </a:solidFill>
                <a:latin typeface="Liberation Sans"/>
              </a:rPr>
              <a:t>Full bibliography, source data sheets and engineering provenance accompany the report</a:t>
            </a:r>
          </a:p>
        </p:txBody>
      </p:sp>
      <p:sp>
        <p:nvSpPr>
          <p:cNvPr id="8" name="TextBox 7"/>
          <p:cNvSpPr txBox="1"/>
          <p:nvPr/>
        </p:nvSpPr>
        <p:spPr>
          <a:xfrm>
            <a:off x="10881360" y="6437376"/>
            <a:ext cx="786384" cy="274320"/>
          </a:xfrm>
          <a:prstGeom prst="rect">
            <a:avLst/>
          </a:prstGeom>
          <a:noFill/>
        </p:spPr>
        <p:txBody>
          <a:bodyPr wrap="square" lIns="0" rIns="0" tIns="0" bIns="0">
            <a:spAutoFit/>
          </a:bodyPr>
          <a:lstStyle/>
          <a:p>
            <a:pPr algn="r">
              <a:lnSpc>
                <a:spcPct val="108000"/>
              </a:lnSpc>
              <a:spcBef>
                <a:spcPts val="0"/>
              </a:spcBef>
              <a:spcAft>
                <a:spcPts val="300"/>
              </a:spcAft>
            </a:pPr>
            <a:r>
              <a:rPr sz="1200" b="0">
                <a:solidFill>
                  <a:srgbClr val="102A43"/>
                </a:solidFill>
                <a:latin typeface="Liberation Sans"/>
              </a:rPr>
              <a:t>17 / 17</a:t>
            </a:r>
          </a:p>
        </p:txBody>
      </p:sp>
      <p:sp>
        <p:nvSpPr>
          <p:cNvPr id="9" name="TextBox 8"/>
          <p:cNvSpPr txBox="1"/>
          <p:nvPr/>
        </p:nvSpPr>
        <p:spPr>
          <a:xfrm>
            <a:off x="594360" y="149047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01</a:t>
            </a:r>
          </a:p>
        </p:txBody>
      </p:sp>
      <p:sp>
        <p:nvSpPr>
          <p:cNvPr id="10" name="TextBox 9"/>
          <p:cNvSpPr txBox="1"/>
          <p:nvPr/>
        </p:nvSpPr>
        <p:spPr>
          <a:xfrm>
            <a:off x="969264" y="149047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Cal Poly, CubeSat Design Specification, Rev. 14.1, 2022; JAXA, JEM small-satellite deployment ICD.</a:t>
            </a:r>
          </a:p>
        </p:txBody>
      </p:sp>
      <p:sp>
        <p:nvSpPr>
          <p:cNvPr id="11" name="TextBox 10"/>
          <p:cNvSpPr txBox="1"/>
          <p:nvPr/>
        </p:nvSpPr>
        <p:spPr>
          <a:xfrm>
            <a:off x="594360" y="235915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02</a:t>
            </a:r>
          </a:p>
        </p:txBody>
      </p:sp>
      <p:sp>
        <p:nvSpPr>
          <p:cNvPr id="12" name="TextBox 11"/>
          <p:cNvSpPr txBox="1"/>
          <p:nvPr/>
        </p:nvSpPr>
        <p:spPr>
          <a:xfrm>
            <a:off x="969264" y="235915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Zhao et al., “Design and analysis of a new deployer for the in-orbit release of multiple stacked CubeSats,” Remote Sensing 14, 4205, 2022. doi:10.3390/rs14174205.</a:t>
            </a:r>
          </a:p>
        </p:txBody>
      </p:sp>
      <p:sp>
        <p:nvSpPr>
          <p:cNvPr id="13" name="TextBox 12"/>
          <p:cNvSpPr txBox="1"/>
          <p:nvPr/>
        </p:nvSpPr>
        <p:spPr>
          <a:xfrm>
            <a:off x="594360" y="322783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03</a:t>
            </a:r>
          </a:p>
        </p:txBody>
      </p:sp>
      <p:sp>
        <p:nvSpPr>
          <p:cNvPr id="14" name="TextBox 13"/>
          <p:cNvSpPr txBox="1"/>
          <p:nvPr/>
        </p:nvSpPr>
        <p:spPr>
          <a:xfrm>
            <a:off x="969264" y="322783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Zhao et al., “Simulation analysis and experimental verification of the transport characteristics of a high-volume CubeSat storage device,” Aerospace 12, 466, 2025. doi:10.3390/aerospace12060466.</a:t>
            </a:r>
          </a:p>
        </p:txBody>
      </p:sp>
      <p:sp>
        <p:nvSpPr>
          <p:cNvPr id="15" name="TextBox 14"/>
          <p:cNvSpPr txBox="1"/>
          <p:nvPr/>
        </p:nvSpPr>
        <p:spPr>
          <a:xfrm>
            <a:off x="594360" y="4096511"/>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04</a:t>
            </a:r>
          </a:p>
        </p:txBody>
      </p:sp>
      <p:sp>
        <p:nvSpPr>
          <p:cNvPr id="16" name="TextBox 15"/>
          <p:cNvSpPr txBox="1"/>
          <p:nvPr/>
        </p:nvSpPr>
        <p:spPr>
          <a:xfrm>
            <a:off x="969264" y="4096511"/>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Feng, Yang and Wu, “Design and reachable domain analysis of on-orbit electromagnetic launcher for CubeSats,” IJAE, 3000765, 2025.</a:t>
            </a:r>
          </a:p>
        </p:txBody>
      </p:sp>
      <p:sp>
        <p:nvSpPr>
          <p:cNvPr id="17" name="TextBox 16"/>
          <p:cNvSpPr txBox="1"/>
          <p:nvPr/>
        </p:nvSpPr>
        <p:spPr>
          <a:xfrm>
            <a:off x="594360" y="496519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05</a:t>
            </a:r>
          </a:p>
        </p:txBody>
      </p:sp>
      <p:sp>
        <p:nvSpPr>
          <p:cNvPr id="18" name="TextBox 17"/>
          <p:cNvSpPr txBox="1"/>
          <p:nvPr/>
        </p:nvSpPr>
        <p:spPr>
          <a:xfrm>
            <a:off x="969264" y="496519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Halbach, “Design of permanent multipole magnets with oriented rare earth cobalt material,” NIM 169, 1–10, 1980.</a:t>
            </a:r>
          </a:p>
        </p:txBody>
      </p:sp>
      <p:sp>
        <p:nvSpPr>
          <p:cNvPr id="19" name="TextBox 18"/>
          <p:cNvSpPr txBox="1"/>
          <p:nvPr/>
        </p:nvSpPr>
        <p:spPr>
          <a:xfrm>
            <a:off x="6245352" y="149047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06</a:t>
            </a:r>
          </a:p>
        </p:txBody>
      </p:sp>
      <p:sp>
        <p:nvSpPr>
          <p:cNvPr id="20" name="TextBox 19"/>
          <p:cNvSpPr txBox="1"/>
          <p:nvPr/>
        </p:nvSpPr>
        <p:spPr>
          <a:xfrm>
            <a:off x="6620256" y="149047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Yamaguchi and Morishita, “End effects of Halbach field magnet-type linear motor,” Electrical Engineering in Japan, 2023. doi:10.1002/eej.23450.</a:t>
            </a:r>
          </a:p>
        </p:txBody>
      </p:sp>
      <p:sp>
        <p:nvSpPr>
          <p:cNvPr id="21" name="TextBox 20"/>
          <p:cNvSpPr txBox="1"/>
          <p:nvPr/>
        </p:nvSpPr>
        <p:spPr>
          <a:xfrm>
            <a:off x="6245352" y="235915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07</a:t>
            </a:r>
          </a:p>
        </p:txBody>
      </p:sp>
      <p:sp>
        <p:nvSpPr>
          <p:cNvPr id="22" name="TextBox 21"/>
          <p:cNvSpPr txBox="1"/>
          <p:nvPr/>
        </p:nvSpPr>
        <p:spPr>
          <a:xfrm>
            <a:off x="6620256" y="235915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Foster et al., “Constellation phasing with differential drag on Planet Labs satellites,” Journal of Spacecraft and Rockets 55(2), 2018.</a:t>
            </a:r>
          </a:p>
        </p:txBody>
      </p:sp>
      <p:sp>
        <p:nvSpPr>
          <p:cNvPr id="23" name="TextBox 22"/>
          <p:cNvSpPr txBox="1"/>
          <p:nvPr/>
        </p:nvSpPr>
        <p:spPr>
          <a:xfrm>
            <a:off x="6245352" y="322783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08</a:t>
            </a:r>
          </a:p>
        </p:txBody>
      </p:sp>
      <p:sp>
        <p:nvSpPr>
          <p:cNvPr id="24" name="TextBox 23"/>
          <p:cNvSpPr txBox="1"/>
          <p:nvPr/>
        </p:nvSpPr>
        <p:spPr>
          <a:xfrm>
            <a:off x="6620256" y="322783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Vallado, Fundamentals of Astrodynamics and Applications, 4th ed., 2013.</a:t>
            </a:r>
          </a:p>
        </p:txBody>
      </p:sp>
      <p:sp>
        <p:nvSpPr>
          <p:cNvPr id="25" name="TextBox 24"/>
          <p:cNvSpPr txBox="1"/>
          <p:nvPr/>
        </p:nvSpPr>
        <p:spPr>
          <a:xfrm>
            <a:off x="6245352" y="4096511"/>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09</a:t>
            </a:r>
          </a:p>
        </p:txBody>
      </p:sp>
      <p:sp>
        <p:nvSpPr>
          <p:cNvPr id="26" name="TextBox 25"/>
          <p:cNvSpPr txBox="1"/>
          <p:nvPr/>
        </p:nvSpPr>
        <p:spPr>
          <a:xfrm>
            <a:off x="6620256" y="4096511"/>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Component references: Eaton TV cells; Infineon IRFP4668PbF; Texas Instruments UCC21520; FAULHABER 3242 BX4 and 32GPT.</a:t>
            </a:r>
          </a:p>
        </p:txBody>
      </p:sp>
      <p:sp>
        <p:nvSpPr>
          <p:cNvPr id="27" name="TextBox 26"/>
          <p:cNvSpPr txBox="1"/>
          <p:nvPr/>
        </p:nvSpPr>
        <p:spPr>
          <a:xfrm>
            <a:off x="6245352" y="4965192"/>
            <a:ext cx="320040" cy="292608"/>
          </a:xfrm>
          <a:prstGeom prst="rect">
            <a:avLst/>
          </a:prstGeom>
          <a:noFill/>
        </p:spPr>
        <p:txBody>
          <a:bodyPr wrap="square" lIns="0" rIns="0" tIns="0" bIns="0">
            <a:spAutoFit/>
          </a:bodyPr>
          <a:lstStyle/>
          <a:p>
            <a:pPr algn="l">
              <a:lnSpc>
                <a:spcPct val="108000"/>
              </a:lnSpc>
              <a:spcBef>
                <a:spcPts val="0"/>
              </a:spcBef>
              <a:spcAft>
                <a:spcPts val="300"/>
              </a:spcAft>
            </a:pPr>
            <a:r>
              <a:rPr sz="1300" b="1">
                <a:solidFill>
                  <a:srgbClr val="A9683D"/>
                </a:solidFill>
                <a:latin typeface="Liberation Sans"/>
              </a:rPr>
              <a:t>10</a:t>
            </a:r>
          </a:p>
        </p:txBody>
      </p:sp>
      <p:sp>
        <p:nvSpPr>
          <p:cNvPr id="28" name="TextBox 27"/>
          <p:cNvSpPr txBox="1"/>
          <p:nvPr/>
        </p:nvSpPr>
        <p:spPr>
          <a:xfrm>
            <a:off x="6620256" y="4965192"/>
            <a:ext cx="5084064" cy="841248"/>
          </a:xfrm>
          <a:prstGeom prst="rect">
            <a:avLst/>
          </a:prstGeom>
          <a:noFill/>
        </p:spPr>
        <p:txBody>
          <a:bodyPr wrap="square" lIns="0" rIns="0" tIns="0" bIns="0">
            <a:spAutoFit/>
          </a:bodyPr>
          <a:lstStyle/>
          <a:p>
            <a:pPr algn="l">
              <a:lnSpc>
                <a:spcPct val="108000"/>
              </a:lnSpc>
              <a:spcBef>
                <a:spcPts val="0"/>
              </a:spcBef>
              <a:spcAft>
                <a:spcPts val="300"/>
              </a:spcAft>
            </a:pPr>
            <a:r>
              <a:rPr sz="1280" b="0">
                <a:solidFill>
                  <a:srgbClr val="26384B"/>
                </a:solidFill>
                <a:latin typeface="Liberation Sans"/>
              </a:rPr>
              <a:t>Methods: FreeCAD; Magpylib (SoftwareX 11, 100466); Gmsh (IJNME 79, 1309–1331); CalculiX; Blender.</a:t>
            </a:r>
          </a:p>
        </p:txBody>
      </p:sp>
      <p:sp>
        <p:nvSpPr>
          <p:cNvPr id="29" name="TextBox 28"/>
          <p:cNvSpPr txBox="1"/>
          <p:nvPr/>
        </p:nvSpPr>
        <p:spPr>
          <a:xfrm>
            <a:off x="731520" y="6007608"/>
            <a:ext cx="10789920" cy="356616"/>
          </a:xfrm>
          <a:prstGeom prst="rect">
            <a:avLst/>
          </a:prstGeom>
          <a:noFill/>
        </p:spPr>
        <p:txBody>
          <a:bodyPr wrap="square" lIns="0" rIns="0" tIns="0" bIns="0">
            <a:spAutoFit/>
          </a:bodyPr>
          <a:lstStyle/>
          <a:p>
            <a:pPr algn="l">
              <a:lnSpc>
                <a:spcPct val="108000"/>
              </a:lnSpc>
              <a:spcBef>
                <a:spcPts val="0"/>
              </a:spcBef>
              <a:spcAft>
                <a:spcPts val="300"/>
              </a:spcAft>
            </a:pPr>
            <a:r>
              <a:rPr sz="2200" b="1">
                <a:solidFill>
                  <a:srgbClr val="102A43"/>
                </a:solidFill>
                <a:latin typeface="Liberation San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VOLLEY: Design and Computational Evaluation of a Commanded Electromagnetic CubeSat Deployment Mechanism</dc:title>
  <dc:subject>B.Tech Mechanical Engineering computational design study</dc:subject>
  <dc:creator>Adityavardhan Mishra; Pratham Chawla</dc:creator>
  <cp:keywords>VOLLEY, CubeSat, electromagnetic deployment, Gen5 ACR1</cp:keywords>
  <dc:description>generated using python-pptx</dc:description>
  <cp:lastModifiedBy>Adityavardhan Mishra; Pratham Chawla</cp:lastModifiedBy>
  <cp:revision>1</cp:revision>
  <dcterms:created xsi:type="dcterms:W3CDTF">2013-01-27T09:14:16Z</dcterms:created>
  <dcterms:modified xsi:type="dcterms:W3CDTF">2013-01-27T09:15:58Z</dcterms:modified>
  <cp:category/>
</cp:coreProperties>
</file>