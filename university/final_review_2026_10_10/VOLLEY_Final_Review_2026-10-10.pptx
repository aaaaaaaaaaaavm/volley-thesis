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B9140F"/>
                </a:solidFill>
                <a:latin typeface="Aptos"/>
              </a:defRPr>
            </a:pPr>
            <a:r>
              <a:t>Department of Mechanical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900" b="1">
                <a:solidFill>
                  <a:srgbClr val="B9140F"/>
                </a:solidFill>
                <a:latin typeface="Aptos"/>
              </a:defRPr>
            </a:pPr>
            <a:r>
              <a:t>B.Tech Project Presentation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908792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900" b="1">
                <a:solidFill>
                  <a:srgbClr val="234D81"/>
                </a:solidFill>
                <a:latin typeface="Aptos"/>
              </a:defRPr>
            </a:pPr>
            <a:r>
              <a:t>VOLLEY: Controlled CubeSat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9087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700" b="1">
                <a:solidFill>
                  <a:srgbClr val="234D81"/>
                </a:solidFill>
                <a:latin typeface="Aptos"/>
              </a:defRPr>
            </a:pPr>
            <a:r>
              <a:t>from a Hosted Orbital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02536"/>
            <a:ext cx="9994392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234D81"/>
                </a:solidFill>
                <a:latin typeface="Aptos"/>
              </a:defRPr>
            </a:pPr>
            <a:r>
              <a:t>Completed Gen5 system-level computational evaluation</a:t>
            </a:r>
          </a:p>
        </p:txBody>
      </p:sp>
      <p:pic>
        <p:nvPicPr>
          <p:cNvPr id="8" name="Picture 7" descr="sit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377440"/>
            <a:ext cx="1371600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94560" y="3931920"/>
            <a:ext cx="7772400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0">
                <a:solidFill>
                  <a:srgbClr val="234D81"/>
                </a:solidFill>
                <a:latin typeface="Aptos"/>
              </a:defRPr>
            </a:pPr>
            <a:r>
              <a:t>Presented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4270248"/>
            <a:ext cx="937260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234D81"/>
                </a:solidFill>
                <a:latin typeface="Aptos"/>
              </a:defRPr>
            </a:pPr>
            <a:r>
              <a:t>Adityavardhan Mishra  ·  Pratham Chawla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681728"/>
            <a:ext cx="8366760" cy="31089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0">
                <a:solidFill>
                  <a:srgbClr val="B9140F"/>
                </a:solidFill>
                <a:latin typeface="Aptos"/>
              </a:defRPr>
            </a:pPr>
            <a:r>
              <a:t>PRN 23070125054  ·  PRN 23070125029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93792"/>
            <a:ext cx="51206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067A9"/>
                </a:solidFill>
                <a:latin typeface="Aptos"/>
              </a:defRPr>
            </a:pPr>
            <a:r>
              <a:t>Guide: Vikas Gulia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5193792"/>
            <a:ext cx="46634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1800" b="1">
                <a:solidFill>
                  <a:srgbClr val="0067A9"/>
                </a:solidFill>
                <a:latin typeface="Aptos"/>
              </a:defRPr>
            </a:pPr>
            <a:r>
              <a:t>Final review: 10 October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72200"/>
            <a:ext cx="1110996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140F"/>
                </a:solidFill>
                <a:latin typeface="Aptos"/>
              </a:defRPr>
            </a:pPr>
            <a:r>
              <a:t>SYMBIOSIS INSTITUTE OF TECHNOLOGY PUNE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0" y="6528816"/>
            <a:ext cx="274320" cy="1828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Presentation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OUTLINE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PRESENTATION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User-specified final-review outline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6420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01  Introduction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377440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02  Literature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90672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03  Research gap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03904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04  Objectives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17136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05  Research methodology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3036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2180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06  Timeline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59" y="1664208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07  Work progress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59" y="2377440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08  Results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3090672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09  Conclusion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59" y="3803904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10  Future work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59" y="4517136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11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Which missions might value orbital choice?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NASA 2026 Small Spacecraft SoA; Planet and Spire filings; local market 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664208"/>
            <a:ext cx="3520440" cy="318211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664208"/>
            <a:ext cx="73152" cy="31821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810512"/>
            <a:ext cx="315468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Repeat fleets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414016"/>
            <a:ext cx="3136392" cy="22677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Configurable smallsat families and replenishment exist. That context does not establish demand for VOLLEY.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664208"/>
            <a:ext cx="3520440" cy="318211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664208"/>
            <a:ext cx="73152" cy="31821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1810512"/>
            <a:ext cx="315468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Delivery buyer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414016"/>
            <a:ext cx="3136392" cy="22677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A carrier, rideshare integrator or fleet operator might need several distinct release states from one host.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664208"/>
            <a:ext cx="3520440" cy="318211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1664208"/>
            <a:ext cx="73152" cy="3182112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1810512"/>
            <a:ext cx="315468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Gen5 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2414016"/>
            <a:ext cx="3136392" cy="22677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Compare commanded release with springs, host manoeuvres, transport and onboard propulsion on the same mission.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276088"/>
            <a:ext cx="10744200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100" b="1">
                <a:solidFill>
                  <a:srgbClr val="0D2035"/>
                </a:solidFill>
                <a:latin typeface="Aptos"/>
              </a:defRPr>
            </a:pPr>
            <a:r>
              <a:t>No customer is confirmed; modeled Gen5 3U mass fails its preset criterion.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Existing methods solve different parts of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LITERATURE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JAXA; Foster et al. 2018; Feng et al. 2025; Zhao et al. 2022/2025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28600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13969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Approach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554480"/>
            <a:ext cx="3749039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1645920"/>
            <a:ext cx="3602735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Strength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59" y="1554480"/>
            <a:ext cx="516636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11112" y="1645920"/>
            <a:ext cx="502005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Limit for this thesis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deployer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88920" y="2057400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62072" y="2139696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Flight heritage; compact; simple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37959" y="2057400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2139696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Limited tailored release speed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898648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80944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release / drag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88920" y="2898648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62072" y="2980944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Relative state or drag can create phasing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59" y="2898648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11112" y="2980944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Timing alone, with no relative state change, cannot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39896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22191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Orbital transfer vehicle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88920" y="3739896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62072" y="3822191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Larger orbit changes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59" y="3739896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11112" y="3822191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Greater bus, mass and integration burden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581144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663440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Electromagnetic research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88920" y="4581144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62072" y="4663440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Commandable acceleration studied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7959" y="4581144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11112" y="4663440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Armature, high-g or maturity constraints vary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 narrower, testable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Related Work and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10789920" cy="1152144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01952"/>
            <a:ext cx="10241280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400" b="1">
                <a:solidFill>
                  <a:srgbClr val="0D2035"/>
                </a:solidFill>
                <a:latin typeface="Aptos"/>
              </a:defRPr>
            </a:pPr>
            <a:r>
              <a:t>Commanded release for an unmodified CubeSat at moderate acceleration, with the full system counted.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172968"/>
            <a:ext cx="73152" cy="21488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Contribution examined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Gen5 reusable-sled linear motor, 3U payload, magazine, pulse power, arrest and orbital utility.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172968"/>
            <a:ext cx="73152" cy="21488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Boundary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Electromagnetic CubeSat deployment exists in prior work. Payload qualification and physical performance remain unproved.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analytical research objectives have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BASELINE.md and PROVENANCE.md; presentation synthesis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461772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447141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Research objective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1554480"/>
            <a:ext cx="6583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3792" y="1645920"/>
            <a:ext cx="6437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Final thesis outcome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057400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" y="2139696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Design a commandable 3U 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2057400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2139696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Gen5 CAD and complete subsystem architecture documented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07208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889503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Calculate shot and control performance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807208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3792" y="2889503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Rated shot, power and dispersion models completed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557015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3639311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Evaluate orbital utility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0" y="3557015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3792" y="3639311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Predicted energy and lifetime benefit for stated cases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306824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" y="4389120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Count full installed burden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0" y="4306824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93792" y="4389120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Mass rollup completed; 3U parity criterion failed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056631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5138927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Test credibility of key claims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0" y="5056631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93792" y="5138927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Numerical cross-checks and limits recorded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 completed analysis chain from mission to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Models and Verification; validation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Mission &amp;</a:t>
            </a:r>
            <a:br/>
            <a:r>
              <a:t>payload needs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32304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3744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Architecture</a:t>
            </a:r>
            <a:br/>
            <a:r>
              <a:t>trade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05656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7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CAD &amp; mass</a:t>
            </a:r>
            <a:br/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Shot, power &amp;</a:t>
            </a:r>
            <a:br/>
            <a:r>
              <a:t>orbit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64424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0456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1896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Numerical</a:t>
            </a:r>
            <a:br/>
            <a:r>
              <a:t>cross-checks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3808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Sensitivity &amp;</a:t>
            </a:r>
            <a:br/>
            <a:r>
              <a:t>acceptance bands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0" y="4242816"/>
            <a:ext cx="9418320" cy="107899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45920" y="4498848"/>
            <a:ext cx="8869680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0D2035"/>
                </a:solidFill>
                <a:latin typeface="Aptos"/>
              </a:defRPr>
            </a:pPr>
            <a:r>
              <a:t>Models were challenged and revised; hardware performance remains outside this thesis's evidence.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Numerical checks strengthened the final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VOLLEY-thesis/appendix/PROVENANCE.md; validation run sheets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4688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3225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1800" y="1554480"/>
            <a:ext cx="4297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645920"/>
            <a:ext cx="4151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Method / cross-check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69480" y="1554480"/>
            <a:ext cx="443484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1645920"/>
            <a:ext cx="428853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Field and thrust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1800" y="2057400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44952" y="2139696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Analytic winding; magpylib; FEM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69480" y="2057400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42631" y="2139696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No measured thrust constant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916936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99232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 and power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2916936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44952" y="2999232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Dynamics; Monte Carlo; ngspice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9480" y="2916936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2631" y="2999232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Assumed components and interfaces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76472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58768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Structure and flow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71800" y="3776472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44952" y="3858768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CAD; CalculiX; OpenFOAM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69480" y="3776472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42631" y="3858768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No payload qualification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636008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718304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Orbital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71800" y="4636008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44952" y="4718304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 model; Cowell / GMAT cases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4636008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2631" y="4718304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Lifetime depends on atmosphere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Project evolution: documented decisions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VOLLEY-thesis/appendix/HISTORY.md; thesis README; PLAN-R2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72768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709928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627632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Hosted 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8656" y="1664208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Free-flyer concept reframed around a host platform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423160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560320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Mid-2025*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478024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LSM direction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8656" y="2514600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Coilgun study gives way to a linear synchronous motor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73552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410712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2025–26*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328416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CAD generations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8656" y="3364992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Geometry and mass models mature through Gen5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123944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261104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Jul–Sep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178807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Gen5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4215383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Cross-checks, defect corrections and thesis record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974336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5111496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Oct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5029200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Final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48656" y="5065776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Gen5 results, failed criterion and thesis record presented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989320"/>
            <a:ext cx="996696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100" b="0">
                <a:solidFill>
                  <a:srgbClr val="637684"/>
                </a:solidFill>
                <a:latin typeface="Aptos"/>
              </a:defRPr>
            </a:pPr>
            <a:r>
              <a:t>* Approximate historical milestone; not a documented semester deadline.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2026 findings were incorporated in the final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HISTORY.md; PROVENANCE.md; thesis manuscript,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609344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728216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Jul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2848" y="1609344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1700784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CAD-derived sled mass replaced an optimistic parametric estimate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450592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" y="2569464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12848" y="2450592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23160" y="2542032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Depth-resolved thrust calculation lowered the rated speed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291840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4" y="3410712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12848" y="3291840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383280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Enclosure buildup exposed the full 3U mass penalty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133088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4251960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12848" y="4133088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23160" y="4224528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Independent orbit checks rejected a solar-invariance claim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974336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" y="5093208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Final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12848" y="4974336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23160" y="5065776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Results and failures retained in the submitted thesis record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review package is assembled and traceable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WORK 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README; BASELINE.md; PROVENANCE.md; validation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09928"/>
            <a:ext cx="3502152" cy="35478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09928"/>
            <a:ext cx="73152" cy="35478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1856232"/>
            <a:ext cx="3136392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Design delivered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2459736"/>
            <a:ext cx="3118104" cy="2633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Gen5 CAD, magazine and release architecture, subsystem models and system mass rollup.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1709928"/>
            <a:ext cx="3502152" cy="35478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34256" y="1709928"/>
            <a:ext cx="73152" cy="35478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1856232"/>
            <a:ext cx="3136392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Analysis delivered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459736"/>
            <a:ext cx="3118104" cy="2633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Shot, control, circuit, structure, thermal, orbit and alternative-case results.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1" y="1709928"/>
            <a:ext cx="3502152" cy="35478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28431" y="1709928"/>
            <a:ext cx="73152" cy="35478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38744" y="1856232"/>
            <a:ext cx="3136392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Evidence delivered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8744" y="2459736"/>
            <a:ext cx="3118104" cy="2633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Manuscript, figures, scripts, numerical checks, provenance and defect register.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522976"/>
            <a:ext cx="1069848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800" b="1">
                <a:solidFill>
                  <a:srgbClr val="0D2035"/>
                </a:solidFill>
                <a:latin typeface="Aptos"/>
              </a:defRPr>
            </a:pPr>
            <a:r>
              <a:t>Scope: fixed computational study with failed design gates; no physical qualification claim.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Gen5: fixed reference geometry, feeder fit still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System Architecture; CAD render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12</a:t>
            </a:r>
          </a:p>
        </p:txBody>
      </p:sp>
      <p:pic>
        <p:nvPicPr>
          <p:cNvPr id="9" name="Picture 8" descr="expl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1794510"/>
            <a:ext cx="6400800" cy="4000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40880" y="1828800"/>
            <a:ext cx="4434840" cy="39319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1.5 m linear-motor track and double-sided Halbach arrays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Reusable 9.45 kg magnet sled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Two cassettes; twelve 3U satellites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FreeCAD STEP assembly: side-fed placement clashes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Rated 3U shot: performance predicted by 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F01_shot.png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13</a:t>
            </a:r>
          </a:p>
        </p:txBody>
      </p:sp>
      <p:pic>
        <p:nvPicPr>
          <p:cNvPr id="9" name="Picture 8" descr="F01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673" y="1691639"/>
            <a:ext cx="7814733" cy="2971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7240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16.0 m/s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exit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30168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10.07 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acceleration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83096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2.782 kJ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gross draw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36024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18.8%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9176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net efficiency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Modelled command precision is narrow; it is unmeasured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PROVENANCE.md; F03_mc.png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14</a:t>
            </a:r>
          </a:p>
        </p:txBody>
      </p:sp>
      <p:pic>
        <p:nvPicPr>
          <p:cNvPr id="9" name="Picture 8" descr="F03_m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044" y="1581912"/>
            <a:ext cx="6288367" cy="45171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08975" y="1783080"/>
            <a:ext cx="3611880" cy="19202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08975" y="1783080"/>
            <a:ext cx="73152" cy="19202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19288" y="1929384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700" b="1">
                <a:solidFill>
                  <a:srgbClr val="0D2035"/>
                </a:solidFill>
                <a:latin typeface="Aptos"/>
              </a:defRPr>
            </a:pPr>
            <a:r>
              <a:t>0.0274 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2532888"/>
            <a:ext cx="3227832" cy="10058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3σ exit-velocity dispersion at a 15.8 m/s fleet setpoint.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08975" y="3950208"/>
            <a:ext cx="3611880" cy="18288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08975" y="3950208"/>
            <a:ext cx="73152" cy="182880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9288" y="4096512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9288" y="4700016"/>
            <a:ext cx="3227832" cy="9144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Monte Carlo under modelled sensing and plant tolerances; no measured dispersion.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Rated orbit geometry now has a separate numerical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TWO-BODY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P115 Cartesian orbit check; manuscript Astrodynamic Utility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15</a:t>
            </a:r>
          </a:p>
        </p:txBody>
      </p:sp>
      <p:pic>
        <p:nvPicPr>
          <p:cNvPr id="9" name="Picture 8" descr="rated_orbit_cross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2018018"/>
            <a:ext cx="6995160" cy="352605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90688" y="1773936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0688" y="1773936"/>
            <a:ext cx="73152" cy="178308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1920240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+28.8008 km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23744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Immediate two-body axis rise at the rated 16.029 m/s input.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0688" y="3749039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90688" y="3749039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3895344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1.60× open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4498848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Lifetime remains atmosphere-dependent without a current rated independent rerun.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44200" cy="2468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1">
                <a:solidFill>
                  <a:srgbClr val="0D2035"/>
                </a:solidFill>
                <a:latin typeface="Aptos"/>
              </a:defRPr>
            </a:pPr>
            <a:r>
              <a:t>Persistent phasing requires a relative state change; this result concerns orbital energy.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 fails its 3U mass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Payload Class and Mass-per-Satellite; A46 enclosure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572768"/>
            <a:ext cx="10744200" cy="9326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19656"/>
            <a:ext cx="676656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Modeled dry mass, 12 slots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1819656"/>
            <a:ext cx="237744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100" b="1">
                <a:solidFill>
                  <a:srgbClr val="0D2035"/>
                </a:solidFill>
                <a:latin typeface="Aptos"/>
              </a:defRPr>
            </a:pPr>
            <a:r>
              <a:t>126.6 kg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Gen5 per 3U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86200" y="2770632"/>
            <a:ext cx="6309360" cy="4389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87000" y="2761488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10.55 kg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576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Spring comparator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86200" y="3685032"/>
            <a:ext cx="3584448" cy="438912"/>
          </a:xfrm>
          <a:prstGeom prst="rect">
            <a:avLst/>
          </a:prstGeom>
          <a:solidFill>
            <a:srgbClr val="6376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87000" y="3675887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~6 kg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892040"/>
            <a:ext cx="10744200" cy="868680"/>
          </a:xfrm>
          <a:prstGeom prst="roundRect">
            <a:avLst/>
          </a:prstGeom>
          <a:solidFill>
            <a:srgbClr val="FF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120640"/>
            <a:ext cx="1028700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4141"/>
                </a:solidFill>
                <a:latin typeface="Aptos"/>
              </a:defRPr>
            </a:pPr>
            <a:r>
              <a:t>1.76× heavier per 3U payload; the preset 15% parity band fails.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side-fed assembly fails a geometric fit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CAD INTERFERENCE • OPEN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Gen5 Review.FCStd; P116 assembly packaging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17</a:t>
            </a:r>
          </a:p>
        </p:txBody>
      </p:sp>
      <p:pic>
        <p:nvPicPr>
          <p:cNvPr id="9" name="Picture 8" descr="gen5_packagin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6699" y="1627632"/>
            <a:ext cx="3323473" cy="449884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601968" y="1755648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01968" y="1755648"/>
            <a:ext cx="73152" cy="169164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1901952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11 mm short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250545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537 mm of track and cassette width inside 526 mm of usable enclosure width.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01968" y="3675887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01968" y="3675887"/>
            <a:ext cx="73152" cy="16916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3822191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300" b="1">
                <a:solidFill>
                  <a:srgbClr val="0D2035"/>
                </a:solidFill>
                <a:latin typeface="Aptos"/>
              </a:defRPr>
            </a:pPr>
            <a:r>
              <a:t>32,915 mm³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2569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Exact track/cassette clash on each side; CadQuery and FreeCAD agree.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6025896"/>
            <a:ext cx="105613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Reference placement only: a new feeder or enclosure would need a new configuration and rerun.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Computational demonstration: from shot to orbit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SIMULATION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analysis/results; BASELINE.md; manuscript Astrodynamic Utility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7336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73936"/>
            <a:ext cx="480974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1. Simulate a 3U shot → 16.0 m/s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1773936"/>
            <a:ext cx="476402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2. Model the orbital response</a:t>
            </a:r>
          </a:p>
        </p:txBody>
      </p:sp>
      <p:pic>
        <p:nvPicPr>
          <p:cNvPr id="13" name="Picture 12" descr="F01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806692"/>
            <a:ext cx="4956048" cy="1884694"/>
          </a:xfrm>
          <a:prstGeom prst="rect">
            <a:avLst/>
          </a:prstGeom>
        </p:spPr>
      </p:pic>
      <p:pic>
        <p:nvPicPr>
          <p:cNvPr id="14" name="Picture 13" descr="rated_orbit_cross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2504551"/>
            <a:ext cx="4937760" cy="248897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843016" y="3337560"/>
            <a:ext cx="4572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8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5715000"/>
            <a:ext cx="10625328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Compare predicted orbital change and full installed mass with the spring baseline. Simulation, not physical demonstration.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research question has a completed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Conclusion; BASELINE.md; PROVENANCE.md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37360"/>
            <a:ext cx="10652760" cy="43891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The Gen5 system-level model predicts 16.0 m/s 3U release and a conditional orbital benefit.</a:t>
            </a:r>
          </a:p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The model is 76% heavier per 3U customer and the side-fed CAD reference also clashes.</a:t>
            </a:r>
          </a:p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Independent numerical checks corrected the baseline and defined the limits of its claims.</a:t>
            </a:r>
          </a:p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Conclusion: the analytical objective is complete; Gen5 does not pass the 3U selection criterion.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Gen6 reopens the mechanism and installed-system trade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CURRENT PLAN AND STATUS — PLAN-R2, 29 Sep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10698480" cy="1069848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20240"/>
            <a:ext cx="1037844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D2035"/>
                </a:solidFill>
                <a:latin typeface="Aptos"/>
              </a:defRPr>
            </a:pPr>
            <a:r>
              <a:t>One shared path • sequential feed • commanded release for each CubeSat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017520"/>
            <a:ext cx="10058400" cy="224028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900"/>
              </a:spcAft>
              <a:defRPr sz="2100">
                <a:solidFill>
                  <a:srgbClr val="1E3144"/>
                </a:solidFill>
                <a:latin typeface="Aptos"/>
              </a:defRPr>
            </a:pPr>
            <a:r>
              <a:t>•  Investigate approximately 1–2 m/s through 1 km/s across mission cases.</a:t>
            </a:r>
          </a:p>
          <a:p>
            <a:pPr>
              <a:spcAft>
                <a:spcPts val="1900"/>
              </a:spcAft>
              <a:defRPr sz="2100">
                <a:solidFill>
                  <a:srgbClr val="1E3144"/>
                </a:solidFill>
                <a:latin typeface="Aptos"/>
              </a:defRPr>
            </a:pPr>
            <a:r>
              <a:t>•  Compare electromagnetic, stored-energy, gas/fluid, hybrid, BOLLEY and conventional options.</a:t>
            </a:r>
          </a:p>
          <a:p>
            <a:pPr>
              <a:spcAft>
                <a:spcPts val="1900"/>
              </a:spcAft>
              <a:defRPr sz="2100">
                <a:solidFill>
                  <a:srgbClr val="1E3144"/>
                </a:solidFill>
                <a:latin typeface="Aptos"/>
              </a:defRPr>
            </a:pPr>
            <a:r>
              <a:t>•  Count feeder, retention, arrest, control, energy, thermal, host loads and shared faults.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5742432"/>
            <a:ext cx="1056132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B94141"/>
                </a:solidFill>
                <a:latin typeface="Aptos"/>
              </a:defRPr>
            </a:pPr>
            <a:r>
              <a:t>1 km/s is a research target, not demonstrated speed or payload/provider compatibility.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Next milestone: one reviewable first-test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PLAN-R2 N0–N5 and agreed near-term end goal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164592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81051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Freeze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164592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81051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Named mission, payload and host surrogate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269748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286207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62656" y="269748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286207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Fair mechanism and installed-burden trade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749039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913631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Measure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2656" y="3749039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6120" y="3913631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Field, contact, release, arrest, loads and cycle behavior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4800600"/>
            <a:ext cx="2011680" cy="768096"/>
          </a:xfrm>
          <a:prstGeom prst="round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96519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62656" y="480060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6120" y="496519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Drawings, BOM, procedures, uncertainty and review decision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Core literature and standards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81912"/>
            <a:ext cx="10881360" cy="459943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[1] JAXA, JEM Payload Accommodation Handbook, Vol. 8: Small Satellite Deployment ICD.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[2] Cal Poly, CubeSat Design Specification, Rev. 14, 2020.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[3] C. Foster et al., ‘Constellation phasing with differential drag on Planet Labs satellites,’ J. Spacecraft Rockets 55(2), 2018.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[4] H. Feng et al., ‘Design and reachable domain analysis of on-orbit electromagnetic launcher for CubeSats,’ Int. J. Aerospace Eng., 2025.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[5] Y. Zhao et al., ‘Design and analysis of a new deployer for the in-orbit release of multiple stacked CubeSats,’ Remote Sensing 14(17), 4205, 2022.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Methods and project records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VOLLEY-thesis/source/paper.tex; project records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36192"/>
            <a:ext cx="10881360" cy="469087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[6] Y. Zhao et al., ‘Simulation analysis and experimental verification of the transport characteristics of a high-volume CubeSat storage device,’ Aerospace 12(6), 466, 2025.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[7] K. Halbach, ‘Design of permanent multipole magnets with oriented rare earth cobalt material,’ Nucl. Instrum. Methods 169, 1980.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[8] NASA, General Environmental Verification Standard (GEVS), GSFC-STD-7000A,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[9] D. A. Vallado, Fundamentals of Astrodynamics and Applications, 4th ed.,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[10] A. Mishra, VOLLEY-thesis: manuscript, baseline, provenance and validation records, repo head b30ffdc, 28 Sep 2026.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[11] VOLLEY/BOLLEY, Current Plan and Status — PLAN-R2, controlled working baseline, 29 Sep 2026 (project plan).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