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"/>
            <a:ext cx="10908792" cy="3383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B9140F"/>
                </a:solidFill>
                <a:latin typeface="Aptos"/>
              </a:defRPr>
            </a:pPr>
            <a:r>
              <a:t>Department of Mechanical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08792" cy="3383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900" b="1">
                <a:solidFill>
                  <a:srgbClr val="B9140F"/>
                </a:solidFill>
                <a:latin typeface="Aptos"/>
              </a:defRPr>
            </a:pPr>
            <a:r>
              <a:t>B.Tech Project Presentation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908792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900" b="1">
                <a:solidFill>
                  <a:srgbClr val="234D81"/>
                </a:solidFill>
                <a:latin typeface="Aptos"/>
              </a:defRPr>
            </a:pPr>
            <a:r>
              <a:t>VOLLEY: Controlled CubeSat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9087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700" b="1">
                <a:solidFill>
                  <a:srgbClr val="234D81"/>
                </a:solidFill>
                <a:latin typeface="Aptos"/>
              </a:defRPr>
            </a:pPr>
            <a:r>
              <a:t>from a Hosted Orbital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02536"/>
            <a:ext cx="9994392" cy="32918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234D81"/>
                </a:solidFill>
                <a:latin typeface="Aptos"/>
              </a:defRPr>
            </a:pPr>
            <a:r>
              <a:t>Gen5 computational feasibility review</a:t>
            </a:r>
          </a:p>
        </p:txBody>
      </p:sp>
      <p:pic>
        <p:nvPicPr>
          <p:cNvPr id="8" name="Picture 7" descr="sit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2377440"/>
            <a:ext cx="1371600" cy="137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94560" y="3931920"/>
            <a:ext cx="7772400" cy="32918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0">
                <a:solidFill>
                  <a:srgbClr val="234D81"/>
                </a:solidFill>
                <a:latin typeface="Aptos"/>
              </a:defRPr>
            </a:pPr>
            <a:r>
              <a:t>Presented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4270248"/>
            <a:ext cx="9372600" cy="4023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234D81"/>
                </a:solidFill>
                <a:latin typeface="Aptos"/>
              </a:defRPr>
            </a:pPr>
            <a:r>
              <a:t>Adityavardhan Mishra  ·  Pratham Chawla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681728"/>
            <a:ext cx="8366760" cy="31089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0">
                <a:solidFill>
                  <a:srgbClr val="B9140F"/>
                </a:solidFill>
                <a:latin typeface="Aptos"/>
              </a:defRPr>
            </a:pPr>
            <a:r>
              <a:t>PRN 23070125054  ·  PRN 23070125029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193792"/>
            <a:ext cx="512064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067A9"/>
                </a:solidFill>
                <a:latin typeface="Aptos"/>
              </a:defRPr>
            </a:pPr>
            <a:r>
              <a:t>Guide: Vikas Gulia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5193792"/>
            <a:ext cx="466344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1800" b="1">
                <a:solidFill>
                  <a:srgbClr val="0067A9"/>
                </a:solidFill>
                <a:latin typeface="Aptos"/>
              </a:defRPr>
            </a:pPr>
            <a:r>
              <a:t>Review candidate: 20 October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72200"/>
            <a:ext cx="1110996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B9140F"/>
                </a:solidFill>
                <a:latin typeface="Aptos"/>
              </a:defRPr>
            </a:pPr>
            <a:r>
              <a:t>SYMBIOSIS INSTITUTE OF TECHNOLOGY PUNE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0" y="6528816"/>
            <a:ext cx="274320" cy="1828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Presentation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OUTLINE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PRESENTATION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User-specified final-review outline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6420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75564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01  Introduction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377440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468880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02  Literature 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090672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3182112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03  Research gap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803904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3895344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04  Objectives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17136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608576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05  Research methodology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23036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2180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06  Timeline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59" y="1664208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175564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07  Work progress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59" y="2377440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2468880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08  Results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59" y="3090672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9088" y="3182112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09  Conclusion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59" y="3803904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3895344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10  Future work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59" y="4517136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4608576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11 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Which missions might value orbital choice?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NASA 2026 Small Spacecraft SoA; local market audit; STEP-derived Gen5 CAD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627632"/>
            <a:ext cx="4736592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627632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773936"/>
            <a:ext cx="4370831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Repeat fleets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377440"/>
            <a:ext cx="4352544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Configurable satellite fleets exist; demand for VOLLEY is unconfirmed.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465576"/>
            <a:ext cx="4736592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" y="3465576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611880"/>
            <a:ext cx="4370831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Delivery buyer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4215384"/>
            <a:ext cx="4352544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 carrier or fleet operator might seek several release states from one host.</a:t>
            </a:r>
          </a:p>
        </p:txBody>
      </p:sp>
      <p:pic>
        <p:nvPicPr>
          <p:cNvPr id="17" name="Picture 16" descr="gen5_referenc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638767"/>
            <a:ext cx="6108192" cy="34341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15000" y="5148072"/>
            <a:ext cx="5806440" cy="4023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STEP-derived Gen5 reference; side-fed placement fails its fit check.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833872"/>
            <a:ext cx="107442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Test on one matched mission against springs, host manoeuvres, transport and onboard propulsion.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Existing methods solve different parts of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LITERATURE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JAXA; Foster et al. 2018; Feng et al. 2025; Zhao et al. 2022/2025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28600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13969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Approach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8920" y="1554480"/>
            <a:ext cx="3749039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2072" y="1645920"/>
            <a:ext cx="3602735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Strength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37959" y="1554480"/>
            <a:ext cx="516636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11112" y="1645920"/>
            <a:ext cx="502005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Limit for this thesis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deployer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88920" y="2057400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62072" y="2139696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Flight heritage; compact; simple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37959" y="2057400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1112" y="2139696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Limited tailored release speed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898648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80944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release / drag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88920" y="2898648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62072" y="2980944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Relative state or drag can create phasing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37959" y="2898648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11112" y="2980944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Timing alone, with no relative state change, cannot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39896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22191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Orbital transfer vehicle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88920" y="3739896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62072" y="3822191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Larger orbit changes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37959" y="3739896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11112" y="3822191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Greater bus, mass and integration burden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581144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663440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Electromagnetic research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88920" y="4581144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862072" y="4663440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Commandable acceleration studied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37959" y="4581144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11112" y="4663440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Armature, high-g or maturity constraints vary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A narrower, testable contribution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Related Work and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10789920" cy="1152144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901952"/>
            <a:ext cx="10241280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400" b="1">
                <a:solidFill>
                  <a:srgbClr val="0D2035"/>
                </a:solidFill>
                <a:latin typeface="Aptos"/>
              </a:defRPr>
            </a:pPr>
            <a:r>
              <a:t>Commanded release for an unmodified CubeSat at moderate acceleration, with the full system counted.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172968"/>
            <a:ext cx="73152" cy="21488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3319272"/>
            <a:ext cx="4864607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Contribution examined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3922776"/>
            <a:ext cx="4846320" cy="12344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Gen5 reusable-sled linear motor, 3U payload, magazine, pulse power, arrest and orbital utility.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172968"/>
            <a:ext cx="73152" cy="214884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3319272"/>
            <a:ext cx="4864607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Boundary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3922776"/>
            <a:ext cx="4846320" cy="12344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Electromagnetic CubeSat deployment exists in prior work. Payload qualification and physical performance remain unproved.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analytical research objectives have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BASELINE.md and PROVENANCE.md; presentation synthesis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461772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447141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Research objective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1554480"/>
            <a:ext cx="6583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93792" y="1645920"/>
            <a:ext cx="64373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Final thesis outcome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057400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" y="2139696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Design a commandable 3U 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2057400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2139696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Reference CAD and subsystem concepts documented; feed remains open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807208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2889503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Calculate shot and control performance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2807208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3792" y="2889503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Historical model completed; finite force screen challenges its rating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557015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3639311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Evaluate orbital utility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0" y="3557015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3792" y="3639311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Conditional orbit results; real lifetime unvalidated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306824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" y="4389120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Count full installed burden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0" y="4306824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93792" y="4389120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Mass rollup completed; 3U parity criterion failed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056631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" y="5138927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Test credibility of key claims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0" y="5056631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93792" y="5138927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Numerical cross-checks and limits recorded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analysis chain from mission to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Models and Verification; validation 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Mission &amp;</a:t>
            </a:r>
            <a:br/>
            <a:r>
              <a:t>payload needs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32304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23744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Architecture</a:t>
            </a:r>
            <a:br/>
            <a:r>
              <a:t>trade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05656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1688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3127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CAD &amp; mass</a:t>
            </a:r>
            <a:br/>
            <a: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Shot, power &amp;</a:t>
            </a:r>
            <a:br/>
            <a:r>
              <a:t>orbit models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64424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0456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1896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Numerical</a:t>
            </a:r>
            <a:br/>
            <a:r>
              <a:t>cross-checks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93808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0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Sensitivity &amp;</a:t>
            </a:r>
            <a:br/>
            <a:r>
              <a:t>acceptance bands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1600" y="4242816"/>
            <a:ext cx="9418320" cy="107899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45920" y="4498848"/>
            <a:ext cx="8869680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0D2035"/>
                </a:solidFill>
                <a:latin typeface="Aptos"/>
              </a:defRPr>
            </a:pPr>
            <a:r>
              <a:t>Models were challenged and revised; hardware performance remains outside this thesis's evidence.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Numerical checks changed the review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VOLLEY-thesis/appendix/PROVENANCE.md; validation run sheets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4688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3225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Question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1800" y="1554480"/>
            <a:ext cx="4297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4952" y="1645920"/>
            <a:ext cx="41513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Method / cross-check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69480" y="1554480"/>
            <a:ext cx="443484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1645920"/>
            <a:ext cx="428853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Field and thrust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71800" y="2057400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44952" y="2139696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Analytic; 2-D FEM; independent 3-D numerical force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69480" y="2057400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42631" y="2139696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Shared ideal inputs; no motor measurement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916936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99232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Shot and power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71800" y="2916936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44952" y="2999232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Dynamics; Monte Carlo; ngspice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9480" y="2916936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2631" y="2999232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Assumed components and interfaces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76472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58768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Structure and flow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71800" y="3776472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44952" y="3858768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CAD; CalculiX; OpenFOAM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69480" y="3776472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42631" y="3858768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No payload qualification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636008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718304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Orbital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71800" y="4636008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44952" y="4718304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 model; Cowell / GMAT cases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4636008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42631" y="4718304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Lifetime depends on atmosphere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Project evolution: documented decisions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VOLLEY-thesis/appendix/HISTORY.md; thesis README; PLAN-R2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72768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709928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627632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Hosted concept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48656" y="1664208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Free-flyer concept reframed around a host platform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423160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560320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Mid-2025*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478024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LSM direction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48656" y="2514600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Coilgun study gives way to a linear synchronous motor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273552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410712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2025–26*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328416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CAD generations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8656" y="3364992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Geometry and mass models mature through Gen5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123944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261104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Jul–Sep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178807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Gen5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4215383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Cross-checks, defect corrections and thesis record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974336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5111496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Oct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5029200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Final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48656" y="5065776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Gen5 results, failed criteria and thesis record prepared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989320"/>
            <a:ext cx="996696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100" b="0">
                <a:solidFill>
                  <a:srgbClr val="637684"/>
                </a:solidFill>
                <a:latin typeface="Aptos"/>
              </a:defRPr>
            </a:pPr>
            <a:r>
              <a:t>* Approximate historical milestone; not a documented semester deadline.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2026 findings changed the review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HISTORY.md; PROVENANCE.md; thesis manuscript, 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609344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1728216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Jul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12848" y="1609344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23160" y="1700784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CAD-derived sled mass replaced an optimistic parametric estimate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450592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4984" y="2569464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12848" y="2450592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23160" y="2542032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Depth-resolved thrust calculation lowered the historical model speed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291840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4" y="3410712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12848" y="3291840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383280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Enclosure buildup exposed the full 3U mass penalty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4133088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4251960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12848" y="4133088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23160" y="4224528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Independent orbit checks rejected a solar-invariance claim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974336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" y="5093208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Final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12848" y="4974336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23160" y="5065776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Results and failures retained in the submitted thesis record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current review package is assembled and traceable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WORK PROGRESS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README; validation register; STEP view provenance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11</a:t>
            </a:r>
          </a:p>
        </p:txBody>
      </p:sp>
      <p:pic>
        <p:nvPicPr>
          <p:cNvPr id="9" name="Picture 8" descr="gen5_reference_clos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050948"/>
            <a:ext cx="4983480" cy="280182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5294376"/>
            <a:ext cx="4910328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FreeCAD-linked STEP envelope; internal interference is concealed.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97296" y="1673352"/>
            <a:ext cx="5669280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97296" y="1673352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07608" y="1819656"/>
            <a:ext cx="53035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Analysis delivered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07608" y="2423160"/>
            <a:ext cx="5285232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Shot, circuit, structural, thermal, orbit and alternative-case models.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97296" y="3547872"/>
            <a:ext cx="5669280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97296" y="3547872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07608" y="3694176"/>
            <a:ext cx="53035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Evidence delivered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07608" y="4297680"/>
            <a:ext cx="5285232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Manuscript, STEP, scripts, numerical checks and defect register.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861304"/>
            <a:ext cx="10698480" cy="35661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Fixed computational study with failed design gates; no physical qualification claim.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Gen5: fixed reference geometry, feeder fit still 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Gen5 STEP reference; view provenance and P116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12</a:t>
            </a:r>
          </a:p>
        </p:txBody>
      </p:sp>
      <p:pic>
        <p:nvPicPr>
          <p:cNvPr id="9" name="Picture 8" descr="gen5_referenc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95424"/>
            <a:ext cx="6400800" cy="35986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40880" y="1828800"/>
            <a:ext cx="4434840" cy="393192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1.3 m powered stroke; 1.5 m release station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Reusable 9.45 kg magnet sled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Two cassettes; twelve 3U satellites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FreeCAD STEP assembly: side-fed placement clashes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53328"/>
            <a:ext cx="6172200" cy="28346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200" b="1">
                <a:solidFill>
                  <a:srgbClr val="0D2035"/>
                </a:solidFill>
                <a:latin typeface="Aptos"/>
              </a:defRPr>
            </a:pPr>
            <a:r>
              <a:t>Enclosure hidden for visibility; no fabricated article.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Historical periodic-model shot: challenged by finite geometry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F01_shot.png; P117 energy audit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13</a:t>
            </a:r>
          </a:p>
        </p:txBody>
      </p:sp>
      <p:pic>
        <p:nvPicPr>
          <p:cNvPr id="9" name="Picture 8" descr="F01_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673" y="1691639"/>
            <a:ext cx="7814733" cy="29718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7240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16.0 m/s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exit speed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30168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10.07 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acceleration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83096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6248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2.782 kJ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gross draw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36024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09176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18.8%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9176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net efficiency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080760"/>
            <a:ext cx="1088136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0">
                <a:solidFill>
                  <a:srgbClr val="637684"/>
                </a:solidFill>
                <a:latin typeface="Aptos"/>
              </a:defRPr>
            </a:pPr>
            <a:r>
              <a:t>P118 challenges 16.0 m/s; P117 reconciles 124.5 J to assumed model terms.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Independent 3-D check confirms ideal finite-force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COMPUTATIONAL CROSS-CHECK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P118 analytic; P119 2-D FEM; P121 3-D numerical; P122 gap sensitivity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14</a:t>
            </a:r>
          </a:p>
        </p:txBody>
      </p:sp>
      <p:pic>
        <p:nvPicPr>
          <p:cNvPr id="9" name="Picture 8" descr="gen5_finite_force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95728"/>
            <a:ext cx="6995160" cy="279806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26679" y="1627632"/>
            <a:ext cx="3749039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26679" y="1627632"/>
            <a:ext cx="73152" cy="17830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36992" y="1773936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300" b="1">
                <a:solidFill>
                  <a:srgbClr val="0D2035"/>
                </a:solidFill>
                <a:latin typeface="Aptos"/>
              </a:defRPr>
            </a:pPr>
            <a:r>
              <a:t>1.042 kJ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36992" y="2377440"/>
            <a:ext cx="3364991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Ideal 3-D work: independent surface-charge formulation agrees with P118 under shared inputs.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3611880"/>
            <a:ext cx="3749039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26679" y="3611880"/>
            <a:ext cx="73152" cy="178308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6992" y="3758184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400" b="1">
                <a:solidFill>
                  <a:srgbClr val="0D2035"/>
                </a:solidFill>
                <a:latin typeface="Aptos"/>
              </a:defRPr>
            </a:pPr>
            <a:r>
              <a:t>−13%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6992" y="4361688"/>
            <a:ext cx="3364991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Illustrative 12-to-14 mm magnet gap change; not a measured tolerance or motor rating.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71616"/>
            <a:ext cx="1074420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No measured force, selected inverter or demonstrated release speed exists.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Modelled command precision is narrow; it is unmeasured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PROVENANCE.md; F03_mc.png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15</a:t>
            </a:r>
          </a:p>
        </p:txBody>
      </p:sp>
      <p:pic>
        <p:nvPicPr>
          <p:cNvPr id="9" name="Picture 8" descr="F03_m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044" y="1581912"/>
            <a:ext cx="6288367" cy="45171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808975" y="1783080"/>
            <a:ext cx="3611880" cy="19202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08975" y="1783080"/>
            <a:ext cx="73152" cy="19202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19288" y="1929384"/>
            <a:ext cx="32461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700" b="1">
                <a:solidFill>
                  <a:srgbClr val="0D2035"/>
                </a:solidFill>
                <a:latin typeface="Aptos"/>
              </a:defRPr>
            </a:pPr>
            <a:r>
              <a:t>0.0274 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9288" y="2532888"/>
            <a:ext cx="3227832" cy="10058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3σ exit-velocity dispersion at a 15.8 m/s fleet setpoint.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08975" y="3950208"/>
            <a:ext cx="3611880" cy="182880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08975" y="3950208"/>
            <a:ext cx="73152" cy="182880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9288" y="4096512"/>
            <a:ext cx="32461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9288" y="4700016"/>
            <a:ext cx="3227832" cy="9144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Monte Carlo under modelled sensing and plant tolerances; no measured dispersion.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Historical orbit input has a separate geometry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TWO-BODY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P115 Cartesian orbit check; manuscript Astrodynamic Utility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16</a:t>
            </a:r>
          </a:p>
        </p:txBody>
      </p:sp>
      <p:pic>
        <p:nvPicPr>
          <p:cNvPr id="9" name="Picture 8" descr="rated_orbit_cross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7" y="2018018"/>
            <a:ext cx="6995160" cy="352605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90688" y="1773936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90688" y="1773936"/>
            <a:ext cx="73152" cy="178308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1920240"/>
            <a:ext cx="3255264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+28.8008 km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523744"/>
            <a:ext cx="3236976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Immediate two-body axis rise for an assumed historical 16.029 m/s input.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90688" y="3749039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90688" y="3749039"/>
            <a:ext cx="73152" cy="17830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3895344"/>
            <a:ext cx="3255264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1.602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4498848"/>
            <a:ext cx="3236976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P134 checks the shared static atmosphere; actual lifetime and achieved release remain unvalidated.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53328"/>
            <a:ext cx="10744200" cy="2468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1">
                <a:solidFill>
                  <a:srgbClr val="0D2035"/>
                </a:solidFill>
                <a:latin typeface="Aptos"/>
              </a:defRPr>
            </a:pPr>
            <a:r>
              <a:t>Persistent phasing requires a relative state change; this result concerns orbital energy.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 fails its 3U mass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Payload Class and Mass-per-Satellite; A46 enclosure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572768"/>
            <a:ext cx="10744200" cy="93268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19656"/>
            <a:ext cx="676656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Modeled dry mass, 12 slots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1819656"/>
            <a:ext cx="237744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100" b="1">
                <a:solidFill>
                  <a:srgbClr val="0D2035"/>
                </a:solidFill>
                <a:latin typeface="Aptos"/>
              </a:defRPr>
            </a:pPr>
            <a:r>
              <a:t>126.6 kg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743200"/>
            <a:ext cx="29260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Gen5 per 3U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86200" y="2770632"/>
            <a:ext cx="6309360" cy="4389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87000" y="2761488"/>
            <a:ext cx="10515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10.55 kg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657600"/>
            <a:ext cx="29260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Spring comparator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86200" y="3685032"/>
            <a:ext cx="3584448" cy="438912"/>
          </a:xfrm>
          <a:prstGeom prst="rect">
            <a:avLst/>
          </a:prstGeom>
          <a:solidFill>
            <a:srgbClr val="6376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87000" y="3675887"/>
            <a:ext cx="10515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~6 kg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892040"/>
            <a:ext cx="10744200" cy="868680"/>
          </a:xfrm>
          <a:prstGeom prst="roundRect">
            <a:avLst/>
          </a:prstGeom>
          <a:solidFill>
            <a:srgbClr val="FF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120640"/>
            <a:ext cx="1028700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B94141"/>
                </a:solidFill>
                <a:latin typeface="Aptos"/>
              </a:defRPr>
            </a:pPr>
            <a:r>
              <a:t>1.76× heavier per 3U payload; the preset 15% parity band fails.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current side-fed assembly fails a geometric fit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CAD INTERFERENCE • OPEN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Gen5 Review.FCStd; P116 assembly packaging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18</a:t>
            </a:r>
          </a:p>
        </p:txBody>
      </p:sp>
      <p:pic>
        <p:nvPicPr>
          <p:cNvPr id="9" name="Picture 8" descr="gen5_packagin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6699" y="1627632"/>
            <a:ext cx="3323473" cy="449884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601968" y="1755648"/>
            <a:ext cx="4709160" cy="16916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01968" y="1755648"/>
            <a:ext cx="73152" cy="169164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2280" y="1901952"/>
            <a:ext cx="43434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11 mm short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2505456"/>
            <a:ext cx="4325112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537 mm of track and cassette width inside 526 mm of usable enclosure width.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01968" y="3675887"/>
            <a:ext cx="4709160" cy="16916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01968" y="3675887"/>
            <a:ext cx="73152" cy="169164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3822191"/>
            <a:ext cx="43434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300" b="1">
                <a:solidFill>
                  <a:srgbClr val="0D2035"/>
                </a:solidFill>
                <a:latin typeface="Aptos"/>
              </a:defRPr>
            </a:pPr>
            <a:r>
              <a:t>32,915 mm³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425696"/>
            <a:ext cx="4325112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Cassette/track clash per side. Full audit: 17 intersecting pairs, including sled/track and sled/stator.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6025896"/>
            <a:ext cx="105613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1">
                <a:solidFill>
                  <a:srgbClr val="0D2035"/>
                </a:solidFill>
                <a:latin typeface="Aptos"/>
              </a:defRPr>
            </a:pPr>
            <a:r>
              <a:t>Reference placement only: a new feeder or enclosure would need a new configuration and rerun.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R1 clears cassette width, but still has assembly clashes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UNSELECTED GEOMETRY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R1 STEP candidate; exact-solid route ledger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19</a:t>
            </a:r>
          </a:p>
        </p:txBody>
      </p:sp>
      <p:pic>
        <p:nvPicPr>
          <p:cNvPr id="9" name="Picture 8" descr="r1_candidat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38324"/>
            <a:ext cx="6766560" cy="380431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452360" y="1719072"/>
            <a:ext cx="3995928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52360" y="1719072"/>
            <a:ext cx="73152" cy="1773936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2" y="1865376"/>
            <a:ext cx="363016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12 /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62672" y="2468879"/>
            <a:ext cx="3611880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Selected scripted 3U paths clear; a whole-assembly audit still finds five intersecting solid pairs.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52360" y="3685032"/>
            <a:ext cx="3995928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52360" y="3685032"/>
            <a:ext cx="73152" cy="1773936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62672" y="3831336"/>
            <a:ext cx="363016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570 mm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62672" y="4434840"/>
            <a:ext cx="3611880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Wider enclosure; 0.5° assumed alignment stack fails its 5 mm gap; lift and retention still open.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53328"/>
            <a:ext cx="1078992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Separate R1 candidate; no change to evaluated Gen5 shot, mass or host-fit claims.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Computed results: from force to mission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CAPTURED COMPUTATIONAL 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P118–P127 finite force, source, tolerance and arrest; matched reference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7336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73936"/>
            <a:ext cx="4809744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1. Finite-force geometry screen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1773936"/>
            <a:ext cx="4764024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2. Matched mission screen</a:t>
            </a:r>
          </a:p>
        </p:txBody>
      </p:sp>
      <p:pic>
        <p:nvPicPr>
          <p:cNvPr id="13" name="Picture 12" descr="gen5_finite_force_fem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482494"/>
            <a:ext cx="4956048" cy="2533091"/>
          </a:xfrm>
          <a:prstGeom prst="rect">
            <a:avLst/>
          </a:prstGeom>
        </p:spPr>
      </p:pic>
      <p:pic>
        <p:nvPicPr>
          <p:cNvPr id="14" name="Picture 13" descr="matched_mission_refer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2712110"/>
            <a:ext cx="4937760" cy="207385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843016" y="3337560"/>
            <a:ext cx="4572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8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5715000"/>
            <a:ext cx="10625328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P125: single-string source power fails at the older commercial ESR bound; no twelve-shot case closes.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Matched reference mission finds no twelve-shot closure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BOUNDED MISSION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Common-input spring/Gen5 study; 100 N host, 450 km, 12 × 4 kg payloads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21</a:t>
            </a:r>
          </a:p>
        </p:txBody>
      </p:sp>
      <p:pic>
        <p:nvPicPr>
          <p:cNvPr id="9" name="Picture 8" descr="matched_mission_refer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25776"/>
            <a:ext cx="6995160" cy="293796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699248" y="1673352"/>
            <a:ext cx="3749039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1673352"/>
            <a:ext cx="73152" cy="1773936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819656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+52.7 kg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423160"/>
            <a:ext cx="3364991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One-event device plus resized fuel: Gen5 exceeds spring despite an ideal 1.87 kg fuel saving (P123).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99248" y="3657600"/>
            <a:ext cx="3749039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99248" y="3657600"/>
            <a:ext cx="73152" cy="1773936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9560" y="3803904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400" b="1">
                <a:solidFill>
                  <a:srgbClr val="0D2035"/>
                </a:solidFill>
                <a:latin typeface="Aptos"/>
              </a:defRPr>
            </a:pPr>
            <a:r>
              <a:t>4 / 1 /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4407408"/>
            <a:ext cx="3364991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Accepted twelve-shot prefixes: spring, finite Gen5, historical Gen5.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44184"/>
            <a:ext cx="1078992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1">
                <a:solidFill>
                  <a:srgbClr val="0D2035"/>
                </a:solidFill>
                <a:latin typeface="Aptos"/>
              </a:defRPr>
            </a:pPr>
            <a:r>
              <a:t>Assumed host and devices; optimizer result is not an infeasibility proof or product advantage.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This Gen5 configuration does not pass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conclusion; P116; matched mission; STEP view provenance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5669280" cy="443484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Historical 16.0 m/s is challenged; ideal 12.448 m/s lacks a sourceable single-string bank.</a:t>
            </a:r>
          </a:p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The modeled system is 76% heavier per 3U customer and the evaluated side-fed CAD clashes.</a:t>
            </a:r>
          </a:p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R1 retains sled/track and sled/stator clashes; its assumed 0.5° gap stack fails.</a:t>
            </a:r>
          </a:p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No matched twelve-shot reference closes; Gen5 is a documented negative design study.</a:t>
            </a:r>
          </a:p>
        </p:txBody>
      </p:sp>
      <p:pic>
        <p:nvPicPr>
          <p:cNvPr id="10" name="Picture 9" descr="gen5_referenc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80971"/>
            <a:ext cx="5120640" cy="287893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10528" y="5449824"/>
            <a:ext cx="507492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STEP reference, enclosure hidden; fit fails. No physical test.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Gen6 has a testable mission, but no selected article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SCREEN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P130 matched four-release J2 screen; P131–P132 first-article bounds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23</a:t>
            </a:r>
          </a:p>
        </p:txBody>
      </p:sp>
      <p:pic>
        <p:nvPicPr>
          <p:cNvPr id="9" name="Picture 8" descr="gen6_matched_campa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2260854"/>
            <a:ext cx="6675120" cy="233629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370064" y="1645920"/>
            <a:ext cx="4151376" cy="17190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70064" y="1645920"/>
            <a:ext cx="73152" cy="171907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0376" y="1792224"/>
            <a:ext cx="3785615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Matched mission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0376" y="2395728"/>
            <a:ext cx="3767328" cy="804671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Two 1U + two 3U targets: both release choices reach ideal states. Assumed device + fuel favors springs by 10.72 kg.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70064" y="3566160"/>
            <a:ext cx="4151376" cy="17190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70064" y="3566160"/>
            <a:ext cx="73152" cy="1719072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0376" y="3712463"/>
            <a:ext cx="3785615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First-article 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0376" y="4315968"/>
            <a:ext cx="3767328" cy="804671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Two STEP envelopes exist; ~9.35 kg remains for all omitted hardware under a surrogate parity screen.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806440"/>
            <a:ext cx="1056132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1 km/s remains separate long-range research; no command range or motor rating established.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Paired cells improve the nominal acceleration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GEOMETRY • UNSELECTED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FreeCAD/STEP R0 packaging comparison; no feeder mechanism selected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24</a:t>
            </a:r>
          </a:p>
        </p:txBody>
      </p:sp>
      <p:pic>
        <p:nvPicPr>
          <p:cNvPr id="9" name="Picture 8" descr="Four_Cell_R0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91281"/>
            <a:ext cx="7315200" cy="309489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973568" y="1627632"/>
            <a:ext cx="3584448" cy="161848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73568" y="1627632"/>
            <a:ext cx="73152" cy="1618488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80" y="1773936"/>
            <a:ext cx="321868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D2035"/>
                </a:solidFill>
                <a:latin typeface="Aptos"/>
              </a:defRPr>
            </a:pPr>
            <a:r>
              <a:t>Staggered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80" y="2377440"/>
            <a:ext cx="3200400" cy="7040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Last cell: 330 mm to brake; 5.56 g ideal mean for 6 m/s.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73568" y="3419856"/>
            <a:ext cx="3584448" cy="161848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73568" y="3419856"/>
            <a:ext cx="73152" cy="161848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3566160"/>
            <a:ext cx="321868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D2035"/>
                </a:solidFill>
                <a:latin typeface="Aptos"/>
              </a:defRPr>
            </a:pPr>
            <a:r>
              <a:t>Paired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4169664"/>
            <a:ext cx="3200400" cy="7040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At least 900 mm per cell; 2.04 g largest ideal mean at 6 m/s.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88152"/>
            <a:ext cx="10881360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26 nominal FreeCAD/STEP states pass represented-solid checks; locks, contact, docking and host fit remain open.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Next milestone: close G0 and G1 before any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PLAN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P130–P132; G0/G1 review gates; no construction authorization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164592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81051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Specify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2656" y="164592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81051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Real customer targets, tolerances and provider interface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269748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286207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62656" y="269748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46120" y="286207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Complete motor, source, brake, contact and installed BOM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749039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913631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Measure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62656" y="3749039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6120" y="3913631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Field, contact, release, arrest, loads and cycle behavior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4800600"/>
            <a:ext cx="2011680" cy="768096"/>
          </a:xfrm>
          <a:prstGeom prst="round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96519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62656" y="480060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46120" y="496519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Drawings, BOM, procedures, uncertainty and review decision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Core literature and standards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81912"/>
            <a:ext cx="10881360" cy="459943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[1] JAXA, JEM Payload Accommodation Handbook, Vol. 8: Small Satellite Deployment ICD.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[2] Cal Poly, CubeSat Design Specification, Rev. 14.1, 2022.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[3] C. Foster et al., ‘Constellation phasing with differential drag on Planet Labs satellites,’ J. Spacecraft Rockets 55(2), 2018.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[4] H. Feng et al., ‘Design and reachable domain analysis of on-orbit electromagnetic launcher for CubeSats,’ Int. J. Aerospace Eng., 2025.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[5] Y. Zhao et al., ‘Design and analysis of a new deployer for the in-orbit release of multiple stacked CubeSats,’ Remote Sensing 14(17), 4205, 2022.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Methods and project records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VOLLEY-thesis/source/paper.tex; project records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36192"/>
            <a:ext cx="10881360" cy="469087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[6] Y. Zhao et al., ‘Simulation analysis and experimental verification of the transport characteristics of a high-volume CubeSat storage device,’ Aerospace 12(6), 466, 2025.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[7] K. Halbach, ‘Design of permanent multipole magnets with oriented rare earth cobalt material,’ Nucl. Instrum. Methods 169, 1980.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[8] NASA, General Environmental Verification Standard (GEVS), GSFC-STD-7000A,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[9] D. A. Vallado, Fundamentals of Astrodynamics and Applications, 4th ed.,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[10] A. Mishra, VOLLEY-thesis: manuscript, baseline, provenance and validation records, evidence snapshot 5b92edc, 20 Oct 2026.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[11] VOLLEY, Gen6 G0 mission and article requirements, 12 Oct 2026 (study requirements).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What the reconciled numerical record establishes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EVIDENCE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MODEL EVIDENCE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P133/P134 · technical evidence revision, 16 October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28</a:t>
            </a:r>
          </a:p>
        </p:txBody>
      </p:sp>
      <p:pic>
        <p:nvPicPr>
          <p:cNvPr id="9" name="Picture 8" descr="gen5_lifetime_numerical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8747"/>
            <a:ext cx="7315200" cy="38714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046720" y="1691640"/>
            <a:ext cx="3474720" cy="15544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1691640"/>
            <a:ext cx="73152" cy="15544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2" y="1837944"/>
            <a:ext cx="310896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1.602 model ratio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7032" y="2441448"/>
            <a:ext cx="3090672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Separate integration, same static atmosphere. Actual lifetime is unvalidated.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3520440"/>
            <a:ext cx="3474720" cy="173736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3520440"/>
            <a:ext cx="73152" cy="173736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7032" y="3666744"/>
            <a:ext cx="310896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Failures retained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2" y="4270248"/>
            <a:ext cx="3090672" cy="822959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22 Gen5/R1 intersections; 126.562 kg model; archived mission screens fail. New Gen6 targeting is separately bounded.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Native solvers: agreement and unresolved differences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EVIDENCE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ORBITAL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Orekit 13.1.6 / GMAT R2026a; 18 October evidence supplement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29</a:t>
            </a:r>
          </a:p>
        </p:txBody>
      </p:sp>
      <p:pic>
        <p:nvPicPr>
          <p:cNvPr id="9" name="Picture 8" descr="solver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520" y="1554480"/>
            <a:ext cx="10952480" cy="448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Prescribed states; no release-accuracy or hardware validation. J2 frames are not harmonized.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Archived campaign: sampled proximity has a limit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EVIDENCE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GMAT R1 ARCHIVE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Twelve preloaded post-release orbits; simulation dates in 2027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30</a:t>
            </a:r>
          </a:p>
        </p:txBody>
      </p:sp>
      <p:pic>
        <p:nvPicPr>
          <p:cNvPr id="9" name="Picture 8" descr="archived_campa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520" y="1554480"/>
            <a:ext cx="10952480" cy="448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190.15 m sampled; 180.29 m interpolated. Continuous clearance remains unproven.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J2 setup discrepancy now has a bounded resolution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EVIDENCE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NUMERICAL CONSISTENCY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GMAT R2026a / Orekit 13.1.6 · matched prescribed pole, 19 October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31</a:t>
            </a:r>
          </a:p>
        </p:txBody>
      </p:sp>
      <p:pic>
        <p:nvPicPr>
          <p:cNvPr id="9" name="Picture 8" descr="harmon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1963" y="1508760"/>
            <a:ext cx="9177593" cy="438911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1.285 mm maximum over one day. Shared orientation; no physical orbit or release-accuracy claim.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Precise delivery needs a measured control budget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SURROGATE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CNR-01 · complete native event replay and deterministic sensitivity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32</a:t>
            </a:r>
          </a:p>
        </p:txBody>
      </p:sp>
      <p:pic>
        <p:nvPicPr>
          <p:cNvPr id="9" name="Picture 8" descr="control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2915" y="1508760"/>
            <a:ext cx="6855689" cy="4389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+0.1% imposed release-speed bias gives ~1.53 km error. Numerical agreement is not flight precision.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Seven feeder concepts: inspectable geometry, open hardware gates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UNSELECTED CANDIDATES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Native FreeCAD / STEP · analytical cases / CalculiX fixture · 19 October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33</a:t>
            </a:r>
          </a:p>
        </p:txBody>
      </p:sp>
      <p:pic>
        <p:nvPicPr>
          <p:cNvPr id="9" name="Picture 8" descr="lead_screw_c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36438"/>
            <a:ext cx="7315200" cy="413376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46720" y="1691640"/>
            <a:ext cx="3566160" cy="402336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1U/3U CAD and bounded motion checks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Load, tolerance and fault cases retained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Arrest-tooth sizing fails adverse cases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Handoff, latch engagement and installed parts unverified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No baseline selection or hardware release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STEP-derived orthographic view; no measured reliability or full-cycle qualification.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Native mesh and result view: keep the fixture explicit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EVIDENCE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ASSUMED CLAMPED FLOOR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CalculiX2.23 DAT / INP displayed in Gmsh4.14.1 · undeformed geometry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34</a:t>
            </a:r>
          </a:p>
        </p:txBody>
      </p:sp>
      <p:pic>
        <p:nvPicPr>
          <p:cNvPr id="9" name="Picture 8" descr="Gmsh_CalculiX_flo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2557" y="1508760"/>
            <a:ext cx="6196404" cy="4389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Displacement norm in metres. Actual joints absent; peak support stress is not converged or a strength pass.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Continuous feed geometry exposes the remaining safety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PRESCRIBED MOTION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CT-01 · separate captive-transfer coupon; 19 October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35</a:t>
            </a:r>
          </a:p>
        </p:txBody>
      </p:sp>
      <p:pic>
        <p:nvPicPr>
          <p:cNvPr id="9" name="Picture 8" descr="step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688" y="1508760"/>
            <a:ext cx="4910222" cy="4389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55279" y="1691640"/>
            <a:ext cx="3611880" cy="402336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20 continuous 1U/3U phase checks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Downward gate needs under-deck volume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Stop travel and adverse fit cases fail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Real latch/custody and drive remain open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Native CAD and nominal translation proof do not establish full mechanism safety or a selected feeder.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Orbital reload: define the interface before promising a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BASELINE OPERATIONAL NO-GO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RPL-01 · limited cooperative-cartridge feasibility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36</a:t>
            </a:r>
          </a:p>
        </p:txBody>
      </p:sp>
      <p:pic>
        <p:nvPicPr>
          <p:cNvPr id="9" name="Picture 8" descr="replenish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710" y="1508760"/>
            <a:ext cx="10910098" cy="4389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108 capture / 36 fit sensitivities. No integrated reload mechanism; ground loading remains the assumption.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Finite-duration thrust changes the resource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SURROGATE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FBR-01 · 18 targeted schedules / 46 native Orekit runs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37</a:t>
            </a:r>
          </a:p>
        </p:txBody>
      </p:sp>
      <p:pic>
        <p:nvPicPr>
          <p:cNvPr id="9" name="Picture 8" descr="force_fuel_tr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543" y="1389888"/>
            <a:ext cx="6585953" cy="4709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28431" y="1508760"/>
            <a:ext cx="3520440" cy="438912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Four releases fit the 20 N / 10 kg screen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Twelve spring inputs exceed 20 N / 20 kg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Both twelve-case policies close with 30 kg / 100 N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Device mass still exceeds saved propellant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Nearly 9°/s reversals if one fixed thruster; host allocation unverified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163056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0">
                <a:solidFill>
                  <a:srgbClr val="1E3144"/>
                </a:solidFill>
                <a:latin typeface="Aptos"/>
              </a:defRPr>
            </a:pPr>
            <a:r>
              <a:t>Finite-force translational targets; imposed release speeds. No rated host, motor, flight precision or physical clearance.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Feeder geometry includes exit release and empty reset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NATIVE GEOMETRY 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FM07-R5 · separate Gen6 nominal geometry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38</a:t>
            </a:r>
          </a:p>
        </p:txBody>
      </p:sp>
      <p:pic>
        <p:nvPicPr>
          <p:cNvPr id="9" name="Picture 8" descr="FM07_Technical_exit_o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3" y="1417320"/>
            <a:ext cx="6336792" cy="4526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01000" y="1508760"/>
            <a:ext cx="3520440" cy="429768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46 cycle poses; 34 additional door-angle samples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40 continuous prescribed linear sweeps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20 assembly STEP files; 74 checked individual parts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Loaded fits, installed actuation and seven-way downselect remain acceptance gates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81344"/>
            <a:ext cx="1088136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200" b="0">
                <a:solidFill>
                  <a:srgbClr val="1E3144"/>
                </a:solidFill>
                <a:latin typeface="Aptos"/>
              </a:defRPr>
            </a:pPr>
            <a:r>
              <a:t>Blender Workbench render of actual native CAD. Prescribed geometry, not launch dynamics or hardware qualification.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Component stiffness improves within an idealized fixture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COMPONENT FIXTURE 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FLR01 / FLR02 / FLR03 · Gmsh 4.14.1 / CalculiX 2.23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39</a:t>
            </a:r>
          </a:p>
        </p:txBody>
      </p:sp>
      <p:pic>
        <p:nvPicPr>
          <p:cNvPr id="9" name="Picture 8" descr="component_compl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19" y="2198846"/>
            <a:ext cx="7132320" cy="30089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09560" y="1645920"/>
            <a:ext cx="3657600" cy="420624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12 actual-FM06 plus 40 historical receiver analyses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3U one-dog mean: 1.883 to 0.0600 mm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Clamped bores do not bound assembled stiffness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1,117/1,215 adverse guide-fit residuals nonpositive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81344"/>
            <a:ext cx="1088136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200" b="0">
                <a:solidFill>
                  <a:srgbClr val="1E3144"/>
                </a:solidFill>
                <a:latin typeface="Aptos"/>
              </a:defRPr>
            </a:pPr>
            <a:r>
              <a:t>Assumed elastic properties; no selected material allowable, real joint-contact acceptance or hardware testing.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Contact representation: calibrated controls, sensitive final 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NUMERICAL METHOD 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FCE12 · Project Chrono 10.0.0; 12 captured cases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40</a:t>
            </a:r>
          </a:p>
        </p:txBody>
      </p:sp>
      <p:pic>
        <p:nvPicPr>
          <p:cNvPr id="9" name="Picture 8" descr="contact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" y="2257044"/>
            <a:ext cx="7132320" cy="28925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09560" y="1645920"/>
            <a:ext cx="3657600" cy="420624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14 planar controls; largest checked gap error 4.28 nm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10 endpoint sequences; two injected faults abort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84 full-solid pose checks; residuals bounded at 1 µm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Final COM refinement changes 1.51 / 1.47 mm; no precision rating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81344"/>
            <a:ext cx="1088136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200" b="0">
                <a:solidFill>
                  <a:srgbClr val="1E3144"/>
                </a:solidFill>
                <a:latin typeface="Aptos"/>
              </a:defRPr>
            </a:pPr>
            <a:r>
              <a:t>Calibrated planar controls and sampled geometry do not establish continuous loaded clearance or hardware reliability.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