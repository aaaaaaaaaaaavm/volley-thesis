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08792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200" b="1">
                <a:solidFill>
                  <a:srgbClr val="B9140F"/>
                </a:solidFill>
                <a:latin typeface="Aptos"/>
              </a:defRPr>
            </a:pPr>
            <a:r>
              <a:t>Department of Mechanical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08792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900" b="1">
                <a:solidFill>
                  <a:srgbClr val="B9140F"/>
                </a:solidFill>
                <a:latin typeface="Aptos"/>
              </a:defRPr>
            </a:pPr>
            <a:r>
              <a:t>B.Tech Project Presentation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08792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900" b="1">
                <a:solidFill>
                  <a:srgbClr val="234D81"/>
                </a:solidFill>
                <a:latin typeface="Aptos"/>
              </a:defRPr>
            </a:pPr>
            <a:r>
              <a:t>VOLLEY: Controlled CubeSat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908792" cy="4572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700" b="1">
                <a:solidFill>
                  <a:srgbClr val="234D81"/>
                </a:solidFill>
                <a:latin typeface="Aptos"/>
              </a:defRPr>
            </a:pPr>
            <a:r>
              <a:t>from a Hosted Orbital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02536"/>
            <a:ext cx="9994392" cy="32918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700" b="1">
                <a:solidFill>
                  <a:srgbClr val="234D81"/>
                </a:solidFill>
                <a:latin typeface="Aptos"/>
              </a:defRPr>
            </a:pPr>
            <a:r>
              <a:t>Gen5 computational feasibility review</a:t>
            </a:r>
          </a:p>
        </p:txBody>
      </p:sp>
      <p:pic>
        <p:nvPicPr>
          <p:cNvPr id="8" name="Picture 7" descr="sit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2377440"/>
            <a:ext cx="1371600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94560" y="3931920"/>
            <a:ext cx="7772400" cy="32918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700" b="0">
                <a:solidFill>
                  <a:srgbClr val="234D81"/>
                </a:solidFill>
                <a:latin typeface="Aptos"/>
              </a:defRPr>
            </a:pPr>
            <a:r>
              <a:t>Presented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4270248"/>
            <a:ext cx="9372600" cy="4023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000" b="1">
                <a:solidFill>
                  <a:srgbClr val="234D81"/>
                </a:solidFill>
                <a:latin typeface="Aptos"/>
              </a:defRPr>
            </a:pPr>
            <a:r>
              <a:t>Adityavardhan Mishra  ·  Pratham Chawla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681728"/>
            <a:ext cx="8366760" cy="3108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500" b="0">
                <a:solidFill>
                  <a:srgbClr val="B9140F"/>
                </a:solidFill>
                <a:latin typeface="Aptos"/>
              </a:defRPr>
            </a:pPr>
            <a:r>
              <a:t>PRN 23070125054  ·  PRN 23070125029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93792"/>
            <a:ext cx="5120640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800" b="1">
                <a:solidFill>
                  <a:srgbClr val="0067A9"/>
                </a:solidFill>
                <a:latin typeface="Aptos"/>
              </a:defRPr>
            </a:pPr>
            <a:r>
              <a:t>Guide: Vikas Gulia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5193792"/>
            <a:ext cx="4663440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1800" b="1">
                <a:solidFill>
                  <a:srgbClr val="0067A9"/>
                </a:solidFill>
                <a:latin typeface="Aptos"/>
              </a:defRPr>
            </a:pPr>
            <a:r>
              <a:t>Review candidate: 19 October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172200"/>
            <a:ext cx="1110996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300" b="1">
                <a:solidFill>
                  <a:srgbClr val="B9140F"/>
                </a:solidFill>
                <a:latin typeface="Aptos"/>
              </a:defRPr>
            </a:pPr>
            <a:r>
              <a:t>SYMBIOSIS INSTITUTE OF TECHNOLOGY PUNE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528816"/>
            <a:ext cx="274320" cy="1828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Presentation 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OUTLINE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PRESENTATION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User-specified final-review outline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64208"/>
            <a:ext cx="5166360" cy="530352"/>
          </a:xfrm>
          <a:prstGeom prst="roundRect">
            <a:avLst/>
          </a:prstGeom>
          <a:solidFill>
            <a:srgbClr val="E8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755648"/>
            <a:ext cx="484632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1">
                <a:solidFill>
                  <a:srgbClr val="0D2035"/>
                </a:solidFill>
                <a:latin typeface="Aptos"/>
              </a:defRPr>
            </a:pPr>
            <a:r>
              <a:t>01  Introduction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77440"/>
            <a:ext cx="5166360" cy="530352"/>
          </a:xfrm>
          <a:prstGeom prst="roundRect">
            <a:avLst/>
          </a:prstGeom>
          <a:solidFill>
            <a:srgbClr val="E8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468880"/>
            <a:ext cx="484632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0">
                <a:solidFill>
                  <a:srgbClr val="0D2035"/>
                </a:solidFill>
                <a:latin typeface="Aptos"/>
              </a:defRPr>
            </a:pPr>
            <a:r>
              <a:t>02  Literature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90672"/>
            <a:ext cx="5166360" cy="530352"/>
          </a:xfrm>
          <a:prstGeom prst="roundRect">
            <a:avLst/>
          </a:prstGeom>
          <a:solidFill>
            <a:srgbClr val="E8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182112"/>
            <a:ext cx="484632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0">
                <a:solidFill>
                  <a:srgbClr val="0D2035"/>
                </a:solidFill>
                <a:latin typeface="Aptos"/>
              </a:defRPr>
            </a:pPr>
            <a:r>
              <a:t>03  Research gap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03904"/>
            <a:ext cx="5166360" cy="530352"/>
          </a:xfrm>
          <a:prstGeom prst="roundRect">
            <a:avLst/>
          </a:prstGeom>
          <a:solidFill>
            <a:srgbClr val="E8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895344"/>
            <a:ext cx="484632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0">
                <a:solidFill>
                  <a:srgbClr val="0D2035"/>
                </a:solidFill>
                <a:latin typeface="Aptos"/>
              </a:defRPr>
            </a:pPr>
            <a:r>
              <a:t>04  Objectives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17136"/>
            <a:ext cx="5166360" cy="530352"/>
          </a:xfrm>
          <a:prstGeom prst="roundRect">
            <a:avLst/>
          </a:prstGeom>
          <a:solidFill>
            <a:srgbClr val="E8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608576"/>
            <a:ext cx="484632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0">
                <a:solidFill>
                  <a:srgbClr val="0D2035"/>
                </a:solidFill>
                <a:latin typeface="Aptos"/>
              </a:defRPr>
            </a:pPr>
            <a:r>
              <a:t>05  Research methodology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30368"/>
            <a:ext cx="5166360" cy="530352"/>
          </a:xfrm>
          <a:prstGeom prst="roundRect">
            <a:avLst/>
          </a:prstGeom>
          <a:solidFill>
            <a:srgbClr val="E8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5321808"/>
            <a:ext cx="484632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0">
                <a:solidFill>
                  <a:srgbClr val="0D2035"/>
                </a:solidFill>
                <a:latin typeface="Aptos"/>
              </a:defRPr>
            </a:pPr>
            <a:r>
              <a:t>06  Timeline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1664208"/>
            <a:ext cx="5166360" cy="530352"/>
          </a:xfrm>
          <a:prstGeom prst="round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1755648"/>
            <a:ext cx="484632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0">
                <a:solidFill>
                  <a:srgbClr val="0D2035"/>
                </a:solidFill>
                <a:latin typeface="Aptos"/>
              </a:defRPr>
            </a:pPr>
            <a:r>
              <a:t>07  Work progress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2377440"/>
            <a:ext cx="5166360" cy="530352"/>
          </a:xfrm>
          <a:prstGeom prst="round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2468880"/>
            <a:ext cx="484632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1">
                <a:solidFill>
                  <a:srgbClr val="0D2035"/>
                </a:solidFill>
                <a:latin typeface="Aptos"/>
              </a:defRPr>
            </a:pPr>
            <a:r>
              <a:t>08  Results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59" y="3090672"/>
            <a:ext cx="5166360" cy="530352"/>
          </a:xfrm>
          <a:prstGeom prst="round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3182112"/>
            <a:ext cx="484632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1">
                <a:solidFill>
                  <a:srgbClr val="0D2035"/>
                </a:solidFill>
                <a:latin typeface="Aptos"/>
              </a:defRPr>
            </a:pPr>
            <a:r>
              <a:t>09  Conclusion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59" y="3803904"/>
            <a:ext cx="5166360" cy="530352"/>
          </a:xfrm>
          <a:prstGeom prst="round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3895344"/>
            <a:ext cx="484632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0">
                <a:solidFill>
                  <a:srgbClr val="0D2035"/>
                </a:solidFill>
                <a:latin typeface="Aptos"/>
              </a:defRPr>
            </a:pPr>
            <a:r>
              <a:t>10  Future work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59" y="4517136"/>
            <a:ext cx="5166360" cy="530352"/>
          </a:xfrm>
          <a:prstGeom prst="round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4608576"/>
            <a:ext cx="484632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0">
                <a:solidFill>
                  <a:srgbClr val="0D2035"/>
                </a:solidFill>
                <a:latin typeface="Aptos"/>
              </a:defRPr>
            </a:pPr>
            <a:r>
              <a:t>11 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Which missions might value orbital choice?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GEN5 MODEL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NASA 2026 Small Spacecraft SoA; local market audit; STEP-derived Gen5 CAD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27632"/>
            <a:ext cx="4736592" cy="1664208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627632"/>
            <a:ext cx="73152" cy="1664208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773936"/>
            <a:ext cx="4370831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000" b="1">
                <a:solidFill>
                  <a:srgbClr val="0D2035"/>
                </a:solidFill>
                <a:latin typeface="Aptos"/>
              </a:defRPr>
            </a:pPr>
            <a:r>
              <a:t>Repeat fleets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377440"/>
            <a:ext cx="4352544" cy="74980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Configurable satellite fleets exist; demand for VOLLEY is unconfirmed.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465576"/>
            <a:ext cx="4736592" cy="1664208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3465576"/>
            <a:ext cx="73152" cy="1664208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611880"/>
            <a:ext cx="4370831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000" b="1">
                <a:solidFill>
                  <a:srgbClr val="0D2035"/>
                </a:solidFill>
                <a:latin typeface="Aptos"/>
              </a:defRPr>
            </a:pPr>
            <a:r>
              <a:t>Delivery buyer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215384"/>
            <a:ext cx="4352544" cy="74980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A carrier or fleet operator might seek several release states from one host.</a:t>
            </a:r>
          </a:p>
        </p:txBody>
      </p:sp>
      <p:pic>
        <p:nvPicPr>
          <p:cNvPr id="17" name="Picture 16" descr="gen5_reference_op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638767"/>
            <a:ext cx="6108192" cy="343416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0" y="5148072"/>
            <a:ext cx="5806440" cy="4023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300" b="1">
                <a:solidFill>
                  <a:srgbClr val="0D2035"/>
                </a:solidFill>
                <a:latin typeface="Aptos"/>
              </a:defRPr>
            </a:pPr>
            <a:r>
              <a:t>STEP-derived Gen5 reference; side-fed placement fails its fit check.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33872"/>
            <a:ext cx="1074420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700" b="1">
                <a:solidFill>
                  <a:srgbClr val="0D2035"/>
                </a:solidFill>
                <a:latin typeface="Aptos"/>
              </a:defRPr>
            </a:pPr>
            <a:r>
              <a:t>Test on one matched mission against springs, host manoeuvres, transport and onboard propulsion.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Existing methods solve different parts of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GEN5 MODEL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JAXA; Foster et al. 2018; Feng et al. 2025; Zhao et al. 2022/2025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2286000" cy="502920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645920"/>
            <a:ext cx="2139696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Approach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1554480"/>
            <a:ext cx="3749039" cy="502920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2072" y="1645920"/>
            <a:ext cx="3602735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Strength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59" y="1554480"/>
            <a:ext cx="5166360" cy="502920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1645920"/>
            <a:ext cx="5020056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Limit for this thesis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057400"/>
            <a:ext cx="2286000" cy="841248"/>
          </a:xfrm>
          <a:prstGeom prst="rect">
            <a:avLst/>
          </a:prstGeom>
          <a:solidFill>
            <a:srgbClr val="F6F9FB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139696"/>
            <a:ext cx="2139696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0">
                <a:solidFill>
                  <a:srgbClr val="1E3144"/>
                </a:solidFill>
                <a:latin typeface="Aptos"/>
              </a:defRPr>
            </a:pPr>
            <a:r>
              <a:t>Spring deployer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88920" y="2057400"/>
            <a:ext cx="3749039" cy="841248"/>
          </a:xfrm>
          <a:prstGeom prst="rect">
            <a:avLst/>
          </a:prstGeom>
          <a:solidFill>
            <a:srgbClr val="F6F9FB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62072" y="2139696"/>
            <a:ext cx="3602735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0">
                <a:solidFill>
                  <a:srgbClr val="1E3144"/>
                </a:solidFill>
                <a:latin typeface="Aptos"/>
              </a:defRPr>
            </a:pPr>
            <a:r>
              <a:t>Flight heritage; compact; simple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59" y="2057400"/>
            <a:ext cx="5166360" cy="841248"/>
          </a:xfrm>
          <a:prstGeom prst="rect">
            <a:avLst/>
          </a:prstGeom>
          <a:solidFill>
            <a:srgbClr val="F6F9FB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2139696"/>
            <a:ext cx="5020056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0">
                <a:solidFill>
                  <a:srgbClr val="1E3144"/>
                </a:solidFill>
                <a:latin typeface="Aptos"/>
              </a:defRPr>
            </a:pPr>
            <a:r>
              <a:t>Limited tailored release speed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898648"/>
            <a:ext cx="2286000" cy="841248"/>
          </a:xfrm>
          <a:prstGeom prst="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2980944"/>
            <a:ext cx="2139696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0">
                <a:solidFill>
                  <a:srgbClr val="1E3144"/>
                </a:solidFill>
                <a:latin typeface="Aptos"/>
              </a:defRPr>
            </a:pPr>
            <a:r>
              <a:t>Spring release / drag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88920" y="2898648"/>
            <a:ext cx="3749039" cy="841248"/>
          </a:xfrm>
          <a:prstGeom prst="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2072" y="2980944"/>
            <a:ext cx="3602735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0">
                <a:solidFill>
                  <a:srgbClr val="1E3144"/>
                </a:solidFill>
                <a:latin typeface="Aptos"/>
              </a:defRPr>
            </a:pPr>
            <a:r>
              <a:t>Relative state or drag can create phasing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59" y="2898648"/>
            <a:ext cx="5166360" cy="841248"/>
          </a:xfrm>
          <a:prstGeom prst="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11112" y="2980944"/>
            <a:ext cx="5020056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0">
                <a:solidFill>
                  <a:srgbClr val="1E3144"/>
                </a:solidFill>
                <a:latin typeface="Aptos"/>
              </a:defRPr>
            </a:pPr>
            <a:r>
              <a:t>Timing alone, with no relative state change, cannot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739896"/>
            <a:ext cx="2286000" cy="841248"/>
          </a:xfrm>
          <a:prstGeom prst="rect">
            <a:avLst/>
          </a:prstGeom>
          <a:solidFill>
            <a:srgbClr val="F6F9FB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" y="3822191"/>
            <a:ext cx="2139696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0">
                <a:solidFill>
                  <a:srgbClr val="1E3144"/>
                </a:solidFill>
                <a:latin typeface="Aptos"/>
              </a:defRPr>
            </a:pPr>
            <a:r>
              <a:t>Orbital transfer vehicle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3739896"/>
            <a:ext cx="3749039" cy="841248"/>
          </a:xfrm>
          <a:prstGeom prst="rect">
            <a:avLst/>
          </a:prstGeom>
          <a:solidFill>
            <a:srgbClr val="F6F9FB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62072" y="3822191"/>
            <a:ext cx="3602735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0">
                <a:solidFill>
                  <a:srgbClr val="1E3144"/>
                </a:solidFill>
                <a:latin typeface="Aptos"/>
              </a:defRPr>
            </a:pPr>
            <a:r>
              <a:t>Larger orbit changes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59" y="3739896"/>
            <a:ext cx="5166360" cy="841248"/>
          </a:xfrm>
          <a:prstGeom prst="rect">
            <a:avLst/>
          </a:prstGeom>
          <a:solidFill>
            <a:srgbClr val="F6F9FB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11112" y="3822191"/>
            <a:ext cx="5020056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0">
                <a:solidFill>
                  <a:srgbClr val="1E3144"/>
                </a:solidFill>
                <a:latin typeface="Aptos"/>
              </a:defRPr>
            </a:pPr>
            <a:r>
              <a:t>Greater bus, mass and integration burden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581144"/>
            <a:ext cx="2286000" cy="841248"/>
          </a:xfrm>
          <a:prstGeom prst="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4663440"/>
            <a:ext cx="2139696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0">
                <a:solidFill>
                  <a:srgbClr val="1E3144"/>
                </a:solidFill>
                <a:latin typeface="Aptos"/>
              </a:defRPr>
            </a:pPr>
            <a:r>
              <a:t>Electromagnetic research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4581144"/>
            <a:ext cx="3749039" cy="841248"/>
          </a:xfrm>
          <a:prstGeom prst="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62072" y="4663440"/>
            <a:ext cx="3602735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0">
                <a:solidFill>
                  <a:srgbClr val="1E3144"/>
                </a:solidFill>
                <a:latin typeface="Aptos"/>
              </a:defRPr>
            </a:pPr>
            <a:r>
              <a:t>Commandable acceleration studied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7959" y="4581144"/>
            <a:ext cx="5166360" cy="841248"/>
          </a:xfrm>
          <a:prstGeom prst="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11112" y="4663440"/>
            <a:ext cx="5020056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0">
                <a:solidFill>
                  <a:srgbClr val="1E3144"/>
                </a:solidFill>
                <a:latin typeface="Aptos"/>
              </a:defRPr>
            </a:pPr>
            <a:r>
              <a:t>Armature, high-g or maturity constraints vary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A narrower, testable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RESEARCH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GEN5 MODEL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Thesis manuscript, Related Work and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10789920" cy="1152144"/>
          </a:xfrm>
          <a:prstGeom prst="roundRect">
            <a:avLst/>
          </a:prstGeom>
          <a:solidFill>
            <a:srgbClr val="E8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01952"/>
            <a:ext cx="10241280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400" b="1">
                <a:solidFill>
                  <a:srgbClr val="0D2035"/>
                </a:solidFill>
                <a:latin typeface="Aptos"/>
              </a:defRPr>
            </a:pPr>
            <a:r>
              <a:t>Commanded release for an unmodified CubeSat at moderate acceleration, with the full system counted.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72968"/>
            <a:ext cx="5230368" cy="2148840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172968"/>
            <a:ext cx="73152" cy="214884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319272"/>
            <a:ext cx="4864607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1">
                <a:solidFill>
                  <a:srgbClr val="0D2035"/>
                </a:solidFill>
                <a:latin typeface="Aptos"/>
              </a:defRPr>
            </a:pPr>
            <a:r>
              <a:t>Contribution examined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922776"/>
            <a:ext cx="4846320" cy="12344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Gen5 reusable-sled linear motor, 3U payload, magazine, pulse power, arrest and orbital utility.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172968"/>
            <a:ext cx="5230368" cy="2148840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172968"/>
            <a:ext cx="73152" cy="2148840"/>
          </a:xfrm>
          <a:prstGeom prst="rect">
            <a:avLst/>
          </a:prstGeom>
          <a:solidFill>
            <a:srgbClr val="D7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3319272"/>
            <a:ext cx="4864607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1">
                <a:solidFill>
                  <a:srgbClr val="0D2035"/>
                </a:solidFill>
                <a:latin typeface="Aptos"/>
              </a:defRPr>
            </a:pPr>
            <a:r>
              <a:t>Boundary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3922776"/>
            <a:ext cx="4846320" cy="12344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Electromagnetic CubeSat deployment exists in prior work. Payload qualification and physical performance remain unproved.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The analytical research objectives have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GEN5 MODEL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Thesis manuscript, BASELINE.md and PROVENANCE.md; presentation synthesis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4617720" cy="502920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645920"/>
            <a:ext cx="4471416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Research objective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554480"/>
            <a:ext cx="6583680" cy="502920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93792" y="1645920"/>
            <a:ext cx="6437376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Final thesis outcome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057400"/>
            <a:ext cx="4617720" cy="749808"/>
          </a:xfrm>
          <a:prstGeom prst="rect">
            <a:avLst/>
          </a:prstGeom>
          <a:solidFill>
            <a:srgbClr val="F6F9FB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2139696"/>
            <a:ext cx="4471416" cy="6400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Design a commandable 3U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2057400"/>
            <a:ext cx="6583680" cy="749808"/>
          </a:xfrm>
          <a:prstGeom prst="rect">
            <a:avLst/>
          </a:prstGeom>
          <a:solidFill>
            <a:srgbClr val="F6F9FB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93792" y="2139696"/>
            <a:ext cx="6437376" cy="6400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Reference CAD and subsystem concepts documented; feed remains open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807208"/>
            <a:ext cx="461772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2889503"/>
            <a:ext cx="4471416" cy="6400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Calculate shot and control performance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807208"/>
            <a:ext cx="65836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3792" y="2889503"/>
            <a:ext cx="6437376" cy="6400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Historical model completed; finite force screen challenges its rating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557015"/>
            <a:ext cx="4617720" cy="749808"/>
          </a:xfrm>
          <a:prstGeom prst="rect">
            <a:avLst/>
          </a:prstGeom>
          <a:solidFill>
            <a:srgbClr val="F6F9FB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3639311"/>
            <a:ext cx="4471416" cy="6400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Evaluate orbital utility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3557015"/>
            <a:ext cx="6583680" cy="749808"/>
          </a:xfrm>
          <a:prstGeom prst="rect">
            <a:avLst/>
          </a:prstGeom>
          <a:solidFill>
            <a:srgbClr val="F6F9FB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93792" y="3639311"/>
            <a:ext cx="6437376" cy="6400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Conditional orbit results; real lifetime unvalidated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306824"/>
            <a:ext cx="461772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4389120"/>
            <a:ext cx="4471416" cy="6400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Count full installed burden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0" y="4306824"/>
            <a:ext cx="65836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93792" y="4389120"/>
            <a:ext cx="6437376" cy="6400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Mass rollup completed; 3U parity criterion failed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056631"/>
            <a:ext cx="4617720" cy="749808"/>
          </a:xfrm>
          <a:prstGeom prst="rect">
            <a:avLst/>
          </a:prstGeom>
          <a:solidFill>
            <a:srgbClr val="F6F9FB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" y="5138927"/>
            <a:ext cx="4471416" cy="6400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Test credibility of key claims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0" y="5056631"/>
            <a:ext cx="6583680" cy="749808"/>
          </a:xfrm>
          <a:prstGeom prst="rect">
            <a:avLst/>
          </a:prstGeom>
          <a:solidFill>
            <a:srgbClr val="F6F9FB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93792" y="5138927"/>
            <a:ext cx="6437376" cy="6400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Numerical cross-checks and limits recorded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The analysis chain from mission to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RESEARCH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GEN5 MODEL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Thesis manuscript, Models and Verification; validation register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57400"/>
            <a:ext cx="1664208" cy="1481328"/>
          </a:xfrm>
          <a:prstGeom prst="roundRect">
            <a:avLst/>
          </a:prstGeom>
          <a:solidFill>
            <a:srgbClr val="E8F6F6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68296"/>
            <a:ext cx="1481328" cy="8503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700" b="1">
                <a:solidFill>
                  <a:srgbClr val="0D2035"/>
                </a:solidFill>
                <a:latin typeface="Aptos"/>
              </a:defRPr>
            </a:pPr>
            <a:r>
              <a:t>Mission &amp;</a:t>
            </a:r>
            <a:br/>
            <a:r>
              <a:t>payload needs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272" y="2514600"/>
            <a:ext cx="27432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200" b="1">
                <a:solidFill>
                  <a:srgbClr val="0096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32304" y="2057400"/>
            <a:ext cx="1664208" cy="1481328"/>
          </a:xfrm>
          <a:prstGeom prst="roundRect">
            <a:avLst/>
          </a:prstGeom>
          <a:solidFill>
            <a:srgbClr val="F6F9FB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23744" y="2368296"/>
            <a:ext cx="1481328" cy="8503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700" b="1">
                <a:solidFill>
                  <a:srgbClr val="0D2035"/>
                </a:solidFill>
                <a:latin typeface="Aptos"/>
              </a:defRPr>
            </a:pPr>
            <a:r>
              <a:t>Architecture</a:t>
            </a:r>
            <a:br/>
            <a:r>
              <a:t>trade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05656" y="2514600"/>
            <a:ext cx="27432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200" b="1">
                <a:solidFill>
                  <a:srgbClr val="0096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1688" y="2057400"/>
            <a:ext cx="1664208" cy="1481328"/>
          </a:xfrm>
          <a:prstGeom prst="roundRect">
            <a:avLst/>
          </a:prstGeom>
          <a:solidFill>
            <a:srgbClr val="E8F6F6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7" y="2368296"/>
            <a:ext cx="1481328" cy="8503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700" b="1">
                <a:solidFill>
                  <a:srgbClr val="0D2035"/>
                </a:solidFill>
                <a:latin typeface="Aptos"/>
              </a:defRPr>
            </a:pPr>
            <a:r>
              <a:t>CAD &amp; mass</a:t>
            </a:r>
            <a:br/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514600"/>
            <a:ext cx="27432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200" b="1">
                <a:solidFill>
                  <a:srgbClr val="0096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2057400"/>
            <a:ext cx="1664208" cy="1481328"/>
          </a:xfrm>
          <a:prstGeom prst="roundRect">
            <a:avLst/>
          </a:prstGeom>
          <a:solidFill>
            <a:srgbClr val="F6F9FB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2368296"/>
            <a:ext cx="1481328" cy="8503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700" b="1">
                <a:solidFill>
                  <a:srgbClr val="0D2035"/>
                </a:solidFill>
                <a:latin typeface="Aptos"/>
              </a:defRPr>
            </a:pPr>
            <a:r>
              <a:t>Shot, power &amp;</a:t>
            </a:r>
            <a:br/>
            <a:r>
              <a:t>orbit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64424" y="2514600"/>
            <a:ext cx="27432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200" b="1">
                <a:solidFill>
                  <a:srgbClr val="0096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0456" y="2057400"/>
            <a:ext cx="1664208" cy="1481328"/>
          </a:xfrm>
          <a:prstGeom prst="roundRect">
            <a:avLst/>
          </a:prstGeom>
          <a:solidFill>
            <a:srgbClr val="E8F6F6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11896" y="2368296"/>
            <a:ext cx="1481328" cy="8503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700" b="1">
                <a:solidFill>
                  <a:srgbClr val="0D2035"/>
                </a:solidFill>
                <a:latin typeface="Aptos"/>
              </a:defRPr>
            </a:pPr>
            <a:r>
              <a:t>Numerical</a:t>
            </a:r>
            <a:br/>
            <a:r>
              <a:t>cross-checks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93808" y="2514600"/>
            <a:ext cx="27432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200" b="1">
                <a:solidFill>
                  <a:srgbClr val="0096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49840" y="2057400"/>
            <a:ext cx="1664208" cy="1481328"/>
          </a:xfrm>
          <a:prstGeom prst="roundRect">
            <a:avLst/>
          </a:prstGeom>
          <a:solidFill>
            <a:srgbClr val="F6F9FB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0" y="2368296"/>
            <a:ext cx="1481328" cy="8503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700" b="1">
                <a:solidFill>
                  <a:srgbClr val="0D2035"/>
                </a:solidFill>
                <a:latin typeface="Aptos"/>
              </a:defRPr>
            </a:pPr>
            <a:r>
              <a:t>Sensitivity &amp;</a:t>
            </a:r>
            <a:br/>
            <a:r>
              <a:t>acceptance bands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0" y="4242816"/>
            <a:ext cx="9418320" cy="1078992"/>
          </a:xfrm>
          <a:prstGeom prst="round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4498848"/>
            <a:ext cx="8869680" cy="5669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300" b="1">
                <a:solidFill>
                  <a:srgbClr val="0D2035"/>
                </a:solidFill>
                <a:latin typeface="Aptos"/>
              </a:defRPr>
            </a:pPr>
            <a:r>
              <a:t>Models were challenged and revised; hardware performance remains outside this thesis's evidence.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Numerical checks changed the review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RESEARCH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GEN5 MODEL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VOLLEY-thesis/appendix/PROVENANCE.md; validation run sheets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2468880" cy="502920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645920"/>
            <a:ext cx="2322576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1554480"/>
            <a:ext cx="4297680" cy="502920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1645920"/>
            <a:ext cx="4151376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Method / cross-check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69480" y="1554480"/>
            <a:ext cx="4434840" cy="502920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2631" y="1645920"/>
            <a:ext cx="4288536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limit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057400"/>
            <a:ext cx="2468880" cy="859536"/>
          </a:xfrm>
          <a:prstGeom prst="rect">
            <a:avLst/>
          </a:prstGeom>
          <a:solidFill>
            <a:srgbClr val="F6F9FB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139696"/>
            <a:ext cx="2322576" cy="74980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Field and thrust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71800" y="2057400"/>
            <a:ext cx="4297680" cy="859536"/>
          </a:xfrm>
          <a:prstGeom prst="rect">
            <a:avLst/>
          </a:prstGeom>
          <a:solidFill>
            <a:srgbClr val="F6F9FB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2139696"/>
            <a:ext cx="4151376" cy="74980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Analytic; 2-D FEM; independent 3-D numerical force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80" y="2057400"/>
            <a:ext cx="4434840" cy="859536"/>
          </a:xfrm>
          <a:prstGeom prst="rect">
            <a:avLst/>
          </a:prstGeom>
          <a:solidFill>
            <a:srgbClr val="F6F9FB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42631" y="2139696"/>
            <a:ext cx="4288536" cy="74980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Shared ideal inputs; no motor measurement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916936"/>
            <a:ext cx="2468880" cy="859536"/>
          </a:xfrm>
          <a:prstGeom prst="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2999232"/>
            <a:ext cx="2322576" cy="74980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Shot and power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71800" y="2916936"/>
            <a:ext cx="4297680" cy="859536"/>
          </a:xfrm>
          <a:prstGeom prst="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2999232"/>
            <a:ext cx="4151376" cy="74980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Dynamics; Monte Carlo; ngspice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69480" y="2916936"/>
            <a:ext cx="4434840" cy="859536"/>
          </a:xfrm>
          <a:prstGeom prst="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42631" y="2999232"/>
            <a:ext cx="4288536" cy="74980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Assumed components and interfaces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776472"/>
            <a:ext cx="2468880" cy="859536"/>
          </a:xfrm>
          <a:prstGeom prst="rect">
            <a:avLst/>
          </a:prstGeom>
          <a:solidFill>
            <a:srgbClr val="F6F9FB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" y="3858768"/>
            <a:ext cx="2322576" cy="74980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Structure and flow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71800" y="3776472"/>
            <a:ext cx="4297680" cy="859536"/>
          </a:xfrm>
          <a:prstGeom prst="rect">
            <a:avLst/>
          </a:prstGeom>
          <a:solidFill>
            <a:srgbClr val="F6F9FB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3858768"/>
            <a:ext cx="4151376" cy="74980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CAD; CalculiX; OpenFOAM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69480" y="3776472"/>
            <a:ext cx="4434840" cy="859536"/>
          </a:xfrm>
          <a:prstGeom prst="rect">
            <a:avLst/>
          </a:prstGeom>
          <a:solidFill>
            <a:srgbClr val="F6F9FB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42631" y="3858768"/>
            <a:ext cx="4288536" cy="74980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No payload qualification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636008"/>
            <a:ext cx="2468880" cy="859536"/>
          </a:xfrm>
          <a:prstGeom prst="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4718304"/>
            <a:ext cx="2322576" cy="74980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Orbital change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71800" y="4636008"/>
            <a:ext cx="4297680" cy="859536"/>
          </a:xfrm>
          <a:prstGeom prst="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44952" y="4718304"/>
            <a:ext cx="4151376" cy="74980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Orbit model; Cowell / GMAT cases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69480" y="4636008"/>
            <a:ext cx="4434840" cy="859536"/>
          </a:xfrm>
          <a:prstGeom prst="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42631" y="4718304"/>
            <a:ext cx="4288536" cy="74980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Lifetime depends on atmosphere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Project evolution: documented decisions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GEN5 MODEL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VOLLEY-thesis/appendix/HISTORY.md; thesis README; PLAN-R2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72768"/>
            <a:ext cx="1828800" cy="640080"/>
          </a:xfrm>
          <a:prstGeom prst="roundRect">
            <a:avLst/>
          </a:prstGeom>
          <a:solidFill>
            <a:srgbClr val="E8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709928"/>
            <a:ext cx="16002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1">
                <a:solidFill>
                  <a:srgbClr val="0096A0"/>
                </a:solidFill>
                <a:latin typeface="Aptos"/>
              </a:defRPr>
            </a:pPr>
            <a:r>
              <a:t>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627632"/>
            <a:ext cx="246888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000" b="1">
                <a:solidFill>
                  <a:srgbClr val="0D2035"/>
                </a:solidFill>
                <a:latin typeface="Aptos"/>
              </a:defRPr>
            </a:pPr>
            <a:r>
              <a:t>Hosted 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48656" y="1664208"/>
            <a:ext cx="594360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0">
                <a:solidFill>
                  <a:srgbClr val="1E3144"/>
                </a:solidFill>
                <a:latin typeface="Aptos"/>
              </a:defRPr>
            </a:pPr>
            <a:r>
              <a:t>Free-flyer concept reframed around a host platform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423160"/>
            <a:ext cx="1828800" cy="640080"/>
          </a:xfrm>
          <a:prstGeom prst="roundRect">
            <a:avLst/>
          </a:prstGeom>
          <a:solidFill>
            <a:srgbClr val="E8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560320"/>
            <a:ext cx="16002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1">
                <a:solidFill>
                  <a:srgbClr val="0096A0"/>
                </a:solidFill>
                <a:latin typeface="Aptos"/>
              </a:defRPr>
            </a:pPr>
            <a:r>
              <a:t>Mid-2025*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478024"/>
            <a:ext cx="246888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000" b="1">
                <a:solidFill>
                  <a:srgbClr val="0D2035"/>
                </a:solidFill>
                <a:latin typeface="Aptos"/>
              </a:defRPr>
            </a:pPr>
            <a:r>
              <a:t>LSM direction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8656" y="2514600"/>
            <a:ext cx="594360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0">
                <a:solidFill>
                  <a:srgbClr val="1E3144"/>
                </a:solidFill>
                <a:latin typeface="Aptos"/>
              </a:defRPr>
            </a:pPr>
            <a:r>
              <a:t>Coilgun study gives way to a linear synchronous motor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73552"/>
            <a:ext cx="1828800" cy="640080"/>
          </a:xfrm>
          <a:prstGeom prst="roundRect">
            <a:avLst/>
          </a:prstGeom>
          <a:solidFill>
            <a:srgbClr val="E8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410712"/>
            <a:ext cx="16002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1">
                <a:solidFill>
                  <a:srgbClr val="0096A0"/>
                </a:solidFill>
                <a:latin typeface="Aptos"/>
              </a:defRPr>
            </a:pPr>
            <a:r>
              <a:t>2025–26*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328416"/>
            <a:ext cx="246888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000" b="1">
                <a:solidFill>
                  <a:srgbClr val="0D2035"/>
                </a:solidFill>
                <a:latin typeface="Aptos"/>
              </a:defRPr>
            </a:pPr>
            <a:r>
              <a:t>CAD generations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8656" y="3364992"/>
            <a:ext cx="594360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0">
                <a:solidFill>
                  <a:srgbClr val="1E3144"/>
                </a:solidFill>
                <a:latin typeface="Aptos"/>
              </a:defRPr>
            </a:pPr>
            <a:r>
              <a:t>Geometry and mass models mature through Gen5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123944"/>
            <a:ext cx="1828800" cy="640080"/>
          </a:xfrm>
          <a:prstGeom prst="roundRect">
            <a:avLst/>
          </a:prstGeom>
          <a:solidFill>
            <a:srgbClr val="E8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261104"/>
            <a:ext cx="16002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1">
                <a:solidFill>
                  <a:srgbClr val="0096A0"/>
                </a:solidFill>
                <a:latin typeface="Aptos"/>
              </a:defRPr>
            </a:pPr>
            <a:r>
              <a:t>Jul–Sep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178807"/>
            <a:ext cx="246888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000" b="1">
                <a:solidFill>
                  <a:srgbClr val="0D2035"/>
                </a:solidFill>
                <a:latin typeface="Aptos"/>
              </a:defRPr>
            </a:pPr>
            <a:r>
              <a:t>Gen5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8656" y="4215383"/>
            <a:ext cx="594360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0">
                <a:solidFill>
                  <a:srgbClr val="1E3144"/>
                </a:solidFill>
                <a:latin typeface="Aptos"/>
              </a:defRPr>
            </a:pPr>
            <a:r>
              <a:t>Cross-checks, defect corrections and thesis record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974336"/>
            <a:ext cx="1828800" cy="640080"/>
          </a:xfrm>
          <a:prstGeom prst="roundRect">
            <a:avLst/>
          </a:prstGeom>
          <a:solidFill>
            <a:srgbClr val="E8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5111496"/>
            <a:ext cx="16002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1">
                <a:solidFill>
                  <a:srgbClr val="0096A0"/>
                </a:solidFill>
                <a:latin typeface="Aptos"/>
              </a:defRPr>
            </a:pPr>
            <a:r>
              <a:t>Oct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029200"/>
            <a:ext cx="246888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000" b="1">
                <a:solidFill>
                  <a:srgbClr val="0D2035"/>
                </a:solidFill>
                <a:latin typeface="Aptos"/>
              </a:defRPr>
            </a:pPr>
            <a:r>
              <a:t>Final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48656" y="5065776"/>
            <a:ext cx="594360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0">
                <a:solidFill>
                  <a:srgbClr val="1E3144"/>
                </a:solidFill>
                <a:latin typeface="Aptos"/>
              </a:defRPr>
            </a:pPr>
            <a:r>
              <a:t>Gen5 results, failed criteria and thesis record prepared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989320"/>
            <a:ext cx="996696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100" b="0">
                <a:solidFill>
                  <a:srgbClr val="637684"/>
                </a:solidFill>
                <a:latin typeface="Aptos"/>
              </a:defRPr>
            </a:pPr>
            <a:r>
              <a:t>* Approximate historical milestone; not a documented semester deadline.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2026 findings changed the review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GEN5 MODEL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HISTORY.md; PROVENANCE.md; thesis manuscript,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609344"/>
            <a:ext cx="1097280" cy="612648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1728216"/>
            <a:ext cx="896112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Jul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12848" y="1609344"/>
            <a:ext cx="8823960" cy="612648"/>
          </a:xfrm>
          <a:prstGeom prst="round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1700784"/>
            <a:ext cx="8394192" cy="4480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0">
                <a:solidFill>
                  <a:srgbClr val="1E3144"/>
                </a:solidFill>
                <a:latin typeface="Aptos"/>
              </a:defRPr>
            </a:pPr>
            <a:r>
              <a:t>CAD-derived sled mass replaced an optimistic parametric estimate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450592"/>
            <a:ext cx="1097280" cy="612648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984" y="2569464"/>
            <a:ext cx="896112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Aug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12848" y="2450592"/>
            <a:ext cx="8823960" cy="612648"/>
          </a:xfrm>
          <a:prstGeom prst="round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3160" y="2542032"/>
            <a:ext cx="8394192" cy="4480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0">
                <a:solidFill>
                  <a:srgbClr val="1E3144"/>
                </a:solidFill>
                <a:latin typeface="Aptos"/>
              </a:defRPr>
            </a:pPr>
            <a:r>
              <a:t>Depth-resolved thrust calculation lowered the historical model speed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291840"/>
            <a:ext cx="1097280" cy="612648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4" y="3410712"/>
            <a:ext cx="896112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Aug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12848" y="3291840"/>
            <a:ext cx="8823960" cy="612648"/>
          </a:xfrm>
          <a:prstGeom prst="round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23160" y="3383280"/>
            <a:ext cx="8394192" cy="4480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0">
                <a:solidFill>
                  <a:srgbClr val="1E3144"/>
                </a:solidFill>
                <a:latin typeface="Aptos"/>
              </a:defRPr>
            </a:pPr>
            <a:r>
              <a:t>Enclosure buildup exposed the full 3U mass penalty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133088"/>
            <a:ext cx="1097280" cy="612648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" y="4251960"/>
            <a:ext cx="896112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2026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12848" y="4133088"/>
            <a:ext cx="8823960" cy="612648"/>
          </a:xfrm>
          <a:prstGeom prst="round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23160" y="4224528"/>
            <a:ext cx="8394192" cy="4480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0">
                <a:solidFill>
                  <a:srgbClr val="1E3144"/>
                </a:solidFill>
                <a:latin typeface="Aptos"/>
              </a:defRPr>
            </a:pPr>
            <a:r>
              <a:t>Independent orbit checks rejected a solar-invariance claim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974336"/>
            <a:ext cx="1097280" cy="612648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4" y="5093208"/>
            <a:ext cx="896112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Final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12848" y="4974336"/>
            <a:ext cx="8823960" cy="612648"/>
          </a:xfrm>
          <a:prstGeom prst="round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23160" y="5065776"/>
            <a:ext cx="8394192" cy="4480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0">
                <a:solidFill>
                  <a:srgbClr val="1E3144"/>
                </a:solidFill>
                <a:latin typeface="Aptos"/>
              </a:defRPr>
            </a:pPr>
            <a:r>
              <a:t>Results and failures retained in the submitted thesis record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The current review package is assembled and traceable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WORK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GEN5 MODEL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Thesis README; validation register; STEP view provenance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9" name="Picture 8" descr="gen5_reference_clos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050948"/>
            <a:ext cx="4983480" cy="280182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294376"/>
            <a:ext cx="4910328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300" b="1">
                <a:solidFill>
                  <a:srgbClr val="0D2035"/>
                </a:solidFill>
                <a:latin typeface="Aptos"/>
              </a:defRPr>
            </a:pPr>
            <a:r>
              <a:t>FreeCAD-linked STEP envelope; internal interference is concealed.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97296" y="1673352"/>
            <a:ext cx="5669280" cy="1664208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97296" y="1673352"/>
            <a:ext cx="73152" cy="1664208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07608" y="1819656"/>
            <a:ext cx="5303520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000" b="1">
                <a:solidFill>
                  <a:srgbClr val="0D2035"/>
                </a:solidFill>
                <a:latin typeface="Aptos"/>
              </a:defRPr>
            </a:pPr>
            <a:r>
              <a:t>Analysis 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7608" y="2423160"/>
            <a:ext cx="5285232" cy="74980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Shot, circuit, structural, thermal, orbit and alternative-case models.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97296" y="3547872"/>
            <a:ext cx="5669280" cy="1664208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97296" y="3547872"/>
            <a:ext cx="73152" cy="1664208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07608" y="3694176"/>
            <a:ext cx="5303520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000" b="1">
                <a:solidFill>
                  <a:srgbClr val="0D2035"/>
                </a:solidFill>
                <a:latin typeface="Aptos"/>
              </a:defRPr>
            </a:pPr>
            <a:r>
              <a:t>Evidence delivered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7608" y="4297680"/>
            <a:ext cx="5285232" cy="74980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Manuscript, STEP, scripts, numerical checks and defect register.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861304"/>
            <a:ext cx="10698480" cy="35661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700" b="1">
                <a:solidFill>
                  <a:srgbClr val="0D2035"/>
                </a:solidFill>
                <a:latin typeface="Aptos"/>
              </a:defRPr>
            </a:pPr>
            <a:r>
              <a:t>Fixed computational study with failed design gates; no physical qualification claim.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Gen5: fixed reference geometry, feeder fit still 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GEN5 MODEL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FreeCAD Gen5 STEP reference; view provenance and P116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9" name="Picture 8" descr="gen5_reference_op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95424"/>
            <a:ext cx="6400800" cy="35986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40880" y="1828800"/>
            <a:ext cx="4434840" cy="3931920"/>
          </a:xfrm>
          <a:prstGeom prst="rect">
            <a:avLst/>
          </a:prstGeom>
          <a:noFill/>
        </p:spPr>
        <p:txBody>
          <a:bodyPr wrap="square" lIns="73152" rIns="73152" tIns="36576" bIns="0">
            <a:spAutoFit/>
          </a:bodyPr>
          <a:lstStyle/>
          <a:p>
            <a:pPr>
              <a:spcAft>
                <a:spcPts val="1700"/>
              </a:spcAft>
              <a:defRPr sz="1900">
                <a:solidFill>
                  <a:srgbClr val="1E3144"/>
                </a:solidFill>
                <a:latin typeface="Aptos"/>
              </a:defRPr>
            </a:pPr>
            <a:r>
              <a:t>•  1.3 m powered stroke; 1.5 m release station</a:t>
            </a:r>
          </a:p>
          <a:p>
            <a:pPr>
              <a:spcAft>
                <a:spcPts val="1700"/>
              </a:spcAft>
              <a:defRPr sz="1900">
                <a:solidFill>
                  <a:srgbClr val="1E3144"/>
                </a:solidFill>
                <a:latin typeface="Aptos"/>
              </a:defRPr>
            </a:pPr>
            <a:r>
              <a:t>•  Reusable 9.45 kg magnet sled</a:t>
            </a:r>
          </a:p>
          <a:p>
            <a:pPr>
              <a:spcAft>
                <a:spcPts val="1700"/>
              </a:spcAft>
              <a:defRPr sz="1900">
                <a:solidFill>
                  <a:srgbClr val="1E3144"/>
                </a:solidFill>
                <a:latin typeface="Aptos"/>
              </a:defRPr>
            </a:pPr>
            <a:r>
              <a:t>•  Two cassettes; twelve 3U satellites</a:t>
            </a:r>
          </a:p>
          <a:p>
            <a:pPr>
              <a:spcAft>
                <a:spcPts val="1700"/>
              </a:spcAft>
              <a:defRPr sz="1900">
                <a:solidFill>
                  <a:srgbClr val="1E3144"/>
                </a:solidFill>
                <a:latin typeface="Aptos"/>
              </a:defRPr>
            </a:pPr>
            <a:r>
              <a:t>•  FreeCAD STEP assembly: side-fed placement clashes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53328"/>
            <a:ext cx="6172200" cy="2834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200" b="1">
                <a:solidFill>
                  <a:srgbClr val="0D2035"/>
                </a:solidFill>
                <a:latin typeface="Aptos"/>
              </a:defRPr>
            </a:pPr>
            <a:r>
              <a:t>Enclosure hidden for visibility; no fabricated article.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Historical periodic-model shot: challenged by finite geometry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GEN5 MODEL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Thesis BASELINE.md; F01_shot.png; P117 energy 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13</a:t>
            </a:r>
          </a:p>
        </p:txBody>
      </p:sp>
      <p:pic>
        <p:nvPicPr>
          <p:cNvPr id="9" name="Picture 8" descr="F01_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673" y="1691639"/>
            <a:ext cx="7814733" cy="29718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7240" y="4828032"/>
            <a:ext cx="2496312" cy="1097280"/>
          </a:xfrm>
          <a:prstGeom prst="roundRect">
            <a:avLst/>
          </a:prstGeom>
          <a:solidFill>
            <a:srgbClr val="E8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4937760"/>
            <a:ext cx="2340864" cy="43891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500" b="1">
                <a:solidFill>
                  <a:srgbClr val="0D2035"/>
                </a:solidFill>
                <a:latin typeface="Aptos"/>
              </a:defRPr>
            </a:pPr>
            <a:r>
              <a:t>16.0 m/s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5413248"/>
            <a:ext cx="2340864" cy="3017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400" b="0">
                <a:solidFill>
                  <a:srgbClr val="1E3144"/>
                </a:solidFill>
                <a:latin typeface="Aptos"/>
              </a:defRPr>
            </a:pPr>
            <a:r>
              <a:t>exit speed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30168" y="4828032"/>
            <a:ext cx="2496312" cy="1097280"/>
          </a:xfrm>
          <a:prstGeom prst="roundRect">
            <a:avLst/>
          </a:prstGeom>
          <a:solidFill>
            <a:srgbClr val="E8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4937760"/>
            <a:ext cx="2340864" cy="43891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500" b="1">
                <a:solidFill>
                  <a:srgbClr val="0D2035"/>
                </a:solidFill>
                <a:latin typeface="Aptos"/>
              </a:defRPr>
            </a:pPr>
            <a:r>
              <a:t>10.07 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5413248"/>
            <a:ext cx="2340864" cy="3017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400" b="0">
                <a:solidFill>
                  <a:srgbClr val="1E3144"/>
                </a:solidFill>
                <a:latin typeface="Aptos"/>
              </a:defRPr>
            </a:pPr>
            <a:r>
              <a:t>acceleration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83096" y="4828032"/>
            <a:ext cx="2496312" cy="1097280"/>
          </a:xfrm>
          <a:prstGeom prst="roundRect">
            <a:avLst/>
          </a:prstGeom>
          <a:solidFill>
            <a:srgbClr val="E8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4937760"/>
            <a:ext cx="2340864" cy="43891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500" b="1">
                <a:solidFill>
                  <a:srgbClr val="0D2035"/>
                </a:solidFill>
                <a:latin typeface="Aptos"/>
              </a:defRPr>
            </a:pPr>
            <a:r>
              <a:t>2.782 kJ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5413248"/>
            <a:ext cx="2340864" cy="3017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400" b="0">
                <a:solidFill>
                  <a:srgbClr val="1E3144"/>
                </a:solidFill>
                <a:latin typeface="Aptos"/>
              </a:defRPr>
            </a:pPr>
            <a:r>
              <a:t>gross draw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36024" y="4828032"/>
            <a:ext cx="2496312" cy="1097280"/>
          </a:xfrm>
          <a:prstGeom prst="roundRect">
            <a:avLst/>
          </a:prstGeom>
          <a:solidFill>
            <a:srgbClr val="E8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9176" y="4937760"/>
            <a:ext cx="2340864" cy="43891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500" b="1">
                <a:solidFill>
                  <a:srgbClr val="0D2035"/>
                </a:solidFill>
                <a:latin typeface="Aptos"/>
              </a:defRPr>
            </a:pPr>
            <a:r>
              <a:t>18.8%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9176" y="5413248"/>
            <a:ext cx="2340864" cy="3017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400" b="0">
                <a:solidFill>
                  <a:srgbClr val="1E3144"/>
                </a:solidFill>
                <a:latin typeface="Aptos"/>
              </a:defRPr>
            </a:pPr>
            <a:r>
              <a:t>net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080760"/>
            <a:ext cx="1088136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300" b="0">
                <a:solidFill>
                  <a:srgbClr val="637684"/>
                </a:solidFill>
                <a:latin typeface="Aptos"/>
              </a:defRPr>
            </a:pPr>
            <a:r>
              <a:t>P118 challenges 16.0 m/s; P117 reconciles 124.5 J to assumed model terms.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Independent 3-D check confirms ideal finite-force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COMPUTATIONAL CROSS-CHECK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P118 analytic; P119 2-D FEM; P121 3-D numerical; P122 gap sensitivity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14</a:t>
            </a:r>
          </a:p>
        </p:txBody>
      </p:sp>
      <p:pic>
        <p:nvPicPr>
          <p:cNvPr id="9" name="Picture 8" descr="gen5_finite_force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95728"/>
            <a:ext cx="6995160" cy="27980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26679" y="1627632"/>
            <a:ext cx="3749039" cy="1783080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26679" y="1627632"/>
            <a:ext cx="73152" cy="1783080"/>
          </a:xfrm>
          <a:prstGeom prst="rect">
            <a:avLst/>
          </a:prstGeom>
          <a:solidFill>
            <a:srgbClr val="D7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36992" y="1773936"/>
            <a:ext cx="3383279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300" b="1">
                <a:solidFill>
                  <a:srgbClr val="0D2035"/>
                </a:solidFill>
                <a:latin typeface="Aptos"/>
              </a:defRPr>
            </a:pPr>
            <a:r>
              <a:t>1.042 kJ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36992" y="2377440"/>
            <a:ext cx="3364991" cy="8686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500" b="0">
                <a:solidFill>
                  <a:srgbClr val="1E3144"/>
                </a:solidFill>
                <a:latin typeface="Aptos"/>
              </a:defRPr>
            </a:pPr>
            <a:r>
              <a:t>Ideal 3-D work: independent surface-charge formulation agrees with P118 under shared inputs.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3611880"/>
            <a:ext cx="3749039" cy="1783080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26679" y="3611880"/>
            <a:ext cx="73152" cy="1783080"/>
          </a:xfrm>
          <a:prstGeom prst="rect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6992" y="3758184"/>
            <a:ext cx="3383279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400" b="1">
                <a:solidFill>
                  <a:srgbClr val="0D2035"/>
                </a:solidFill>
                <a:latin typeface="Aptos"/>
              </a:defRPr>
            </a:pPr>
            <a:r>
              <a:t>−13%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6992" y="4361688"/>
            <a:ext cx="3364991" cy="8686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500" b="0">
                <a:solidFill>
                  <a:srgbClr val="1E3144"/>
                </a:solidFill>
                <a:latin typeface="Aptos"/>
              </a:defRPr>
            </a:pPr>
            <a:r>
              <a:t>Illustrative 12-to-14 mm magnet gap change; not a measured tolerance or motor rating.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71616"/>
            <a:ext cx="10744200" cy="3200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500" b="1">
                <a:solidFill>
                  <a:srgbClr val="0D2035"/>
                </a:solidFill>
                <a:latin typeface="Aptos"/>
              </a:defRPr>
            </a:pPr>
            <a:r>
              <a:t>No measured force, selected inverter or demonstrated release speed exists.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Modelled command precision is narrow; it is unmeasured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GEN5 MODEL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Thesis BASELINE.md; PROVENANCE.md; F03_mc.png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15</a:t>
            </a:r>
          </a:p>
        </p:txBody>
      </p:sp>
      <p:pic>
        <p:nvPicPr>
          <p:cNvPr id="9" name="Picture 8" descr="F03_m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044" y="1581912"/>
            <a:ext cx="6288367" cy="451713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808975" y="1783080"/>
            <a:ext cx="3611880" cy="1920240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08975" y="1783080"/>
            <a:ext cx="73152" cy="192024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1929384"/>
            <a:ext cx="3246120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700" b="1">
                <a:solidFill>
                  <a:srgbClr val="0D2035"/>
                </a:solidFill>
                <a:latin typeface="Aptos"/>
              </a:defRPr>
            </a:pPr>
            <a:r>
              <a:t>0.0274 m/s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2532888"/>
            <a:ext cx="3227832" cy="10058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0">
                <a:solidFill>
                  <a:srgbClr val="1E3144"/>
                </a:solidFill>
                <a:latin typeface="Aptos"/>
              </a:defRPr>
            </a:pPr>
            <a:r>
              <a:t>3σ exit-velocity dispersion at a 15.8 m/s fleet setpoint.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08975" y="3950208"/>
            <a:ext cx="3611880" cy="1828800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08975" y="3950208"/>
            <a:ext cx="73152" cy="1828800"/>
          </a:xfrm>
          <a:prstGeom prst="rect">
            <a:avLst/>
          </a:prstGeom>
          <a:solidFill>
            <a:srgbClr val="D7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9288" y="4096512"/>
            <a:ext cx="3246120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100" b="1">
                <a:solidFill>
                  <a:srgbClr val="0D2035"/>
                </a:solidFill>
                <a:latin typeface="Aptos"/>
              </a:defRPr>
            </a:pPr>
            <a:r>
              <a:t>Evidence limit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4700016"/>
            <a:ext cx="3227832" cy="9144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Monte Carlo under modelled sensing and plant tolerances; no measured dispersion.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Historical orbit input has a separate geometry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GEN5 TWO-BODY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P115 Cartesian orbit check; manuscript Astrodynamic Utility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16</a:t>
            </a:r>
          </a:p>
        </p:txBody>
      </p:sp>
      <p:pic>
        <p:nvPicPr>
          <p:cNvPr id="9" name="Picture 8" descr="rated_orbit_cross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7" y="2018018"/>
            <a:ext cx="6995160" cy="352605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90688" y="1773936"/>
            <a:ext cx="3621024" cy="1783080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90688" y="1773936"/>
            <a:ext cx="73152" cy="178308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920240"/>
            <a:ext cx="3255264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+28.8008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523744"/>
            <a:ext cx="3236976" cy="8686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Immediate two-body axis rise for an assumed historical 16.029 m/s input.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90688" y="3749039"/>
            <a:ext cx="3621024" cy="1783080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90688" y="3749039"/>
            <a:ext cx="73152" cy="1783080"/>
          </a:xfrm>
          <a:prstGeom prst="rect">
            <a:avLst/>
          </a:prstGeom>
          <a:solidFill>
            <a:srgbClr val="D7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3895344"/>
            <a:ext cx="3255264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200" b="1">
                <a:solidFill>
                  <a:srgbClr val="0D2035"/>
                </a:solidFill>
                <a:latin typeface="Aptos"/>
              </a:defRPr>
            </a:pPr>
            <a:r>
              <a:t>1.602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4498848"/>
            <a:ext cx="3236976" cy="8686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600" b="0">
                <a:solidFill>
                  <a:srgbClr val="1E3144"/>
                </a:solidFill>
                <a:latin typeface="Aptos"/>
              </a:defRPr>
            </a:pPr>
            <a:r>
              <a:t>P134 checks the shared static atmosphere; actual lifetime and achieved release remain unvalidated.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53328"/>
            <a:ext cx="10744200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300" b="1">
                <a:solidFill>
                  <a:srgbClr val="0D2035"/>
                </a:solidFill>
                <a:latin typeface="Aptos"/>
              </a:defRPr>
            </a:pPr>
            <a:r>
              <a:t>Persistent phasing requires a relative state change; this result concerns orbital energy.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Gen5 fails its 3U mass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GEN5 MODEL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Thesis manuscript, Payload Class and Mass-per-Satellite; A46 enclosure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72768"/>
            <a:ext cx="10744200" cy="932688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19656"/>
            <a:ext cx="6766560" cy="3931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000" b="1">
                <a:solidFill>
                  <a:srgbClr val="0D2035"/>
                </a:solidFill>
                <a:latin typeface="Aptos"/>
              </a:defRPr>
            </a:pPr>
            <a:r>
              <a:t>Modeled dry mass, 12 slots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1819656"/>
            <a:ext cx="2377440" cy="3931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2100" b="1">
                <a:solidFill>
                  <a:srgbClr val="0D2035"/>
                </a:solidFill>
                <a:latin typeface="Aptos"/>
              </a:defRPr>
            </a:pPr>
            <a:r>
              <a:t>126.6 kg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92608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100" b="1">
                <a:solidFill>
                  <a:srgbClr val="0D2035"/>
                </a:solidFill>
                <a:latin typeface="Aptos"/>
              </a:defRPr>
            </a:pPr>
            <a:r>
              <a:t>Gen5 per 3U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86200" y="2770632"/>
            <a:ext cx="6309360" cy="438912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87000" y="2761488"/>
            <a:ext cx="1051560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2000" b="1">
                <a:solidFill>
                  <a:srgbClr val="0D2035"/>
                </a:solidFill>
                <a:latin typeface="Aptos"/>
              </a:defRPr>
            </a:pPr>
            <a:r>
              <a:t>10.55 kg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57600"/>
            <a:ext cx="292608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100" b="1">
                <a:solidFill>
                  <a:srgbClr val="0D2035"/>
                </a:solidFill>
                <a:latin typeface="Aptos"/>
              </a:defRPr>
            </a:pPr>
            <a:r>
              <a:t>Spring comparator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86200" y="3685032"/>
            <a:ext cx="3584448" cy="438912"/>
          </a:xfrm>
          <a:prstGeom prst="rect">
            <a:avLst/>
          </a:prstGeom>
          <a:solidFill>
            <a:srgbClr val="63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87000" y="3675887"/>
            <a:ext cx="1051560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2000" b="1">
                <a:solidFill>
                  <a:srgbClr val="0D2035"/>
                </a:solidFill>
                <a:latin typeface="Aptos"/>
              </a:defRPr>
            </a:pPr>
            <a:r>
              <a:t>~6 kg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892040"/>
            <a:ext cx="10744200" cy="868680"/>
          </a:xfrm>
          <a:prstGeom prst="roundRect">
            <a:avLst/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120640"/>
            <a:ext cx="10287000" cy="43891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300" b="1">
                <a:solidFill>
                  <a:srgbClr val="B94141"/>
                </a:solidFill>
                <a:latin typeface="Aptos"/>
              </a:defRPr>
            </a:pPr>
            <a:r>
              <a:t>1.76× heavier per 3U payload; the preset 15% parity band fails.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The current side-fed assembly fails a geometric fit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CAD INTERFERENCE • 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FreeCAD Gen5 Review.FCStd; P116 assembly packaging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18</a:t>
            </a:r>
          </a:p>
        </p:txBody>
      </p:sp>
      <p:pic>
        <p:nvPicPr>
          <p:cNvPr id="9" name="Picture 8" descr="gen5_packagin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699" y="1627632"/>
            <a:ext cx="3323473" cy="449884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601968" y="1755648"/>
            <a:ext cx="4709160" cy="1691640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01968" y="1755648"/>
            <a:ext cx="73152" cy="1691640"/>
          </a:xfrm>
          <a:prstGeom prst="rect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901952"/>
            <a:ext cx="4343400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11 mm short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505456"/>
            <a:ext cx="4325112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500" b="0">
                <a:solidFill>
                  <a:srgbClr val="1E3144"/>
                </a:solidFill>
                <a:latin typeface="Aptos"/>
              </a:defRPr>
            </a:pPr>
            <a:r>
              <a:t>537 mm of track and cassette width inside 526 mm of usable enclosure width.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01968" y="3675887"/>
            <a:ext cx="4709160" cy="1691640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01968" y="3675887"/>
            <a:ext cx="73152" cy="1691640"/>
          </a:xfrm>
          <a:prstGeom prst="rect">
            <a:avLst/>
          </a:prstGeom>
          <a:solidFill>
            <a:srgbClr val="D7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3822191"/>
            <a:ext cx="4343400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300" b="1">
                <a:solidFill>
                  <a:srgbClr val="0D2035"/>
                </a:solidFill>
                <a:latin typeface="Aptos"/>
              </a:defRPr>
            </a:pPr>
            <a:r>
              <a:t>32,915 mm³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425696"/>
            <a:ext cx="4325112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500" b="0">
                <a:solidFill>
                  <a:srgbClr val="1E3144"/>
                </a:solidFill>
                <a:latin typeface="Aptos"/>
              </a:defRPr>
            </a:pPr>
            <a:r>
              <a:t>Cassette/track clash per side. Full audit: 17 intersecting pairs, including sled/track and sled/stator.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6025896"/>
            <a:ext cx="1056132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400" b="1">
                <a:solidFill>
                  <a:srgbClr val="0D2035"/>
                </a:solidFill>
                <a:latin typeface="Aptos"/>
              </a:defRPr>
            </a:pPr>
            <a:r>
              <a:t>Reference placement only: a new feeder or enclosure would need a new configuration and rerun.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R1 clears cassette width, but still has assembly clashes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UNSELECTED GEOMETRY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FreeCAD R1 STEP candidate; exact-solid route ledger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19</a:t>
            </a:r>
          </a:p>
        </p:txBody>
      </p:sp>
      <p:pic>
        <p:nvPicPr>
          <p:cNvPr id="9" name="Picture 8" descr="r1_candidate_op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38324"/>
            <a:ext cx="6766560" cy="380431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52360" y="1719072"/>
            <a:ext cx="3995928" cy="1773936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19072"/>
            <a:ext cx="73152" cy="1773936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2" y="1865376"/>
            <a:ext cx="3630168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12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62672" y="2468879"/>
            <a:ext cx="3611880" cy="8595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500" b="0">
                <a:solidFill>
                  <a:srgbClr val="1E3144"/>
                </a:solidFill>
                <a:latin typeface="Aptos"/>
              </a:defRPr>
            </a:pPr>
            <a:r>
              <a:t>Selected scripted 3U paths clear; a whole-assembly audit still finds five intersecting solid pairs.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3685032"/>
            <a:ext cx="3995928" cy="1773936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3685032"/>
            <a:ext cx="73152" cy="1773936"/>
          </a:xfrm>
          <a:prstGeom prst="rect">
            <a:avLst/>
          </a:prstGeom>
          <a:solidFill>
            <a:srgbClr val="D7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62672" y="3831336"/>
            <a:ext cx="3630168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570 mm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2672" y="4434840"/>
            <a:ext cx="3611880" cy="8595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500" b="0">
                <a:solidFill>
                  <a:srgbClr val="1E3144"/>
                </a:solidFill>
                <a:latin typeface="Aptos"/>
              </a:defRPr>
            </a:pPr>
            <a:r>
              <a:t>Wider enclosure; 0.5° assumed alignment stack fails its 5 mm gap; lift and retention still open.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53328"/>
            <a:ext cx="10789920" cy="3200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500" b="1">
                <a:solidFill>
                  <a:srgbClr val="0D2035"/>
                </a:solidFill>
                <a:latin typeface="Aptos"/>
              </a:defRPr>
            </a:pPr>
            <a:r>
              <a:t>Separate R1 candidate; no change to evaluated Gen5 shot, mass or host-fit claims.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Computed results: from force to mission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CAPTURED COMPUTATIONAL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P118–P127 finite force, source, tolerance and arrest; matched reference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27632"/>
            <a:ext cx="5230368" cy="3886200"/>
          </a:xfrm>
          <a:prstGeom prst="round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73368" y="1627632"/>
            <a:ext cx="5230368" cy="3886200"/>
          </a:xfrm>
          <a:prstGeom prst="round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73936"/>
            <a:ext cx="4809744" cy="4297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1">
                <a:solidFill>
                  <a:srgbClr val="0D2035"/>
                </a:solidFill>
                <a:latin typeface="Aptos"/>
              </a:defRPr>
            </a:pPr>
            <a:r>
              <a:t>1. Finite-force geometry screen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1773936"/>
            <a:ext cx="4764024" cy="4297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900" b="1">
                <a:solidFill>
                  <a:srgbClr val="0D2035"/>
                </a:solidFill>
                <a:latin typeface="Aptos"/>
              </a:defRPr>
            </a:pPr>
            <a:r>
              <a:t>2. Matched mission screen</a:t>
            </a:r>
          </a:p>
        </p:txBody>
      </p:sp>
      <p:pic>
        <p:nvPicPr>
          <p:cNvPr id="13" name="Picture 12" descr="gen5_finite_force_fem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482494"/>
            <a:ext cx="4956048" cy="2533091"/>
          </a:xfrm>
          <a:prstGeom prst="rect">
            <a:avLst/>
          </a:prstGeom>
        </p:spPr>
      </p:pic>
      <p:pic>
        <p:nvPicPr>
          <p:cNvPr id="14" name="Picture 13" descr="matched_mission_refer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2712110"/>
            <a:ext cx="4937760" cy="207385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43016" y="3337560"/>
            <a:ext cx="457200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800" b="1">
                <a:solidFill>
                  <a:srgbClr val="0096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5715000"/>
            <a:ext cx="10625328" cy="5669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700" b="1">
                <a:solidFill>
                  <a:srgbClr val="0D2035"/>
                </a:solidFill>
                <a:latin typeface="Aptos"/>
              </a:defRPr>
            </a:pPr>
            <a:r>
              <a:t>P125: single-string source power fails at the older commercial ESR bound; no twelve-shot case closes.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Matched reference mission finds no twelve-shot closure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BOUNDED MISSION 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Common-input spring/Gen5 study; 100 N host, 450 km, 12 × 4 kg payloads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21</a:t>
            </a:r>
          </a:p>
        </p:txBody>
      </p:sp>
      <p:pic>
        <p:nvPicPr>
          <p:cNvPr id="9" name="Picture 8" descr="matched_mission_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25776"/>
            <a:ext cx="6995160" cy="293796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99248" y="1673352"/>
            <a:ext cx="3749039" cy="1773936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9248" y="1673352"/>
            <a:ext cx="73152" cy="1773936"/>
          </a:xfrm>
          <a:prstGeom prst="rect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819656"/>
            <a:ext cx="3383279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100" b="1">
                <a:solidFill>
                  <a:srgbClr val="0D2035"/>
                </a:solidFill>
                <a:latin typeface="Aptos"/>
              </a:defRPr>
            </a:pPr>
            <a:r>
              <a:t>+52.7 kg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423160"/>
            <a:ext cx="3364991" cy="8595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500" b="0">
                <a:solidFill>
                  <a:srgbClr val="1E3144"/>
                </a:solidFill>
                <a:latin typeface="Aptos"/>
              </a:defRPr>
            </a:pPr>
            <a:r>
              <a:t>One-event device plus resized fuel: Gen5 exceeds spring despite an ideal 1.87 kg fuel saving (P123).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99248" y="3657600"/>
            <a:ext cx="3749039" cy="1773936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9248" y="3657600"/>
            <a:ext cx="73152" cy="1773936"/>
          </a:xfrm>
          <a:prstGeom prst="rect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3803904"/>
            <a:ext cx="3383279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400" b="1">
                <a:solidFill>
                  <a:srgbClr val="0D2035"/>
                </a:solidFill>
                <a:latin typeface="Aptos"/>
              </a:defRPr>
            </a:pPr>
            <a:r>
              <a:t>4 / 1 /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4407408"/>
            <a:ext cx="3364991" cy="8595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500" b="0">
                <a:solidFill>
                  <a:srgbClr val="1E3144"/>
                </a:solidFill>
                <a:latin typeface="Aptos"/>
              </a:defRPr>
            </a:pPr>
            <a:r>
              <a:t>Accepted twelve-shot prefixes: spring, finite Gen5, historical Gen5.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44184"/>
            <a:ext cx="10789920" cy="3200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400" b="1">
                <a:solidFill>
                  <a:srgbClr val="0D2035"/>
                </a:solidFill>
                <a:latin typeface="Aptos"/>
              </a:defRPr>
            </a:pPr>
            <a:r>
              <a:t>Assumed host and devices; optimizer result is not an infeasibility proof or product advantage.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This Gen5 configuration does not pass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GEN5 MODEL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Thesis conclusion; P116; matched mission; STEP view provenance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64208"/>
            <a:ext cx="5669280" cy="4434840"/>
          </a:xfrm>
          <a:prstGeom prst="rect">
            <a:avLst/>
          </a:prstGeom>
          <a:noFill/>
        </p:spPr>
        <p:txBody>
          <a:bodyPr wrap="square" lIns="73152" rIns="73152" tIns="36576" bIns="0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1E3144"/>
                </a:solidFill>
                <a:latin typeface="Aptos"/>
              </a:defRPr>
            </a:pPr>
            <a:r>
              <a:t>•  Historical 16.0 m/s is challenged; ideal 12.448 m/s lacks a sourceable single-string bank.</a:t>
            </a:r>
          </a:p>
          <a:p>
            <a:pPr>
              <a:spcAft>
                <a:spcPts val="1800"/>
              </a:spcAft>
              <a:defRPr sz="1900">
                <a:solidFill>
                  <a:srgbClr val="1E3144"/>
                </a:solidFill>
                <a:latin typeface="Aptos"/>
              </a:defRPr>
            </a:pPr>
            <a:r>
              <a:t>•  The modeled system is 76% heavier per 3U customer and the evaluated side-fed CAD clashes.</a:t>
            </a:r>
          </a:p>
          <a:p>
            <a:pPr>
              <a:spcAft>
                <a:spcPts val="1800"/>
              </a:spcAft>
              <a:defRPr sz="1900">
                <a:solidFill>
                  <a:srgbClr val="1E3144"/>
                </a:solidFill>
                <a:latin typeface="Aptos"/>
              </a:defRPr>
            </a:pPr>
            <a:r>
              <a:t>•  R1 retains sled/track and sled/stator clashes; its assumed 0.5° gap stack fails.</a:t>
            </a:r>
          </a:p>
          <a:p>
            <a:pPr>
              <a:spcAft>
                <a:spcPts val="1800"/>
              </a:spcAft>
              <a:defRPr sz="1900">
                <a:solidFill>
                  <a:srgbClr val="1E3144"/>
                </a:solidFill>
                <a:latin typeface="Aptos"/>
              </a:defRPr>
            </a:pPr>
            <a:r>
              <a:t>•  No matched twelve-shot reference closes; Gen5 is a documented negative design study.</a:t>
            </a:r>
          </a:p>
        </p:txBody>
      </p:sp>
      <p:pic>
        <p:nvPicPr>
          <p:cNvPr id="10" name="Picture 9" descr="gen5_reference_op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80971"/>
            <a:ext cx="5120640" cy="287893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10528" y="5449824"/>
            <a:ext cx="5074920" cy="43891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300" b="1">
                <a:solidFill>
                  <a:srgbClr val="0D2035"/>
                </a:solidFill>
                <a:latin typeface="Aptos"/>
              </a:defRPr>
            </a:pPr>
            <a:r>
              <a:t>STEP reference, enclosure hidden; fit fails. No physical test.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Gen6 has a testable mission, but no selected article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GEN6 SCREEN • NOT ACHIEVED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P130 matched four-release J2 screen; P131–P132 first-article bounds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23</a:t>
            </a:r>
          </a:p>
        </p:txBody>
      </p:sp>
      <p:pic>
        <p:nvPicPr>
          <p:cNvPr id="9" name="Picture 8" descr="gen6_matched_campa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260854"/>
            <a:ext cx="6675120" cy="233629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70064" y="1645920"/>
            <a:ext cx="4151376" cy="1719072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70064" y="1645920"/>
            <a:ext cx="73152" cy="1719072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0376" y="1792224"/>
            <a:ext cx="3785615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800" b="1">
                <a:solidFill>
                  <a:srgbClr val="0D2035"/>
                </a:solidFill>
                <a:latin typeface="Aptos"/>
              </a:defRPr>
            </a:pPr>
            <a:r>
              <a:t>Matched 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0376" y="2395728"/>
            <a:ext cx="3767328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500" b="0">
                <a:solidFill>
                  <a:srgbClr val="1E3144"/>
                </a:solidFill>
                <a:latin typeface="Aptos"/>
              </a:defRPr>
            </a:pPr>
            <a:r>
              <a:t>Two 1U + two 3U targets: both release choices reach ideal states. Assumed device + fuel favors springs by 10.72 kg.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70064" y="3566160"/>
            <a:ext cx="4151376" cy="1719072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70064" y="3566160"/>
            <a:ext cx="73152" cy="1719072"/>
          </a:xfrm>
          <a:prstGeom prst="rect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0376" y="3712463"/>
            <a:ext cx="3785615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800" b="1">
                <a:solidFill>
                  <a:srgbClr val="0D2035"/>
                </a:solidFill>
                <a:latin typeface="Aptos"/>
              </a:defRPr>
            </a:pPr>
            <a:r>
              <a:t>First-article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0376" y="4315968"/>
            <a:ext cx="3767328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500" b="0">
                <a:solidFill>
                  <a:srgbClr val="1E3144"/>
                </a:solidFill>
                <a:latin typeface="Aptos"/>
              </a:defRPr>
            </a:pPr>
            <a:r>
              <a:t>Two STEP envelopes exist; ~9.35 kg remains for all omitted hardware under a surrogate parity screen.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06440"/>
            <a:ext cx="10561320" cy="3931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500" b="1">
                <a:solidFill>
                  <a:srgbClr val="0D2035"/>
                </a:solidFill>
                <a:latin typeface="Aptos"/>
              </a:defRPr>
            </a:pPr>
            <a:r>
              <a:t>1 km/s remains separate long-range research; no command range or motor rating established.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Paired cells improve the nominal acceleration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GEN6 GEOMETRY • UNSELECTED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FreeCAD/STEP R0 packaging comparison; no feeder mechanism selected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24</a:t>
            </a:r>
          </a:p>
        </p:txBody>
      </p:sp>
      <p:pic>
        <p:nvPicPr>
          <p:cNvPr id="9" name="Picture 8" descr="Four_Cell_R0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91281"/>
            <a:ext cx="7315200" cy="309489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973568" y="1627632"/>
            <a:ext cx="3584448" cy="1618488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73568" y="1627632"/>
            <a:ext cx="73152" cy="1618488"/>
          </a:xfrm>
          <a:prstGeom prst="rect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773936"/>
            <a:ext cx="3218688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1">
                <a:solidFill>
                  <a:srgbClr val="0D2035"/>
                </a:solidFill>
                <a:latin typeface="Aptos"/>
              </a:defRPr>
            </a:pPr>
            <a:r>
              <a:t>Staggered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377440"/>
            <a:ext cx="3200400" cy="7040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400" b="0">
                <a:solidFill>
                  <a:srgbClr val="1E3144"/>
                </a:solidFill>
                <a:latin typeface="Aptos"/>
              </a:defRPr>
            </a:pPr>
            <a:r>
              <a:t>Last cell: 330 mm to brake; 5.56 g ideal mean for 6 m/s.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3419856"/>
            <a:ext cx="3584448" cy="1618488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73568" y="3419856"/>
            <a:ext cx="73152" cy="1618488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3566160"/>
            <a:ext cx="3218688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700" b="1">
                <a:solidFill>
                  <a:srgbClr val="0D2035"/>
                </a:solidFill>
                <a:latin typeface="Aptos"/>
              </a:defRPr>
            </a:pPr>
            <a:r>
              <a:t>Paired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4169664"/>
            <a:ext cx="3200400" cy="7040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400" b="0">
                <a:solidFill>
                  <a:srgbClr val="1E3144"/>
                </a:solidFill>
                <a:latin typeface="Aptos"/>
              </a:defRPr>
            </a:pPr>
            <a:r>
              <a:t>At least 900 mm per cell; 2.04 g largest ideal mean at 6 m/s.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88152"/>
            <a:ext cx="10881360" cy="4572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1300" b="1">
                <a:solidFill>
                  <a:srgbClr val="0D2035"/>
                </a:solidFill>
                <a:latin typeface="Aptos"/>
              </a:defRPr>
            </a:pPr>
            <a:r>
              <a:t>26 nominal FreeCAD/STEP states pass represented-solid checks; locks, contact, docking and host fit remain open.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Next milestone: close G0 and G1 before any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GEN6 PLAN • NOT ACHIEVED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P130–P132; G0/G1 review gates; no construction authorization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1645920"/>
            <a:ext cx="2011680" cy="768096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810512"/>
            <a:ext cx="1673352" cy="43891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Specify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62656" y="1645920"/>
            <a:ext cx="8229600" cy="768096"/>
          </a:xfrm>
          <a:prstGeom prst="round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810512"/>
            <a:ext cx="7708392" cy="4572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000" b="0">
                <a:solidFill>
                  <a:srgbClr val="1E3144"/>
                </a:solidFill>
                <a:latin typeface="Aptos"/>
              </a:defRPr>
            </a:pPr>
            <a:r>
              <a:t>Real customer targets, tolerances and provider interface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" y="2697480"/>
            <a:ext cx="2011680" cy="768096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2862072"/>
            <a:ext cx="1673352" cy="43891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62656" y="2697480"/>
            <a:ext cx="8229600" cy="768096"/>
          </a:xfrm>
          <a:prstGeom prst="round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2862072"/>
            <a:ext cx="7708392" cy="4572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000" b="0">
                <a:solidFill>
                  <a:srgbClr val="1E3144"/>
                </a:solidFill>
                <a:latin typeface="Aptos"/>
              </a:defRPr>
            </a:pPr>
            <a:r>
              <a:t>Complete motor, source, brake, contact and installed BOM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" y="3749039"/>
            <a:ext cx="2011680" cy="768096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3913631"/>
            <a:ext cx="1673352" cy="43891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62656" y="3749039"/>
            <a:ext cx="8229600" cy="768096"/>
          </a:xfrm>
          <a:prstGeom prst="round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6120" y="3913631"/>
            <a:ext cx="7708392" cy="4572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000" b="0">
                <a:solidFill>
                  <a:srgbClr val="1E3144"/>
                </a:solidFill>
                <a:latin typeface="Aptos"/>
              </a:defRPr>
            </a:pPr>
            <a:r>
              <a:t>Field, contact, release, arrest, loads and cycle behavior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" y="4800600"/>
            <a:ext cx="2011680" cy="768096"/>
          </a:xfrm>
          <a:prstGeom prst="roundRect">
            <a:avLst/>
          </a:prstGeom>
          <a:solidFill>
            <a:srgbClr val="D7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965192"/>
            <a:ext cx="1673352" cy="43891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62656" y="4800600"/>
            <a:ext cx="8229600" cy="768096"/>
          </a:xfrm>
          <a:prstGeom prst="round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20" y="4965192"/>
            <a:ext cx="7708392" cy="4572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000" b="0">
                <a:solidFill>
                  <a:srgbClr val="1E3144"/>
                </a:solidFill>
                <a:latin typeface="Aptos"/>
              </a:defRPr>
            </a:pPr>
            <a:r>
              <a:t>Drawings, BOM, procedures, uncertainty and review decision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Core literature and standards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SOURCE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Bibliography from VOLLEY-thesis/source/paper.tex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581912"/>
            <a:ext cx="10881360" cy="4599432"/>
          </a:xfrm>
          <a:prstGeom prst="rect">
            <a:avLst/>
          </a:prstGeom>
          <a:noFill/>
        </p:spPr>
        <p:txBody>
          <a:bodyPr wrap="square" lIns="73152" rIns="73152" tIns="36576" bIns="0">
            <a:spAutoFit/>
          </a:bodyPr>
          <a:lstStyle/>
          <a:p>
            <a:pPr>
              <a:spcAft>
                <a:spcPts val="1800"/>
              </a:spcAft>
              <a:defRPr sz="1700">
                <a:solidFill>
                  <a:srgbClr val="1E3144"/>
                </a:solidFill>
                <a:latin typeface="Aptos"/>
              </a:defRPr>
            </a:pPr>
            <a:r>
              <a:t>•  [1] JAXA, JEM Payload Accommodation Handbook, Vol. 8: Small Satellite Deployment ICD.</a:t>
            </a:r>
          </a:p>
          <a:p>
            <a:pPr>
              <a:spcAft>
                <a:spcPts val="1800"/>
              </a:spcAft>
              <a:defRPr sz="1700">
                <a:solidFill>
                  <a:srgbClr val="1E3144"/>
                </a:solidFill>
                <a:latin typeface="Aptos"/>
              </a:defRPr>
            </a:pPr>
            <a:r>
              <a:t>•  [2] Cal Poly, CubeSat Design Specification, Rev. 14, 2020.</a:t>
            </a:r>
          </a:p>
          <a:p>
            <a:pPr>
              <a:spcAft>
                <a:spcPts val="1800"/>
              </a:spcAft>
              <a:defRPr sz="1700">
                <a:solidFill>
                  <a:srgbClr val="1E3144"/>
                </a:solidFill>
                <a:latin typeface="Aptos"/>
              </a:defRPr>
            </a:pPr>
            <a:r>
              <a:t>•  [3] C. Foster et al., ‘Constellation phasing with differential drag on Planet Labs satellites,’ J. Spacecraft Rockets 55(2), 2018.</a:t>
            </a:r>
          </a:p>
          <a:p>
            <a:pPr>
              <a:spcAft>
                <a:spcPts val="1800"/>
              </a:spcAft>
              <a:defRPr sz="1700">
                <a:solidFill>
                  <a:srgbClr val="1E3144"/>
                </a:solidFill>
                <a:latin typeface="Aptos"/>
              </a:defRPr>
            </a:pPr>
            <a:r>
              <a:t>•  [4] H. Feng et al., ‘Design and reachable domain analysis of on-orbit electromagnetic launcher for CubeSats,’ Int. J. Aerospace Eng., 2025.</a:t>
            </a:r>
          </a:p>
          <a:p>
            <a:pPr>
              <a:spcAft>
                <a:spcPts val="1800"/>
              </a:spcAft>
              <a:defRPr sz="1700">
                <a:solidFill>
                  <a:srgbClr val="1E3144"/>
                </a:solidFill>
                <a:latin typeface="Aptos"/>
              </a:defRPr>
            </a:pPr>
            <a:r>
              <a:t>•  [5] Y. Zhao et al., ‘Design and analysis of a new deployer for the in-orbit release of multiple stacked CubeSats,’ Remote Sensing 14(17), 4205, 2022.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Methods and project records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SOURCE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Bibliography from VOLLEY-thesis/source/paper.tex; project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536192"/>
            <a:ext cx="10881360" cy="4690872"/>
          </a:xfrm>
          <a:prstGeom prst="rect">
            <a:avLst/>
          </a:prstGeom>
          <a:noFill/>
        </p:spPr>
        <p:txBody>
          <a:bodyPr wrap="square" lIns="73152" rIns="73152" tIns="36576" bIns="0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1E3144"/>
                </a:solidFill>
                <a:latin typeface="Aptos"/>
              </a:defRPr>
            </a:pPr>
            <a:r>
              <a:t>•  [6] Y. Zhao et al., ‘Simulation analysis and experimental verification of the transport characteristics of a high-volume CubeSat storage device,’ Aerospace 12(6), 466, 2025.</a:t>
            </a:r>
          </a:p>
          <a:p>
            <a:pPr>
              <a:spcAft>
                <a:spcPts val="1600"/>
              </a:spcAft>
              <a:defRPr sz="1600">
                <a:solidFill>
                  <a:srgbClr val="1E3144"/>
                </a:solidFill>
                <a:latin typeface="Aptos"/>
              </a:defRPr>
            </a:pPr>
            <a:r>
              <a:t>•  [7] K. Halbach, ‘Design of permanent multipole magnets with oriented rare earth cobalt material,’ Nucl. Instrum. Methods 169, 1980.</a:t>
            </a:r>
          </a:p>
          <a:p>
            <a:pPr>
              <a:spcAft>
                <a:spcPts val="1600"/>
              </a:spcAft>
              <a:defRPr sz="1600">
                <a:solidFill>
                  <a:srgbClr val="1E3144"/>
                </a:solidFill>
                <a:latin typeface="Aptos"/>
              </a:defRPr>
            </a:pPr>
            <a:r>
              <a:t>•  [8] NASA, General Environmental Verification Standard (GEVS), GSFC-STD-7000A, 2013.</a:t>
            </a:r>
          </a:p>
          <a:p>
            <a:pPr>
              <a:spcAft>
                <a:spcPts val="1600"/>
              </a:spcAft>
              <a:defRPr sz="1600">
                <a:solidFill>
                  <a:srgbClr val="1E3144"/>
                </a:solidFill>
                <a:latin typeface="Aptos"/>
              </a:defRPr>
            </a:pPr>
            <a:r>
              <a:t>•  [9] D. A. Vallado, Fundamentals of Astrodynamics and Applications, 4th ed., 2013.</a:t>
            </a:r>
          </a:p>
          <a:p>
            <a:pPr>
              <a:spcAft>
                <a:spcPts val="1600"/>
              </a:spcAft>
              <a:defRPr sz="1600">
                <a:solidFill>
                  <a:srgbClr val="1E3144"/>
                </a:solidFill>
                <a:latin typeface="Aptos"/>
              </a:defRPr>
            </a:pPr>
            <a:r>
              <a:t>•  [10] A. Mishra, VOLLEY-thesis: manuscript, baseline, provenance and validation records, repo head b30ffdc, 28 Sep 2026.</a:t>
            </a:r>
          </a:p>
          <a:p>
            <a:pPr>
              <a:spcAft>
                <a:spcPts val="1600"/>
              </a:spcAft>
              <a:defRPr sz="1600">
                <a:solidFill>
                  <a:srgbClr val="1E3144"/>
                </a:solidFill>
                <a:latin typeface="Aptos"/>
              </a:defRPr>
            </a:pPr>
            <a:r>
              <a:t>•  [11] VOLLEY, Gen6 G0 mission and article requirements, 12 Oct 2026 (study requirements).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What the reconciled numerical record establishes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EVIDENCE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MODEL EVIDENCE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P133/P134 · technical evidence revision, 16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28</a:t>
            </a:r>
          </a:p>
        </p:txBody>
      </p:sp>
      <p:pic>
        <p:nvPicPr>
          <p:cNvPr id="9" name="Picture 8" descr="gen5_lifetime_numerical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8747"/>
            <a:ext cx="7315200" cy="3871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46720" y="1691640"/>
            <a:ext cx="3474720" cy="1554480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691640"/>
            <a:ext cx="73152" cy="1554480"/>
          </a:xfrm>
          <a:prstGeom prst="rect">
            <a:avLst/>
          </a:prstGeom>
          <a:solidFill>
            <a:srgbClr val="D7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2" y="1837944"/>
            <a:ext cx="3108960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800" b="1">
                <a:solidFill>
                  <a:srgbClr val="0D2035"/>
                </a:solidFill>
                <a:latin typeface="Aptos"/>
              </a:defRPr>
            </a:pPr>
            <a:r>
              <a:t>1.602 model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2" y="2441448"/>
            <a:ext cx="3090672" cy="6400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400" b="0">
                <a:solidFill>
                  <a:srgbClr val="1E3144"/>
                </a:solidFill>
                <a:latin typeface="Aptos"/>
              </a:defRPr>
            </a:pPr>
            <a:r>
              <a:t>Separate integration, same static atmosphere. Actual lifetime is unvalidated.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520440"/>
            <a:ext cx="3474720" cy="1737360"/>
          </a:xfrm>
          <a:prstGeom prst="roundRect">
            <a:avLst/>
          </a:prstGeom>
          <a:solidFill>
            <a:srgbClr val="F6F9FB"/>
          </a:solidFill>
          <a:ln>
            <a:solidFill>
              <a:srgbClr val="DD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3520440"/>
            <a:ext cx="73152" cy="1737360"/>
          </a:xfrm>
          <a:prstGeom prst="rect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3666744"/>
            <a:ext cx="3108960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800" b="1">
                <a:solidFill>
                  <a:srgbClr val="0D2035"/>
                </a:solidFill>
                <a:latin typeface="Aptos"/>
              </a:defRPr>
            </a:pPr>
            <a:r>
              <a:t>Failures retained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4270248"/>
            <a:ext cx="3090672" cy="822959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400" b="0">
                <a:solidFill>
                  <a:srgbClr val="1E3144"/>
                </a:solidFill>
                <a:latin typeface="Aptos"/>
              </a:defRPr>
            </a:pPr>
            <a:r>
              <a:t>22 Gen5/R1 intersections classified; 126.562 kg model; no sampled twelve-shot mission closes.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Native solvers: agreement and unresolved differences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EVIDENCE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ORBITAL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Orekit 13.1.6 / GMAT R2026a; 18 October evidence supplement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29</a:t>
            </a:r>
          </a:p>
        </p:txBody>
      </p:sp>
      <p:pic>
        <p:nvPicPr>
          <p:cNvPr id="9" name="Picture 8" descr="solv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20" y="1554480"/>
            <a:ext cx="10952480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080760"/>
            <a:ext cx="1078992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400" b="0">
                <a:solidFill>
                  <a:srgbClr val="1E3144"/>
                </a:solidFill>
                <a:latin typeface="Aptos"/>
              </a:defRPr>
            </a:pPr>
            <a:r>
              <a:t>Prescribed states; no release-accuracy or hardware validation. J2 frames are not harmonized.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Archived campaign: sampled proximity has a limit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EVIDENCE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GMAT R1 ARCHIVE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Twelve preloaded post-release orbits; simulation dates in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30</a:t>
            </a:r>
          </a:p>
        </p:txBody>
      </p:sp>
      <p:pic>
        <p:nvPicPr>
          <p:cNvPr id="9" name="Picture 8" descr="archived_campa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20" y="1554480"/>
            <a:ext cx="10952480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080760"/>
            <a:ext cx="1078992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400" b="0">
                <a:solidFill>
                  <a:srgbClr val="1E3144"/>
                </a:solidFill>
                <a:latin typeface="Aptos"/>
              </a:defRPr>
            </a:pPr>
            <a:r>
              <a:t>190.15 m sampled; 180.29 m interpolated. Continuous clearance remains unproven.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The J2 setup discrepancy now has a bounded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EVIDENCE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NUMERICAL CONSISTENCY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GMAT R2026a / Orekit 13.1.6 · matched prescribed pole, 19 October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31</a:t>
            </a:r>
          </a:p>
        </p:txBody>
      </p:sp>
      <p:pic>
        <p:nvPicPr>
          <p:cNvPr id="9" name="Picture 8" descr="harmon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963" y="1508760"/>
            <a:ext cx="9177593" cy="43891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6080760"/>
            <a:ext cx="1078992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400" b="0">
                <a:solidFill>
                  <a:srgbClr val="1E3144"/>
                </a:solidFill>
                <a:latin typeface="Aptos"/>
              </a:defRPr>
            </a:pPr>
            <a:r>
              <a:t>1.285 mm maximum over one day. Shared orientation; no physical orbit or release-accuracy claim.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Precise delivery needs a measured control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FUTURE-WORK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GEN6 SURROGATE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CNR-01 · complete native event replay and deterministic sensitivity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32</a:t>
            </a:r>
          </a:p>
        </p:txBody>
      </p:sp>
      <p:pic>
        <p:nvPicPr>
          <p:cNvPr id="9" name="Picture 8" descr="control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915" y="1508760"/>
            <a:ext cx="6855689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6080760"/>
            <a:ext cx="1078992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400" b="0">
                <a:solidFill>
                  <a:srgbClr val="1E3144"/>
                </a:solidFill>
                <a:latin typeface="Aptos"/>
              </a:defRPr>
            </a:pPr>
            <a:r>
              <a:t>+0.1% imposed release-speed bias gives ~1.53 km error. Numerical agreement is not flight precision.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Seven feeder concepts: inspectable geometry, open hardware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FUTURE-WORK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UNSELECTED CANDIDATES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Native FreeCAD / STEP · analytical cases / CalculiX fixture · 19 October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33</a:t>
            </a:r>
          </a:p>
        </p:txBody>
      </p:sp>
      <p:pic>
        <p:nvPicPr>
          <p:cNvPr id="9" name="Picture 8" descr="lead_screw_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36438"/>
            <a:ext cx="7315200" cy="41337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0" y="1691640"/>
            <a:ext cx="3566160" cy="4023360"/>
          </a:xfrm>
          <a:prstGeom prst="rect">
            <a:avLst/>
          </a:prstGeom>
          <a:noFill/>
        </p:spPr>
        <p:txBody>
          <a:bodyPr wrap="square" lIns="73152" rIns="73152" tIns="36576" bIns="0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1E3144"/>
                </a:solidFill>
                <a:latin typeface="Aptos"/>
              </a:defRPr>
            </a:pPr>
            <a:r>
              <a:t>•  1U/3U CAD and bounded motion checks</a:t>
            </a:r>
          </a:p>
          <a:p>
            <a:pPr>
              <a:spcAft>
                <a:spcPts val="2000"/>
              </a:spcAft>
              <a:defRPr sz="1800">
                <a:solidFill>
                  <a:srgbClr val="1E3144"/>
                </a:solidFill>
                <a:latin typeface="Aptos"/>
              </a:defRPr>
            </a:pPr>
            <a:r>
              <a:t>•  Load, tolerance and fault cases retained</a:t>
            </a:r>
          </a:p>
          <a:p>
            <a:pPr>
              <a:spcAft>
                <a:spcPts val="2000"/>
              </a:spcAft>
              <a:defRPr sz="1800">
                <a:solidFill>
                  <a:srgbClr val="1E3144"/>
                </a:solidFill>
                <a:latin typeface="Aptos"/>
              </a:defRPr>
            </a:pPr>
            <a:r>
              <a:t>•  Arrest-tooth sizing fails adverse cases</a:t>
            </a:r>
          </a:p>
          <a:p>
            <a:pPr>
              <a:spcAft>
                <a:spcPts val="2000"/>
              </a:spcAft>
              <a:defRPr sz="1800">
                <a:solidFill>
                  <a:srgbClr val="1E3144"/>
                </a:solidFill>
                <a:latin typeface="Aptos"/>
              </a:defRPr>
            </a:pPr>
            <a:r>
              <a:t>•  Handoff, latch engagement and installed parts unverified</a:t>
            </a:r>
          </a:p>
          <a:p>
            <a:pPr>
              <a:spcAft>
                <a:spcPts val="2000"/>
              </a:spcAft>
              <a:defRPr sz="1800">
                <a:solidFill>
                  <a:srgbClr val="1E3144"/>
                </a:solidFill>
                <a:latin typeface="Aptos"/>
              </a:defRPr>
            </a:pPr>
            <a:r>
              <a:t>•  No baseline selection or hardware release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080760"/>
            <a:ext cx="1078992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400" b="0">
                <a:solidFill>
                  <a:srgbClr val="1E3144"/>
                </a:solidFill>
                <a:latin typeface="Aptos"/>
              </a:defRPr>
            </a:pPr>
            <a:r>
              <a:t>STEP-derived orthographic view; no measured reliability or full-cycle qualification.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Native mesh and result view: keep the fixture explicit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EVIDENCE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ASSUMED CLAMPED FLOOR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CalculiX2.23 DAT / INP displayed in Gmsh4.14.1 · undeformed geometry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34</a:t>
            </a:r>
          </a:p>
        </p:txBody>
      </p:sp>
      <p:pic>
        <p:nvPicPr>
          <p:cNvPr id="9" name="Picture 8" descr="Gmsh_CalculiX_fl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2557" y="1508760"/>
            <a:ext cx="6196404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6080760"/>
            <a:ext cx="1078992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400" b="0">
                <a:solidFill>
                  <a:srgbClr val="1E3144"/>
                </a:solidFill>
                <a:latin typeface="Aptos"/>
              </a:defRPr>
            </a:pPr>
            <a:r>
              <a:t>Displacement norm in metres. Actual joints absent; peak support stress is not converged or a strength pass.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Continuous feed geometry exposes the remaining safety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FUTURE-WORK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PRESCRIBED MOTION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CT-01 · separate captive-transfer coupon; 19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35</a:t>
            </a:r>
          </a:p>
        </p:txBody>
      </p:sp>
      <p:pic>
        <p:nvPicPr>
          <p:cNvPr id="9" name="Picture 8" descr="step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88" y="1508760"/>
            <a:ext cx="4910222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55279" y="1691640"/>
            <a:ext cx="3611880" cy="4023360"/>
          </a:xfrm>
          <a:prstGeom prst="rect">
            <a:avLst/>
          </a:prstGeom>
          <a:noFill/>
        </p:spPr>
        <p:txBody>
          <a:bodyPr wrap="square" lIns="73152" rIns="73152" tIns="36576" bIns="0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1E3144"/>
                </a:solidFill>
                <a:latin typeface="Aptos"/>
              </a:defRPr>
            </a:pPr>
            <a:r>
              <a:t>•  20 continuous 1U/3U phase checks</a:t>
            </a:r>
          </a:p>
          <a:p>
            <a:pPr>
              <a:spcAft>
                <a:spcPts val="2000"/>
              </a:spcAft>
              <a:defRPr sz="1800">
                <a:solidFill>
                  <a:srgbClr val="1E3144"/>
                </a:solidFill>
                <a:latin typeface="Aptos"/>
              </a:defRPr>
            </a:pPr>
            <a:r>
              <a:t>•  Downward gate needs under-deck volume</a:t>
            </a:r>
          </a:p>
          <a:p>
            <a:pPr>
              <a:spcAft>
                <a:spcPts val="2000"/>
              </a:spcAft>
              <a:defRPr sz="1800">
                <a:solidFill>
                  <a:srgbClr val="1E3144"/>
                </a:solidFill>
                <a:latin typeface="Aptos"/>
              </a:defRPr>
            </a:pPr>
            <a:r>
              <a:t>•  Stop travel and adverse fit cases fail</a:t>
            </a:r>
          </a:p>
          <a:p>
            <a:pPr>
              <a:spcAft>
                <a:spcPts val="2000"/>
              </a:spcAft>
              <a:defRPr sz="1800">
                <a:solidFill>
                  <a:srgbClr val="1E3144"/>
                </a:solidFill>
                <a:latin typeface="Aptos"/>
              </a:defRPr>
            </a:pPr>
            <a:r>
              <a:t>•  Real latch/custody and drive remain open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080760"/>
            <a:ext cx="1078992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400" b="0">
                <a:solidFill>
                  <a:srgbClr val="1E3144"/>
                </a:solidFill>
                <a:latin typeface="Aptos"/>
              </a:defRPr>
            </a:pPr>
            <a:r>
              <a:t>Native CAD and nominal translation proof do not establish full mechanism safety or a selected feeder.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4EACC2"/>
          </a:solidFill>
          <a:ln>
            <a:solidFill>
              <a:srgbClr val="0D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1384280" cy="4754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2500" b="1">
                <a:solidFill>
                  <a:srgbClr val="0D2035"/>
                </a:solidFill>
                <a:latin typeface="Aptos"/>
              </a:defRPr>
            </a:pPr>
            <a:r>
              <a:t>Orbital reload: define the interface before promising a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5256"/>
            <a:ext cx="107899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FUTURE-WORK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37960"/>
            <a:ext cx="25603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1">
                <a:solidFill>
                  <a:srgbClr val="637684"/>
                </a:solidFill>
                <a:latin typeface="Aptos"/>
              </a:defRPr>
            </a:pPr>
            <a:r>
              <a:t>BASELINE OPERATIONAL NO-GO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537960"/>
            <a:ext cx="813816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850" b="0">
                <a:solidFill>
                  <a:srgbClr val="637684"/>
                </a:solidFill>
                <a:latin typeface="Aptos"/>
              </a:defRPr>
            </a:pPr>
            <a:r>
              <a:t>RPL-01 · limited cooperative-cartridge feasibility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37960"/>
            <a:ext cx="32004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defRPr sz="900" b="0">
                <a:solidFill>
                  <a:srgbClr val="637684"/>
                </a:solidFill>
                <a:latin typeface="Aptos"/>
              </a:defRPr>
            </a:pPr>
            <a:r>
              <a:t>36</a:t>
            </a:r>
          </a:p>
        </p:txBody>
      </p:sp>
      <p:pic>
        <p:nvPicPr>
          <p:cNvPr id="9" name="Picture 8" descr="replenish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10" y="1508760"/>
            <a:ext cx="10910098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6080760"/>
            <a:ext cx="1078992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defRPr sz="1400" b="0">
                <a:solidFill>
                  <a:srgbClr val="1E3144"/>
                </a:solidFill>
                <a:latin typeface="Aptos"/>
              </a:defRPr>
            </a:pPr>
            <a:r>
              <a:t>108 capture / 36 fit sensitivities. No integrated reload mechanism; ground loading remains the assumption.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