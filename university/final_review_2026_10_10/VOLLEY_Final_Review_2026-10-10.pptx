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08792" cy="3383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200" b="1">
                <a:solidFill>
                  <a:srgbClr val="B9140F"/>
                </a:solidFill>
                <a:latin typeface="Aptos"/>
              </a:defRPr>
            </a:pPr>
            <a: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08792" cy="3383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900" b="1">
                <a:solidFill>
                  <a:srgbClr val="B9140F"/>
                </a:solidFill>
                <a:latin typeface="Aptos"/>
              </a:defRPr>
            </a:pPr>
            <a:r>
              <a:t>B.Tech Project Presentation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08792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900" b="1">
                <a:solidFill>
                  <a:srgbClr val="234D81"/>
                </a:solidFill>
                <a:latin typeface="Aptos"/>
              </a:defRPr>
            </a:pPr>
            <a:r>
              <a:t>VOLLEY: Controlled CubeSat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08792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700" b="1">
                <a:solidFill>
                  <a:srgbClr val="234D81"/>
                </a:solidFill>
                <a:latin typeface="Aptos"/>
              </a:defRPr>
            </a:pPr>
            <a:r>
              <a:t>from a Hosted Orbital Platform</a:t>
            </a:r>
          </a:p>
        </p:txBody>
      </p:sp>
      <p:pic>
        <p:nvPicPr>
          <p:cNvPr id="7" name="Picture 6" descr="sit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088" y="2148840"/>
            <a:ext cx="1645920" cy="1645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3931920"/>
            <a:ext cx="7772400" cy="32918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700" b="0">
                <a:solidFill>
                  <a:srgbClr val="234D81"/>
                </a:solidFill>
                <a:latin typeface="Aptos"/>
              </a:defRPr>
            </a:pPr>
            <a:r>
              <a:t>Presented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4270248"/>
            <a:ext cx="9372600" cy="40233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000" b="1">
                <a:solidFill>
                  <a:srgbClr val="234D81"/>
                </a:solidFill>
                <a:latin typeface="Aptos"/>
              </a:defRPr>
            </a:pPr>
            <a:r>
              <a:t>Adityavardhan Mishra  ·  Pratham Chawla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4681728"/>
            <a:ext cx="8366760" cy="31089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500" b="0">
                <a:solidFill>
                  <a:srgbClr val="B9140F"/>
                </a:solidFill>
                <a:latin typeface="Aptos"/>
              </a:defRPr>
            </a:pPr>
            <a:r>
              <a:t>PRN 23070125054  ·  PRN 23070125029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93792"/>
            <a:ext cx="51206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800" b="1">
                <a:solidFill>
                  <a:srgbClr val="0067A9"/>
                </a:solidFill>
                <a:latin typeface="Aptos"/>
              </a:defRPr>
            </a:pPr>
            <a:r>
              <a:t>Guide: Vikas Gulia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5193792"/>
            <a:ext cx="46634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1800" b="1">
                <a:solidFill>
                  <a:srgbClr val="0067A9"/>
                </a:solidFill>
                <a:latin typeface="Aptos"/>
              </a:defRPr>
            </a:pPr>
            <a:r>
              <a:t>Final review: 10 October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172200"/>
            <a:ext cx="111099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300" b="1">
                <a:solidFill>
                  <a:srgbClr val="B9140F"/>
                </a:solidFill>
                <a:latin typeface="Aptos"/>
              </a:defRPr>
            </a:pPr>
            <a:r>
              <a:t>SYMBIOSIS INSTITUTE OF TECHNOLOGY PUNE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1440" y="6528816"/>
            <a:ext cx="27432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Presentation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User-specified final-review outline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6420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55648"/>
            <a:ext cx="4846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01  Introduction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468880"/>
            <a:ext cx="4846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02  Literature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90672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182112"/>
            <a:ext cx="4846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03  Research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03904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95344"/>
            <a:ext cx="4846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04  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17136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08576"/>
            <a:ext cx="4846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05  Research methodology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3036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21808"/>
            <a:ext cx="4846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06  Timeline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1664208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1755648"/>
            <a:ext cx="4846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07  Work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2377440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468880"/>
            <a:ext cx="4846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08  Results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3090672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182112"/>
            <a:ext cx="4846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09  Conclusion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3803904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895344"/>
            <a:ext cx="4846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10  Future work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517136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4608576"/>
            <a:ext cx="4846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11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deployment problem starts after rideshare reaches orbit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Introduction; JAXA J-SSOD; EXOpod documentation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664208"/>
            <a:ext cx="73152" cy="31821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10512"/>
            <a:ext cx="31546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Shared destination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414016"/>
            <a:ext cx="3136392" cy="22677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Secondary CubeSats inherit the orbit chosen for the primary customer.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664208"/>
            <a:ext cx="73152" cy="31821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1810512"/>
            <a:ext cx="31546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Conventional release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414016"/>
            <a:ext cx="3136392" cy="22677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deployers separate payloads at about 1–2 m/s; release timing helps in-track phasing.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664208"/>
            <a:ext cx="3520440" cy="318211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1664208"/>
            <a:ext cx="73152" cy="3182112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810512"/>
            <a:ext cx="31546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VOLLEY 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414016"/>
            <a:ext cx="3136392" cy="22677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Can commanded release provide useful orbital choice at an acceptable installed cost?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276088"/>
            <a:ext cx="107442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200" b="1">
                <a:solidFill>
                  <a:srgbClr val="0D2035"/>
                </a:solidFill>
                <a:latin typeface="Aptos"/>
              </a:defRPr>
            </a:pPr>
            <a:r>
              <a:t>Mission split: host = coarse orbital repositioning  •  deployer = each satellite's release condition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Existing methods solve different parts of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JAXA; Foster et al. 2018; Feng et al. 2025; Zhao et al. 2022/2025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28600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139696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554480"/>
            <a:ext cx="3749039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645920"/>
            <a:ext cx="3602735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Strength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1554480"/>
            <a:ext cx="516636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1112" y="1645920"/>
            <a:ext cx="5020056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Limit for this thesis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139696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057400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62072" y="2139696"/>
            <a:ext cx="3602735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Flight heritage; compact; simple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59" y="2057400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2139696"/>
            <a:ext cx="5020056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Limited tailored release speed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898648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80944"/>
            <a:ext cx="2139696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Timed release / drag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2898648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980944"/>
            <a:ext cx="3602735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In-track phase without a high impulse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59" y="2898648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2980944"/>
            <a:ext cx="5020056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Does not quickly change orbital energy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39896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22191"/>
            <a:ext cx="2139696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Orbital transfer vehicle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739896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62072" y="3822191"/>
            <a:ext cx="3602735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Larger orbit changes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59" y="3739896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1112" y="3822191"/>
            <a:ext cx="5020056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Greater bus, mass and integration burden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81144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663440"/>
            <a:ext cx="2139696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Electromagnetic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4581144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62072" y="4663440"/>
            <a:ext cx="3602735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Commandable acceleration studied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59" y="4581144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4663440"/>
            <a:ext cx="5020056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Armature, high-g or maturity constraints vary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narrower, testable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Related Work and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789920" cy="1152144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01952"/>
            <a:ext cx="10241280" cy="7772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400" b="1">
                <a:solidFill>
                  <a:srgbClr val="0D2035"/>
                </a:solidFill>
                <a:latin typeface="Aptos"/>
              </a:defRPr>
            </a:pPr>
            <a:r>
              <a:t>Commanded release for an unmodified CubeSat at moderate acceleration, with the full system counted.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172968"/>
            <a:ext cx="73152" cy="21488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319272"/>
            <a:ext cx="4864607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Contribution examined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922776"/>
            <a:ext cx="4846320" cy="12344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reusable-sled linear motor, 3U payload, magazine, pulse power, arrest and orbital utility.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172968"/>
            <a:ext cx="73152" cy="21488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319272"/>
            <a:ext cx="4864607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922776"/>
            <a:ext cx="4846320" cy="12344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Electromagnetic CubeSat deployment exists in prior work. Payload qualification and physical performance remain unproved.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What was achieved, and what remains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 and PLAN-R2; objectives synthesized for this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461772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4471416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Objective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554480"/>
            <a:ext cx="6583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645920"/>
            <a:ext cx="6437376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Evidence at final review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057400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139696"/>
            <a:ext cx="4471416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Architecture for an unmodified 3U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057400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2139696"/>
            <a:ext cx="6437376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CAD/model; payload qualification open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07208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89503"/>
            <a:ext cx="4471416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Quantify shot and commanded speed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807208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2889503"/>
            <a:ext cx="6437376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Shot/circuit/control simulations; no measured shot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57015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639311"/>
            <a:ext cx="4471416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Quantify orbital utility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557015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3792" y="3639311"/>
            <a:ext cx="6437376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Modelled benefit and numerical cross-checks; atmospheric limits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06824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4389120"/>
            <a:ext cx="4471416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Compare full system burden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306824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4389120"/>
            <a:ext cx="6437376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Mass and alternatives analysed; 3U mass criterion fails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56631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138927"/>
            <a:ext cx="4471416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Define next test path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5056631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93792" y="5138927"/>
            <a:ext cx="6437376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Gen6 gates set; mechanism and build release open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Requirements → model → challenge → revise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Models and Verification;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68296"/>
            <a:ext cx="1481328" cy="8503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Mission &amp;</a:t>
            </a:r>
            <a:br/>
            <a:r>
              <a:t>payload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2514600"/>
            <a:ext cx="274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2304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3744" y="2368296"/>
            <a:ext cx="1481328" cy="8503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Architecture</a:t>
            </a:r>
            <a:br/>
            <a:r>
              <a:t>trade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5656" y="2514600"/>
            <a:ext cx="274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2368296"/>
            <a:ext cx="1481328" cy="8503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CAD &amp; mass</a:t>
            </a:r>
            <a:br/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74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368296"/>
            <a:ext cx="1481328" cy="8503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Shot, power &amp;</a:t>
            </a:r>
            <a:br/>
            <a:r>
              <a:t>orbit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4424" y="2514600"/>
            <a:ext cx="274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6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2368296"/>
            <a:ext cx="1481328" cy="8503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Numerical</a:t>
            </a:r>
            <a:br/>
            <a:r>
              <a:t>cross-checks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8" y="2514600"/>
            <a:ext cx="2743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368296"/>
            <a:ext cx="1481328" cy="85039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Sensitivity &amp;</a:t>
            </a:r>
            <a:br/>
            <a:r>
              <a:t>acceptance bands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4242816"/>
            <a:ext cx="9418320" cy="107899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498848"/>
            <a:ext cx="886968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300" b="1">
                <a:solidFill>
                  <a:srgbClr val="0D2035"/>
                </a:solidFill>
                <a:latin typeface="Aptos"/>
              </a:defRPr>
            </a:pPr>
            <a:r>
              <a:t>Numerical cross-checks verify particular models. Experimental validation has not yet begun.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models answer specific questions, with specific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VOLLEY-thesis/appendix/PROVENANCE.md; validation run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4688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322576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1800" y="1554480"/>
            <a:ext cx="4297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645920"/>
            <a:ext cx="4151376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Method / cross-check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1554480"/>
            <a:ext cx="443484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1645920"/>
            <a:ext cx="4288536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322576" cy="7498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Field and thrust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057400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139696"/>
            <a:ext cx="4151376" cy="7498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Analytic winding; magpylib; FEM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057400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2631" y="2139696"/>
            <a:ext cx="4288536" cy="7498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measured thrust constant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16936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99232"/>
            <a:ext cx="2322576" cy="7498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 and power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916936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4952" y="2999232"/>
            <a:ext cx="4151376" cy="7498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Dynamics; Monte Carlo; ngspice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916936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2999232"/>
            <a:ext cx="4288536" cy="7498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Assumed components and interfaces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76472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58768"/>
            <a:ext cx="2322576" cy="7498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Structure and 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71800" y="3776472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44952" y="3858768"/>
            <a:ext cx="4151376" cy="7498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CAD; CalculiX; OpenFOAM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80" y="3776472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42631" y="3858768"/>
            <a:ext cx="4288536" cy="7498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payload qualification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36008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18304"/>
            <a:ext cx="2322576" cy="7498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Orbital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71800" y="4636008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44952" y="4718304"/>
            <a:ext cx="4151376" cy="7498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 model; Cowell / GMAT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636008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1" y="4718304"/>
            <a:ext cx="4288536" cy="7498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depends on atmosphere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Project evolution: documented decisions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VOLLEY-thesis/appendix/HISTORY.md; thesis README; PLAN-R2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72768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09928"/>
            <a:ext cx="1600200" cy="347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627632"/>
            <a:ext cx="246888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Hosted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8656" y="1664208"/>
            <a:ext cx="59436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Free-flyer concept reframed around a host platform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423160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1600200" cy="347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Mid-2025*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478024"/>
            <a:ext cx="246888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LSM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2514600"/>
            <a:ext cx="59436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Coilgun study gives way to a linear synchronous motor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73552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10712"/>
            <a:ext cx="1600200" cy="347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2025–26*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28416"/>
            <a:ext cx="246888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CAD generations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8656" y="3364992"/>
            <a:ext cx="59436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Geometry and mass models mature through Gen5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23944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61104"/>
            <a:ext cx="1600200" cy="347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Jul–Sep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178807"/>
            <a:ext cx="246888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Gen5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215383"/>
            <a:ext cx="59436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Cross-checks, defect corrections and thesis 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74336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111496"/>
            <a:ext cx="1600200" cy="347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Sep 2026 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29200"/>
            <a:ext cx="246888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Gen6 trade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5065776"/>
            <a:ext cx="59436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Mechanism choice and mission envelope reopened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989320"/>
            <a:ext cx="996696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100" b="0">
                <a:solidFill>
                  <a:srgbClr val="637684"/>
                </a:solidFill>
                <a:latin typeface="Aptos"/>
              </a:defRPr>
            </a:pPr>
            <a:r>
              <a:t>* Approximate historical milestone; not a documented semester deadline.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Next work is gated by evidence, not an invented 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COMPLETED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CURRENT PLAN AND STATUS — PLAN-R2, 29 Sep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09344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728216"/>
            <a:ext cx="896112" cy="37490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N0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2848" y="1609344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700784"/>
            <a:ext cx="8394192" cy="4480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Freeze mission, payload and host envelope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450592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2569464"/>
            <a:ext cx="896112" cy="37490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N1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12848" y="2450592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2542032"/>
            <a:ext cx="8394192" cy="4480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Run coupled multi-payload mission cases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291840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3410712"/>
            <a:ext cx="896112" cy="37490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N2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12848" y="3291840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383280"/>
            <a:ext cx="8394192" cy="4480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Reject or select mechanisms on common criteria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133088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4251960"/>
            <a:ext cx="896112" cy="37490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N3–N4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12848" y="4133088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4224528"/>
            <a:ext cx="8394192" cy="4480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Close installed burden, faults and BOLLEY drive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74336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5093208"/>
            <a:ext cx="896112" cy="37490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N5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12848" y="4974336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5065776"/>
            <a:ext cx="8394192" cy="448056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Prepare first-test package and review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mature analytical record; physical evidence still needed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WORK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README; PROVENANCE.md; PLAN-R2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09928"/>
            <a:ext cx="73152" cy="35478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1856232"/>
            <a:ext cx="3136392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Produced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2459736"/>
            <a:ext cx="3118104" cy="2633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Manuscript, CAD, scripts and figures, validation sheets, provenance and defect register.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1709928"/>
            <a:ext cx="73152" cy="3547872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856232"/>
            <a:ext cx="3136392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Analysed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459736"/>
            <a:ext cx="3118104" cy="2633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Gen5 shot, circuit, mass, thermal, structural and orbit cases. Failed criteria are retained.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1709928"/>
            <a:ext cx="3502152" cy="35478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28431" y="1709928"/>
            <a:ext cx="73152" cy="3547872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1856232"/>
            <a:ext cx="3136392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Still open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4" y="2459736"/>
            <a:ext cx="3118104" cy="2633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Hardware tests, provider interfaces, payload qualification, measured reliability and build release.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522976"/>
            <a:ext cx="106984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800" b="1">
                <a:solidFill>
                  <a:srgbClr val="0D2035"/>
                </a:solidFill>
                <a:latin typeface="Aptos"/>
              </a:defRPr>
            </a:pPr>
            <a:r>
              <a:t>The presentation does not assign a percentage complete from document count.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Gen5: complete computational system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System Architecture; CAD render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9" name="Picture 8" descr="expl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1794510"/>
            <a:ext cx="6400800" cy="400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1828800"/>
            <a:ext cx="4434840" cy="39319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1.5 m linear-motor track and double-sided Halbach arrays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Reusable 9.45 kg magnet sled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Two cassettes; twelve 3U satellites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Pulse bank, restraint and eddy-current arrest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Rated 3U shot: performance predicted by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F01_shot.png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9" name="Picture 8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73" y="1691639"/>
            <a:ext cx="7814733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937760"/>
            <a:ext cx="2340864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413248"/>
            <a:ext cx="2340864" cy="30175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exit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0168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937760"/>
            <a:ext cx="2340864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10.07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413248"/>
            <a:ext cx="2340864" cy="30175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acceleration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83096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4937760"/>
            <a:ext cx="2340864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2.782 kJ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5413248"/>
            <a:ext cx="2340864" cy="30175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gross draw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36024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4937760"/>
            <a:ext cx="2340864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18.8%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5413248"/>
            <a:ext cx="2340864" cy="30175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net efficiency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Modelled command precision is narrow; it is unmeasured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PROVENANCE.md; F03_mc.png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9" name="Picture 8" descr="F03_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044" y="1581912"/>
            <a:ext cx="6288367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08975" y="1783080"/>
            <a:ext cx="3611880" cy="19202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08975" y="1783080"/>
            <a:ext cx="73152" cy="19202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9288" y="1929384"/>
            <a:ext cx="324612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0.0274 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2532888"/>
            <a:ext cx="3227832" cy="10058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3σ exit-velocity dispersion at a 15.8 m/s fleet setpoint.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3950208"/>
            <a:ext cx="3611880" cy="18288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08975" y="3950208"/>
            <a:ext cx="73152" cy="18288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4096512"/>
            <a:ext cx="324612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4700016"/>
            <a:ext cx="3227832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Monte Carlo under modelled sensing and plant tolerances; no measured dispersion.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Commanded velocity can change orbital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Astrodynamic Utility and Limitations; F04_life.png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9" name="Picture 8" descr="F04_li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536" y="1645920"/>
            <a:ext cx="6937942" cy="42702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90688" y="1773936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0688" y="1773936"/>
            <a:ext cx="73152" cy="178308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920240"/>
            <a:ext cx="3255264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+28.8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23744"/>
            <a:ext cx="3236976" cy="8686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Predicted semi-major-axis rise for one maximum-velocity release.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3749039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0688" y="3749039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895344"/>
            <a:ext cx="3255264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1.60×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498848"/>
            <a:ext cx="3236976" cy="8686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Predicted lifetime at stated mean solar activity; atmosphere-dependent.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44200" cy="2468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300" b="1">
                <a:solidFill>
                  <a:srgbClr val="0D2035"/>
                </a:solidFill>
                <a:latin typeface="Aptos"/>
              </a:defRPr>
            </a:pPr>
            <a:r>
              <a:t>Timing alone can create in-track phase; this result concerns orbital energy.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 fails its 3U mass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Payload Class and Mass-per-Satellite; A46 enclosure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773936"/>
            <a:ext cx="25146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Dry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810512"/>
            <a:ext cx="7498079" cy="4389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0" y="1810512"/>
            <a:ext cx="2011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126.6 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5146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per 3U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770632"/>
            <a:ext cx="6309360" cy="4389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91472" y="2761488"/>
            <a:ext cx="18288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10.55 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251460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Spring comparator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3685032"/>
            <a:ext cx="3584448" cy="438912"/>
          </a:xfrm>
          <a:prstGeom prst="rect">
            <a:avLst/>
          </a:prstGeom>
          <a:solidFill>
            <a:srgbClr val="6376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91472" y="3675887"/>
            <a:ext cx="18288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~6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892040"/>
            <a:ext cx="10744200" cy="868680"/>
          </a:xfrm>
          <a:prstGeom prst="roundRect">
            <a:avLst/>
          </a:prstGeom>
          <a:solidFill>
            <a:srgbClr val="FF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40"/>
            <a:ext cx="102870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300" b="1">
                <a:solidFill>
                  <a:srgbClr val="B94141"/>
                </a:solidFill>
                <a:latin typeface="Aptos"/>
              </a:defRPr>
            </a:pPr>
            <a:r>
              <a:t>1.76× heavier per 3U payload; the preset 15% parity band fails.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unresolved physical questions determine viability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EVIDENCE BOUNDARY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OPEN_PROBLEMS.md; PROVENANCE.md; manuscript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1673352"/>
            <a:ext cx="3520440" cy="32004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673352"/>
            <a:ext cx="73152" cy="320040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" y="1819656"/>
            <a:ext cx="31546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Payload interface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2423160"/>
            <a:ext cx="3136392" cy="2286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800" b="0">
                <a:solidFill>
                  <a:srgbClr val="1E3144"/>
                </a:solidFill>
                <a:latin typeface="Aptos"/>
              </a:defRPr>
            </a:pPr>
            <a:r>
              <a:t>Arrest loads, contact and magnetic cleanliness need payload-specific evaluation.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673352"/>
            <a:ext cx="3520440" cy="32004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1673352"/>
            <a:ext cx="73152" cy="32004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819656"/>
            <a:ext cx="31546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Shared reliability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423160"/>
            <a:ext cx="3136392" cy="2286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800" b="0">
                <a:solidFill>
                  <a:srgbClr val="1E3144"/>
                </a:solidFill>
                <a:latin typeface="Aptos"/>
              </a:defRPr>
            </a:pPr>
            <a:r>
              <a:t>A failed retention or reload element can affect the remaining manifest.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673352"/>
            <a:ext cx="3520440" cy="32004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673352"/>
            <a:ext cx="73152" cy="320040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819656"/>
            <a:ext cx="31546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Host compatibility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423160"/>
            <a:ext cx="3136392" cy="2286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800" b="0">
                <a:solidFill>
                  <a:srgbClr val="1E3144"/>
                </a:solidFill>
                <a:latin typeface="Aptos"/>
              </a:defRPr>
            </a:pPr>
            <a:r>
              <a:t>No launch provider has supplied an approved accommodation or operating interface.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340096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200" b="1">
                <a:solidFill>
                  <a:srgbClr val="0D2035"/>
                </a:solidFill>
                <a:latin typeface="Aptos"/>
              </a:defRPr>
            </a:pPr>
            <a:r>
              <a:t>FEM, CFD and CAD are numerical evidence. No prototype has been built or tested.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Computational demonstration: from shot to orbit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SIMULATION DEMONSTRATION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analysis/results; BASELINE.md; manuscript Astrodynamic 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7336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73936"/>
            <a:ext cx="4809744" cy="4297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1. Simulate a 3U shot → 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1773936"/>
            <a:ext cx="4764024" cy="4297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2. Model the orbital response</a:t>
            </a:r>
          </a:p>
        </p:txBody>
      </p:sp>
      <p:pic>
        <p:nvPicPr>
          <p:cNvPr id="13" name="Picture 12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806692"/>
            <a:ext cx="4956048" cy="1884694"/>
          </a:xfrm>
          <a:prstGeom prst="rect">
            <a:avLst/>
          </a:prstGeom>
        </p:spPr>
      </p:pic>
      <p:pic>
        <p:nvPicPr>
          <p:cNvPr id="14" name="Picture 13" descr="F04_li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670" y="2286000"/>
            <a:ext cx="4754050" cy="2926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43016" y="3337560"/>
            <a:ext cx="45720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8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15000"/>
            <a:ext cx="10625328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Compare predicted orbital change and full installed mass with the spring baseline. Simulation, not physical demonstration.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What this final review can defend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Conclusion; BASELINE.md; PROVENANCE.md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37360"/>
            <a:ext cx="10652760" cy="43891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Gen5 predicts commandable 16.0 m/s deployment for a 3U payload and a case-dependent orbital benefit.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The modelled full system is 76% heavier per 3U customer than the spring comparator.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Numerical checks strengthen specific models, while hardware behavior and interfaces remain unmeasured.</a:t>
            </a:r>
          </a:p>
          <a:p>
            <a:pPr>
              <a:spcAft>
                <a:spcPts val="2100"/>
              </a:spcAft>
              <a:defRPr sz="2200">
                <a:solidFill>
                  <a:srgbClr val="1E3144"/>
                </a:solidFill>
                <a:latin typeface="Aptos"/>
              </a:defRPr>
            </a:pPr>
            <a:r>
              <a:t>•  Gen5 is a documented design study; the next configuration must earn a test-article decision.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Gen6 reopens the mechanism and installed-system trade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CURRENT PLAN AND STATUS — PLAN-R2, 29 Sep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0698480" cy="1069848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20240"/>
            <a:ext cx="1037844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200" b="1">
                <a:solidFill>
                  <a:srgbClr val="0D2035"/>
                </a:solidFill>
                <a:latin typeface="Aptos"/>
              </a:defRPr>
            </a:pPr>
            <a:r>
              <a:t>One reusable path • sequential supported CubeSat sizes • individually commanded release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017520"/>
            <a:ext cx="10058400" cy="224028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Investigate approximately 1–2 m/s through 1 km/s across mission cases.</a:t>
            </a:r>
          </a:p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Compare electromagnetic, stored-energy, gas/fluid, hybrid, BOLLEY and conventional options.</a:t>
            </a:r>
          </a:p>
          <a:p>
            <a:pPr>
              <a:spcAft>
                <a:spcPts val="1900"/>
              </a:spcAft>
              <a:defRPr sz="2100">
                <a:solidFill>
                  <a:srgbClr val="1E3144"/>
                </a:solidFill>
                <a:latin typeface="Aptos"/>
              </a:defRPr>
            </a:pPr>
            <a:r>
              <a:t>•  Count feeder, retention, arrest, control, energy, thermal, host loads and shared faults.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742432"/>
            <a:ext cx="1056132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1700" b="1">
                <a:solidFill>
                  <a:srgbClr val="B94141"/>
                </a:solidFill>
                <a:latin typeface="Aptos"/>
              </a:defRPr>
            </a:pPr>
            <a:r>
              <a:t>1 km/s is a research target, not demonstrated speed or payload/provider compatibility.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Next milestone: one reviewable first-test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PLAN-R2 N0–N5 and agreed near-term end goal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64592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10512"/>
            <a:ext cx="1673352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Freeze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164592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810512"/>
            <a:ext cx="7708392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Named mission, payload and host surrogate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269748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2862072"/>
            <a:ext cx="1673352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69748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862072"/>
            <a:ext cx="7708392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Fair mechanism and installed-burden trade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749039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13631"/>
            <a:ext cx="1673352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3749039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913631"/>
            <a:ext cx="7708392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Field, contact, release, arrest, loads and cycle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4800600"/>
            <a:ext cx="2011680" cy="768096"/>
          </a:xfrm>
          <a:prstGeom prst="round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965192"/>
            <a:ext cx="1673352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62656" y="480060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4965192"/>
            <a:ext cx="7708392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Drawings, BOM, procedures, uncertainty and review decision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Core literature and standards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81912"/>
            <a:ext cx="10881360" cy="459943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[1] JAXA, JEM Payload Accommodation Handbook, Vol. 8: Small Satellite Deployment ICD.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[2] Cal Poly, CubeSat Design Specification, Rev. 14, 2020.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[3] C. Foster et al., ‘Constellation phasing with differential drag on Planet Labs satellites,’ J. Spacecraft Rockets 55(2), 2018.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[4] H. Feng et al., ‘Design and reachable domain analysis of on-orbit electromagnetic launcher for CubeSats,’ Int. J. Aerospace Eng., 2025.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[5] Y. Zhao et al., ‘Design and analysis of a new deployer for the in-orbit release of multiple stacked CubeSats,’ Remote Sensing 14(17), 4205, 2022.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Methods and project records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VOLLEY-thesis/source/paper.tex; project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36192"/>
            <a:ext cx="10881360" cy="469087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[6] Y. Zhao et al., ‘Simulation analysis and experimental verification of the transport characteristics of a high-volume CubeSat storage device,’ Aerospace 12(6), 466, 2025.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[7] K. Halbach, ‘Design of permanent multipole magnets with oriented rare earth cobalt material,’ Nucl. Instrum. Methods 169, 1980.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[8] NASA, General Environmental Verification Standard (GEVS), GSFC-STD-7000A,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[9] D. A. Vallado, Fundamentals of Astrodynamics and Applications, 4th ed.,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[10] A. Mishra, VOLLEY-thesis: manuscript, baseline, provenance and validation records, repo head b30ffdc, 28 Sep 2026.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[11] VOLLEY/BOLLEY, Current Plan and Status — PLAN-R2, controlled working baseline, 29 Sep 2026 (project plan).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