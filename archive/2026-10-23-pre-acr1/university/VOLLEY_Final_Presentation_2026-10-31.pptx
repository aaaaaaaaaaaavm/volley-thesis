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0879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200" b="1">
                <a:solidFill>
                  <a:srgbClr val="B9140F"/>
                </a:solidFill>
                <a:latin typeface="Aptos"/>
              </a:defRPr>
            </a:pPr>
            <a:r>
              <a:t>Department of Mechanical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0879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900" b="1">
                <a:solidFill>
                  <a:srgbClr val="B9140F"/>
                </a:solidFill>
                <a:latin typeface="Aptos"/>
              </a:defRPr>
            </a:pPr>
            <a:r>
              <a:t>B.Tech Project Presentation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08792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500" b="1">
                <a:solidFill>
                  <a:srgbClr val="234D81"/>
                </a:solidFill>
                <a:latin typeface="Aptos"/>
              </a:defRPr>
            </a:pPr>
            <a:r>
              <a:t>VOLLEY: Design and Computational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10908792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500" b="1">
                <a:solidFill>
                  <a:srgbClr val="234D81"/>
                </a:solidFill>
                <a:latin typeface="Aptos"/>
              </a:defRPr>
            </a:pPr>
            <a:r>
              <a:t>Feasibility Assessment of a Commanded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02536"/>
            <a:ext cx="10908792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300" b="1">
                <a:solidFill>
                  <a:srgbClr val="234D81"/>
                </a:solidFill>
                <a:latin typeface="Aptos"/>
              </a:defRPr>
            </a:pPr>
            <a:r>
              <a:t>Electromagnetic CubeSat Deployment Mechanism</a:t>
            </a:r>
          </a:p>
        </p:txBody>
      </p:sp>
      <p:pic>
        <p:nvPicPr>
          <p:cNvPr id="8" name="Picture 7" descr="sit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37744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94560" y="3931920"/>
            <a:ext cx="7772400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0">
                <a:solidFill>
                  <a:srgbClr val="234D81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270248"/>
            <a:ext cx="9372600" cy="4023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000" b="1">
                <a:solidFill>
                  <a:srgbClr val="234D81"/>
                </a:solidFill>
                <a:latin typeface="Aptos"/>
              </a:defRPr>
            </a:pPr>
            <a:r>
              <a:t>Adityavardhan Mishra  ·  Pratham Chawla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681728"/>
            <a:ext cx="8366760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500" b="0">
                <a:solidFill>
                  <a:srgbClr val="B9140F"/>
                </a:solidFill>
                <a:latin typeface="Aptos"/>
              </a:defRPr>
            </a:pPr>
            <a:r>
              <a:t>PRN 23070125054  ·  PRN 23070125029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93792"/>
            <a:ext cx="512064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800" b="1">
                <a:solidFill>
                  <a:srgbClr val="0067A9"/>
                </a:solidFill>
                <a:latin typeface="Aptos"/>
              </a:defRPr>
            </a:pPr>
            <a:r>
              <a:t>Guide: Vikas Gulia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193792"/>
            <a:ext cx="466344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1800" b="1">
                <a:solidFill>
                  <a:srgbClr val="0067A9"/>
                </a:solidFill>
                <a:latin typeface="Aptos"/>
              </a:defRPr>
            </a:pPr>
            <a:r>
              <a:t>Final review: 31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72200"/>
            <a:ext cx="1110996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300" b="1">
                <a:solidFill>
                  <a:srgbClr val="B9140F"/>
                </a:solidFill>
                <a:latin typeface="Aptos"/>
              </a:defRPr>
            </a:pPr>
            <a:r>
              <a:t>SYMBIOSIS INSTITUTE OF TECHNOLOGY PUNE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528816"/>
            <a:ext cx="27432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Presentation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PRESENTATION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User-specified final-review outline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64208"/>
            <a:ext cx="5166360" cy="530352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55648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01  Introduction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5166360" cy="530352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68880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02  Literature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90672"/>
            <a:ext cx="5166360" cy="530352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182112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03  Research 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03904"/>
            <a:ext cx="5166360" cy="530352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895344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04  Objectives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17136"/>
            <a:ext cx="5166360" cy="530352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08576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05  Research methodology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30368"/>
            <a:ext cx="5166360" cy="530352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321808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06  Timeline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1664208"/>
            <a:ext cx="5166360" cy="530352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1755648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07  Work progress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2377440"/>
            <a:ext cx="5166360" cy="530352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468880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08 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090672"/>
            <a:ext cx="5166360" cy="530352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182112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09  Conclusion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3803904"/>
            <a:ext cx="5166360" cy="530352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895344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10  Future 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4517136"/>
            <a:ext cx="5166360" cy="530352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608576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11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Which missions might value orbital choice?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NASA 2026 Small Spacecraft SoA; local market audit; STEP-derived Gen5 CAD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27632"/>
            <a:ext cx="4736592" cy="1664208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73152" cy="16642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73936"/>
            <a:ext cx="4370831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Repeat fleets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77440"/>
            <a:ext cx="4352544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Configurable satellite fleets exist; demand for VOLLEY is unconfirmed.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65576"/>
            <a:ext cx="4736592" cy="1664208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465576"/>
            <a:ext cx="73152" cy="16642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611880"/>
            <a:ext cx="4370831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Delivery buyer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215384"/>
            <a:ext cx="4352544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A carrier or fleet operator might seek several release states from one host.</a:t>
            </a:r>
          </a:p>
        </p:txBody>
      </p:sp>
      <p:pic>
        <p:nvPicPr>
          <p:cNvPr id="17" name="Picture 16" descr="gen5_reference_o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38767"/>
            <a:ext cx="6108192" cy="34341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0" y="5148072"/>
            <a:ext cx="5806440" cy="4023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300" b="1">
                <a:solidFill>
                  <a:srgbClr val="0D2035"/>
                </a:solidFill>
                <a:latin typeface="Aptos"/>
              </a:defRPr>
            </a:pPr>
            <a:r>
              <a:t>STEP-derived Gen5 reference; side-fed placement fails its fit check.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33872"/>
            <a:ext cx="107442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Test on one matched mission against springs, host manoeuvres, transport and onboard propulsion.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Existing methods solve different parts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JAXA; Foster et al. 2018; Feng et al. 2025; Zhao et al. 2022/2025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228600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45920"/>
            <a:ext cx="213969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554480"/>
            <a:ext cx="3749039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1645920"/>
            <a:ext cx="3602735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59" y="1554480"/>
            <a:ext cx="516636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45920"/>
            <a:ext cx="502005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Limit for this thesis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57400"/>
            <a:ext cx="2286000" cy="84124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139696"/>
            <a:ext cx="213969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Spring deployer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2057400"/>
            <a:ext cx="3749039" cy="84124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62072" y="2139696"/>
            <a:ext cx="3602735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Flight heritage; compact; simple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59" y="2057400"/>
            <a:ext cx="5166360" cy="84124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2139696"/>
            <a:ext cx="502005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Limited tailored release speed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98648"/>
            <a:ext cx="2286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980944"/>
            <a:ext cx="213969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Spring release / drag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2898648"/>
            <a:ext cx="3749039" cy="84124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2072" y="2980944"/>
            <a:ext cx="3602735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Relative state or drag can create phasing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59" y="2898648"/>
            <a:ext cx="5166360" cy="84124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2980944"/>
            <a:ext cx="502005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Timing alone, with no relative state change, cannot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39896"/>
            <a:ext cx="2286000" cy="84124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822191"/>
            <a:ext cx="213969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Orbital transfer vehicle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3739896"/>
            <a:ext cx="3749039" cy="84124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62072" y="3822191"/>
            <a:ext cx="3602735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Larger orbit changes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59" y="3739896"/>
            <a:ext cx="5166360" cy="84124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11112" y="3822191"/>
            <a:ext cx="502005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Greater bus, mass and integration burden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581144"/>
            <a:ext cx="2286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663440"/>
            <a:ext cx="213969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Electromagnetic research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581144"/>
            <a:ext cx="3749039" cy="84124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62072" y="4663440"/>
            <a:ext cx="3602735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Commandable acceleration studied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59" y="4581144"/>
            <a:ext cx="5166360" cy="84124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4663440"/>
            <a:ext cx="502005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Armature, high-g or maturity constraints vary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A narrower, testable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manuscript, Related Work and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10789920" cy="1152144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01952"/>
            <a:ext cx="10241280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400" b="1">
                <a:solidFill>
                  <a:srgbClr val="0D2035"/>
                </a:solidFill>
                <a:latin typeface="Aptos"/>
              </a:defRPr>
            </a:pPr>
            <a:r>
              <a:t>Commanded release for an unmodified CubeSat at moderate acceleration, with the full system counted.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72968"/>
            <a:ext cx="5230368" cy="214884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172968"/>
            <a:ext cx="73152" cy="214884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319272"/>
            <a:ext cx="4864607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Contribution examined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922776"/>
            <a:ext cx="4846320" cy="12344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Gen5 reusable-sled linear motor, 3U payload, magazine, pulse power, arrest and orbital utility.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72968"/>
            <a:ext cx="5230368" cy="214884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172968"/>
            <a:ext cx="73152" cy="2148840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319272"/>
            <a:ext cx="4864607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922776"/>
            <a:ext cx="4846320" cy="12344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Electromagnetic CubeSat deployment exists in prior work. Payload qualification and physical performance remain unproved.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The analytical research objectives have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manuscript, BASELINE.md and PROVENANCE.md; presentation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461772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45920"/>
            <a:ext cx="447141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Research objective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554480"/>
            <a:ext cx="658368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1645920"/>
            <a:ext cx="643737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Final thesis outcome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4617720" cy="74980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139696"/>
            <a:ext cx="447141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Design a commandable 3U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057400"/>
            <a:ext cx="6583680" cy="74980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2139696"/>
            <a:ext cx="643737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Evaluated Gen5 reference; separate FM08-R3 feeder selected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07208"/>
            <a:ext cx="46177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889503"/>
            <a:ext cx="447141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Calculate shot and control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807208"/>
            <a:ext cx="6583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2889503"/>
            <a:ext cx="643737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Historical model completed; finite force screen challenges its rating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57015"/>
            <a:ext cx="4617720" cy="74980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639311"/>
            <a:ext cx="447141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Evaluate orbital utility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3557015"/>
            <a:ext cx="6583680" cy="74980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2" y="3639311"/>
            <a:ext cx="643737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Conditional orbit results; real lifetime unvalidated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306824"/>
            <a:ext cx="46177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4389120"/>
            <a:ext cx="447141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Count full installed burden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4306824"/>
            <a:ext cx="6583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3792" y="4389120"/>
            <a:ext cx="643737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Mass rollup completed; 3U parity criterion failed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56631"/>
            <a:ext cx="4617720" cy="74980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5138927"/>
            <a:ext cx="447141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Test credibility of key claims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5056631"/>
            <a:ext cx="6583680" cy="74980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5138927"/>
            <a:ext cx="643737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Numerical cross-checks and limits recorded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The analysis chain from mission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RESEARCH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manuscript, Models and Verification; validation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664208" cy="1481328"/>
          </a:xfrm>
          <a:prstGeom prst="roundRect">
            <a:avLst/>
          </a:prstGeom>
          <a:solidFill>
            <a:srgbClr val="E8F6F6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68296"/>
            <a:ext cx="1481328" cy="8503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Mission &amp;</a:t>
            </a:r>
            <a:br/>
            <a:r>
              <a:t>payload needs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514600"/>
            <a:ext cx="274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2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2304" y="2057400"/>
            <a:ext cx="1664208" cy="1481328"/>
          </a:xfrm>
          <a:prstGeom prst="roundRect">
            <a:avLst/>
          </a:prstGeom>
          <a:solidFill>
            <a:srgbClr val="F6F9FB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2368296"/>
            <a:ext cx="1481328" cy="8503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Architecture</a:t>
            </a:r>
            <a:br/>
            <a:r>
              <a:t>trade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6" y="2514600"/>
            <a:ext cx="274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2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057400"/>
            <a:ext cx="1664208" cy="1481328"/>
          </a:xfrm>
          <a:prstGeom prst="roundRect">
            <a:avLst/>
          </a:prstGeom>
          <a:solidFill>
            <a:srgbClr val="E8F6F6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7" y="2368296"/>
            <a:ext cx="1481328" cy="8503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CAD &amp; mass</a:t>
            </a:r>
            <a:br/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14600"/>
            <a:ext cx="274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2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057400"/>
            <a:ext cx="1664208" cy="1481328"/>
          </a:xfrm>
          <a:prstGeom prst="roundRect">
            <a:avLst/>
          </a:prstGeom>
          <a:solidFill>
            <a:srgbClr val="F6F9FB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368296"/>
            <a:ext cx="1481328" cy="8503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Shot, power &amp;</a:t>
            </a:r>
            <a:br/>
            <a:r>
              <a:t>orbit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4424" y="2514600"/>
            <a:ext cx="274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2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2057400"/>
            <a:ext cx="1664208" cy="1481328"/>
          </a:xfrm>
          <a:prstGeom prst="roundRect">
            <a:avLst/>
          </a:prstGeom>
          <a:solidFill>
            <a:srgbClr val="E8F6F6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2368296"/>
            <a:ext cx="1481328" cy="8503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Numerical</a:t>
            </a:r>
            <a:br/>
            <a:r>
              <a:t>cross-checks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8" y="2514600"/>
            <a:ext cx="274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2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2057400"/>
            <a:ext cx="1664208" cy="1481328"/>
          </a:xfrm>
          <a:prstGeom prst="roundRect">
            <a:avLst/>
          </a:prstGeom>
          <a:solidFill>
            <a:srgbClr val="F6F9FB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2368296"/>
            <a:ext cx="1481328" cy="8503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Sensitivity &amp;</a:t>
            </a:r>
            <a:br/>
            <a:r>
              <a:t>acceptance bands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4242816"/>
            <a:ext cx="9418320" cy="1078992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498848"/>
            <a:ext cx="8869680" cy="5669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300" b="1">
                <a:solidFill>
                  <a:srgbClr val="0D2035"/>
                </a:solidFill>
                <a:latin typeface="Aptos"/>
              </a:defRPr>
            </a:pPr>
            <a:r>
              <a:t>Models were challenged and revised; hardware performance remains outside this thesis's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Numerical checks changed the review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RESEARCH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VOLLEY-thesis/appendix/PROVENANCE.md; validation run 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246888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45920"/>
            <a:ext cx="232257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554480"/>
            <a:ext cx="429768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645920"/>
            <a:ext cx="415137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Method / cross-check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1554480"/>
            <a:ext cx="443484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1645920"/>
            <a:ext cx="428853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limit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57400"/>
            <a:ext cx="2468880" cy="859536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139696"/>
            <a:ext cx="23225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Field and thrust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2057400"/>
            <a:ext cx="4297680" cy="859536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2139696"/>
            <a:ext cx="41513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Analytic; 2-D FEM; independent 3-D numerical force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2057400"/>
            <a:ext cx="4434840" cy="859536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1" y="2139696"/>
            <a:ext cx="428853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Shared ideal inputs; no motor measurement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16936"/>
            <a:ext cx="24688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999232"/>
            <a:ext cx="23225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Shot and power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2916936"/>
            <a:ext cx="42976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2999232"/>
            <a:ext cx="41513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Dynamics; Monte Carlo; ngspice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2916936"/>
            <a:ext cx="4434840" cy="859536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1" y="2999232"/>
            <a:ext cx="428853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Assumed components and interfaces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76472"/>
            <a:ext cx="2468880" cy="859536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858768"/>
            <a:ext cx="23225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Structure and 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3776472"/>
            <a:ext cx="4297680" cy="859536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3858768"/>
            <a:ext cx="41513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CAD; CalculiX; OpenFOAM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3776472"/>
            <a:ext cx="4434840" cy="859536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1" y="3858768"/>
            <a:ext cx="428853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No payload qualification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36008"/>
            <a:ext cx="24688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718304"/>
            <a:ext cx="23225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Orbital change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" y="4636008"/>
            <a:ext cx="42976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44952" y="4718304"/>
            <a:ext cx="41513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Orbit model; Cowell / GMAT 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4636008"/>
            <a:ext cx="4434840" cy="859536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631" y="4718304"/>
            <a:ext cx="428853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Lifetime depends on atmosphere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Project evolution: documented decisions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VOLLEY-thesis/appendix/HISTORY.md; thesis README; PLAN-R2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72768"/>
            <a:ext cx="1828800" cy="6400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09928"/>
            <a:ext cx="16002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1">
                <a:solidFill>
                  <a:srgbClr val="0096A0"/>
                </a:solidFill>
                <a:latin typeface="Aptos"/>
              </a:defRPr>
            </a:pPr>
            <a: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627632"/>
            <a:ext cx="24688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Hosted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656" y="1664208"/>
            <a:ext cx="59436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Free-flyer concept reframed around a host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23160"/>
            <a:ext cx="1828800" cy="6400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60320"/>
            <a:ext cx="16002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1">
                <a:solidFill>
                  <a:srgbClr val="0096A0"/>
                </a:solidFill>
                <a:latin typeface="Aptos"/>
              </a:defRPr>
            </a:pPr>
            <a:r>
              <a:t>Mid-2025*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78024"/>
            <a:ext cx="24688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LSM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2514600"/>
            <a:ext cx="59436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Coilgun study gives way to a linear synchronous motor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73552"/>
            <a:ext cx="1828800" cy="6400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410712"/>
            <a:ext cx="16002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1">
                <a:solidFill>
                  <a:srgbClr val="0096A0"/>
                </a:solidFill>
                <a:latin typeface="Aptos"/>
              </a:defRPr>
            </a:pPr>
            <a:r>
              <a:t>2025–26*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328416"/>
            <a:ext cx="24688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CAD generations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3364992"/>
            <a:ext cx="59436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Geometry and mass models mature through Gen5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23944"/>
            <a:ext cx="1828800" cy="6400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261104"/>
            <a:ext cx="16002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1">
                <a:solidFill>
                  <a:srgbClr val="0096A0"/>
                </a:solidFill>
                <a:latin typeface="Aptos"/>
              </a:defRPr>
            </a:pPr>
            <a:r>
              <a:t>Jul–Sep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78807"/>
            <a:ext cx="24688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Gen5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4215383"/>
            <a:ext cx="59436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Cross-checks, defect corrections and thesis record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974336"/>
            <a:ext cx="1828800" cy="6400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111496"/>
            <a:ext cx="16002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1">
                <a:solidFill>
                  <a:srgbClr val="0096A0"/>
                </a:solidFill>
                <a:latin typeface="Aptos"/>
              </a:defRPr>
            </a:pPr>
            <a:r>
              <a:t>Oct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029200"/>
            <a:ext cx="24688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6" y="5065776"/>
            <a:ext cx="59436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Gen5 study and FM08-R3 feeder design 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996696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100" b="0">
                <a:solidFill>
                  <a:srgbClr val="637684"/>
                </a:solidFill>
                <a:latin typeface="Aptos"/>
              </a:defRPr>
            </a:pPr>
            <a:r>
              <a:t>* Approximate historical milestone; not a documented semester deadline.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2026 findings changed the review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HISTORY.md; PROVENANCE.md; thesis manuscript,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09344"/>
            <a:ext cx="1097280" cy="612648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728216"/>
            <a:ext cx="896112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Jul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12848" y="1609344"/>
            <a:ext cx="8823960" cy="612648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700784"/>
            <a:ext cx="8394192" cy="4480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1E3144"/>
                </a:solidFill>
                <a:latin typeface="Aptos"/>
              </a:defRPr>
            </a:pPr>
            <a:r>
              <a:t>CAD-derived sled mass replaced an optimistic parametric 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450592"/>
            <a:ext cx="1097280" cy="612648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2569464"/>
            <a:ext cx="896112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Aug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12848" y="2450592"/>
            <a:ext cx="8823960" cy="612648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2542032"/>
            <a:ext cx="8394192" cy="4480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1E3144"/>
                </a:solidFill>
                <a:latin typeface="Aptos"/>
              </a:defRPr>
            </a:pPr>
            <a:r>
              <a:t>Depth-resolved thrust calculation lowered the historical model speed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91840"/>
            <a:ext cx="1097280" cy="612648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" y="3410712"/>
            <a:ext cx="896112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Aug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12848" y="3291840"/>
            <a:ext cx="8823960" cy="612648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3383280"/>
            <a:ext cx="8394192" cy="4480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1E3144"/>
                </a:solidFill>
                <a:latin typeface="Aptos"/>
              </a:defRPr>
            </a:pPr>
            <a:r>
              <a:t>Enclosure buildup exposed the full 3U mass penalty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133088"/>
            <a:ext cx="1097280" cy="612648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" y="4251960"/>
            <a:ext cx="896112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12848" y="4133088"/>
            <a:ext cx="8823960" cy="612648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4224528"/>
            <a:ext cx="8394192" cy="4480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1E3144"/>
                </a:solidFill>
                <a:latin typeface="Aptos"/>
              </a:defRPr>
            </a:pPr>
            <a:r>
              <a:t>Independent orbit checks rejected a solar-invariance claim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974336"/>
            <a:ext cx="1097280" cy="612648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" y="5093208"/>
            <a:ext cx="896112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Final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12848" y="4974336"/>
            <a:ext cx="8823960" cy="612648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5065776"/>
            <a:ext cx="8394192" cy="4480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1E3144"/>
                </a:solidFill>
                <a:latin typeface="Aptos"/>
              </a:defRPr>
            </a:pPr>
            <a:r>
              <a:t>Results and failures retained in the submitted thesis record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The current review package is assembled and traceable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WORK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README; validation register; STEP view provenance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9" name="Picture 8" descr="gen5_reference_clo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50948"/>
            <a:ext cx="4983480" cy="28018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294376"/>
            <a:ext cx="4910328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300" b="1">
                <a:solidFill>
                  <a:srgbClr val="0D2035"/>
                </a:solidFill>
                <a:latin typeface="Aptos"/>
              </a:defRPr>
            </a:pPr>
            <a:r>
              <a:t>FreeCAD-linked STEP envelope; internal interference is concealed.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97296" y="1673352"/>
            <a:ext cx="5669280" cy="1664208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97296" y="1673352"/>
            <a:ext cx="73152" cy="16642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7608" y="1819656"/>
            <a:ext cx="530352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Analysis 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2423160"/>
            <a:ext cx="5285232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Shot, circuit, structural, thermal, orbit and alternative-case models.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97296" y="3547872"/>
            <a:ext cx="5669280" cy="1664208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97296" y="3547872"/>
            <a:ext cx="73152" cy="16642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7608" y="3694176"/>
            <a:ext cx="530352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Evidence delivered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8" y="4297680"/>
            <a:ext cx="5285232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Manuscript, STEP, scripts, numerical checks and defect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61304"/>
            <a:ext cx="10698480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Fixed computational study with failed design gates; no physical qualification claim.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Gen5: fixed reference geometry, feeder fit still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FreeCAD Gen5 STEP reference; view provenance and P116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9" name="Picture 8" descr="gen5_reference_o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5424"/>
            <a:ext cx="6400800" cy="35986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0880" y="1828800"/>
            <a:ext cx="4434840" cy="393192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1.3 m powered stroke; 1.5 m release station</a:t>
            </a:r>
          </a:p>
          <a:p>
            <a:pPr>
              <a:spcAft>
                <a:spcPts val="17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Reusable 9.45 kg magnet sled</a:t>
            </a:r>
          </a:p>
          <a:p>
            <a:pPr>
              <a:spcAft>
                <a:spcPts val="17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Two cassettes; twelve 3U satellites</a:t>
            </a:r>
          </a:p>
          <a:p>
            <a:pPr>
              <a:spcAft>
                <a:spcPts val="17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FreeCAD STEP assembly: side-fed placement clashes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6172200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200" b="1">
                <a:solidFill>
                  <a:srgbClr val="0D2035"/>
                </a:solidFill>
                <a:latin typeface="Aptos"/>
              </a:defRPr>
            </a:pPr>
            <a:r>
              <a:t>Enclosure hidden for visibility; no fabricated article.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Historical periodic-model shot: challenged by finite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BASELINE.md; F01_shot.png; P117 energy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9" name="Picture 8" descr="F01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673" y="1691639"/>
            <a:ext cx="7814733" cy="2971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4828032"/>
            <a:ext cx="2496312" cy="10972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937760"/>
            <a:ext cx="2340864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500" b="1">
                <a:solidFill>
                  <a:srgbClr val="0D2035"/>
                </a:solidFill>
                <a:latin typeface="Aptos"/>
              </a:defRPr>
            </a:pPr>
            <a:r>
              <a:t>16.0 m/s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5413248"/>
            <a:ext cx="2340864" cy="3017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400" b="0">
                <a:solidFill>
                  <a:srgbClr val="1E3144"/>
                </a:solidFill>
                <a:latin typeface="Aptos"/>
              </a:defRPr>
            </a:pPr>
            <a:r>
              <a:t>exit speed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0168" y="4828032"/>
            <a:ext cx="2496312" cy="10972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4937760"/>
            <a:ext cx="2340864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500" b="1">
                <a:solidFill>
                  <a:srgbClr val="0D2035"/>
                </a:solidFill>
                <a:latin typeface="Aptos"/>
              </a:defRPr>
            </a:pPr>
            <a:r>
              <a:t>10.07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5413248"/>
            <a:ext cx="2340864" cy="3017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400" b="0">
                <a:solidFill>
                  <a:srgbClr val="1E3144"/>
                </a:solidFill>
                <a:latin typeface="Aptos"/>
              </a:defRPr>
            </a:pPr>
            <a:r>
              <a:t>acceleration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3096" y="4828032"/>
            <a:ext cx="2496312" cy="10972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4937760"/>
            <a:ext cx="2340864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500" b="1">
                <a:solidFill>
                  <a:srgbClr val="0D2035"/>
                </a:solidFill>
                <a:latin typeface="Aptos"/>
              </a:defRPr>
            </a:pPr>
            <a:r>
              <a:t>2.782 kJ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5413248"/>
            <a:ext cx="2340864" cy="3017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400" b="0">
                <a:solidFill>
                  <a:srgbClr val="1E3144"/>
                </a:solidFill>
                <a:latin typeface="Aptos"/>
              </a:defRPr>
            </a:pPr>
            <a:r>
              <a:t>gross draw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6024" y="4828032"/>
            <a:ext cx="2496312" cy="10972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4937760"/>
            <a:ext cx="2340864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500" b="1">
                <a:solidFill>
                  <a:srgbClr val="0D2035"/>
                </a:solidFill>
                <a:latin typeface="Aptos"/>
              </a:defRPr>
            </a:pPr>
            <a:r>
              <a:t>18.8%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5413248"/>
            <a:ext cx="2340864" cy="3017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400" b="0">
                <a:solidFill>
                  <a:srgbClr val="1E3144"/>
                </a:solidFill>
                <a:latin typeface="Aptos"/>
              </a:defRPr>
            </a:pPr>
            <a:r>
              <a:t>net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080760"/>
            <a:ext cx="1088136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300" b="0">
                <a:solidFill>
                  <a:srgbClr val="637684"/>
                </a:solidFill>
                <a:latin typeface="Aptos"/>
              </a:defRPr>
            </a:pPr>
            <a:r>
              <a:t>P118 challenges 16.0 m/s; P117 reconciles 124.5 J to assumed model terms.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Independent 3-D check confirms ideal finite-force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COMPUTATIONAL CROSS-CHECK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P118 analytic; P119 2-D FEM; P121 3-D numerical; P122 gap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9" name="Picture 8" descr="gen5_finite_forc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95728"/>
            <a:ext cx="6995160" cy="2798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627632"/>
            <a:ext cx="3749039" cy="178308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1627632"/>
            <a:ext cx="73152" cy="1783080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1773936"/>
            <a:ext cx="3383279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300" b="1">
                <a:solidFill>
                  <a:srgbClr val="0D2035"/>
                </a:solidFill>
                <a:latin typeface="Aptos"/>
              </a:defRPr>
            </a:pPr>
            <a:r>
              <a:t>1.042 kJ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2377440"/>
            <a:ext cx="3364991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Ideal 3-D work: independent surface-charge formulation agrees with P118 under shared inputs.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611880"/>
            <a:ext cx="3749039" cy="178308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3611880"/>
            <a:ext cx="73152" cy="178308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3758184"/>
            <a:ext cx="3383279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400" b="1">
                <a:solidFill>
                  <a:srgbClr val="0D2035"/>
                </a:solidFill>
                <a:latin typeface="Aptos"/>
              </a:defRPr>
            </a:pPr>
            <a:r>
              <a:t>−13%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4361688"/>
            <a:ext cx="3364991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Illustrative 12-to-14 mm magnet gap change; not a measured tolerance or motor rating.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71616"/>
            <a:ext cx="1074420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500" b="1">
                <a:solidFill>
                  <a:srgbClr val="0D2035"/>
                </a:solidFill>
                <a:latin typeface="Aptos"/>
              </a:defRPr>
            </a:pPr>
            <a:r>
              <a:t>No measured force, selected inverter or demonstrated release speed exists.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Modelled command precision is narrow; it is unmeasured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BASELINE.md; PROVENANCE.md; F03_mc.png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9" name="Picture 8" descr="F03_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44" y="1581912"/>
            <a:ext cx="6288367" cy="45171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08975" y="1783080"/>
            <a:ext cx="3611880" cy="192024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08975" y="1783080"/>
            <a:ext cx="73152" cy="192024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929384"/>
            <a:ext cx="324612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700" b="1">
                <a:solidFill>
                  <a:srgbClr val="0D2035"/>
                </a:solidFill>
                <a:latin typeface="Aptos"/>
              </a:defRPr>
            </a:pPr>
            <a:r>
              <a:t>0.0274 m/s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2532888"/>
            <a:ext cx="3227832" cy="10058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3σ exit-velocity dispersion at a 15.8 m/s fleet setpoint.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08975" y="3950208"/>
            <a:ext cx="3611880" cy="182880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08975" y="3950208"/>
            <a:ext cx="73152" cy="1828800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4096512"/>
            <a:ext cx="324612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100" b="1">
                <a:solidFill>
                  <a:srgbClr val="0D2035"/>
                </a:solidFill>
                <a:latin typeface="Aptos"/>
              </a:defRPr>
            </a:pPr>
            <a:r>
              <a:t>Evidence limit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4700016"/>
            <a:ext cx="3227832" cy="9144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Monte Carlo under modelled sensing and plant tolerances; no measured dispersion.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Historical orbit input has a separate geometry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TWO-BODY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P115 Cartesian orbit check; manuscript Astrodynamic Utility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9" name="Picture 8" descr="rated_orbit_cross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2018018"/>
            <a:ext cx="6995160" cy="352605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90688" y="1773936"/>
            <a:ext cx="3621024" cy="178308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90688" y="1773936"/>
            <a:ext cx="73152" cy="178308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920240"/>
            <a:ext cx="3255264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+28.8008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23744"/>
            <a:ext cx="3236976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Immediate two-body axis rise for an assumed historical 16.029 m/s input.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0688" y="3749039"/>
            <a:ext cx="3621024" cy="178308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90688" y="3749039"/>
            <a:ext cx="73152" cy="1783080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895344"/>
            <a:ext cx="3255264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200" b="1">
                <a:solidFill>
                  <a:srgbClr val="0D2035"/>
                </a:solidFill>
                <a:latin typeface="Aptos"/>
              </a:defRPr>
            </a:pPr>
            <a:r>
              <a:t>1.602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498848"/>
            <a:ext cx="3236976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P134 checks the shared static atmosphere; actual lifetime and achieved release remain unvalidated.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7442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300" b="1">
                <a:solidFill>
                  <a:srgbClr val="0D2035"/>
                </a:solidFill>
                <a:latin typeface="Aptos"/>
              </a:defRPr>
            </a:pPr>
            <a:r>
              <a:t>Persistent phasing requires a relative state change; this result concerns orbital energy.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Gen5 fails its 3U mass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manuscript, Payload Class and Mass-per-Satellite; A46 enclosure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72768"/>
            <a:ext cx="10744200" cy="932688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9656"/>
            <a:ext cx="6766560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Modeled dry mass, 12 slots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1819656"/>
            <a:ext cx="2377440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2100" b="1">
                <a:solidFill>
                  <a:srgbClr val="0D2035"/>
                </a:solidFill>
                <a:latin typeface="Aptos"/>
              </a:defRPr>
            </a:pPr>
            <a:r>
              <a:t>126.6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9260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100" b="1">
                <a:solidFill>
                  <a:srgbClr val="0D2035"/>
                </a:solidFill>
                <a:latin typeface="Aptos"/>
              </a:defRPr>
            </a:pPr>
            <a:r>
              <a:t>Gen5 per 3U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770632"/>
            <a:ext cx="6309360" cy="43891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7000" y="2761488"/>
            <a:ext cx="105156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2000" b="1">
                <a:solidFill>
                  <a:srgbClr val="0D2035"/>
                </a:solidFill>
                <a:latin typeface="Aptos"/>
              </a:defRPr>
            </a:pPr>
            <a:r>
              <a:t>10.55 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29260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100" b="1">
                <a:solidFill>
                  <a:srgbClr val="0D2035"/>
                </a:solidFill>
                <a:latin typeface="Aptos"/>
              </a:defRPr>
            </a:pPr>
            <a:r>
              <a:t>Spring comparator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86200" y="3685032"/>
            <a:ext cx="3584448" cy="438912"/>
          </a:xfrm>
          <a:prstGeom prst="rect">
            <a:avLst/>
          </a:prstGeom>
          <a:solidFill>
            <a:srgbClr val="63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7000" y="3675887"/>
            <a:ext cx="105156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2000" b="1">
                <a:solidFill>
                  <a:srgbClr val="0D2035"/>
                </a:solidFill>
                <a:latin typeface="Aptos"/>
              </a:defRPr>
            </a:pPr>
            <a:r>
              <a:t>~6 kg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92040"/>
            <a:ext cx="10744200" cy="868680"/>
          </a:xfrm>
          <a:prstGeom prst="roundRect">
            <a:avLst/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10287000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300" b="1">
                <a:solidFill>
                  <a:srgbClr val="B94141"/>
                </a:solidFill>
                <a:latin typeface="Aptos"/>
              </a:defRPr>
            </a:pPr>
            <a:r>
              <a:t>1.76× heavier per 3U payload; the preset 15% parity band fails.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The current side-fed assembly fails a geometric fit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CAD INTERFERENCE •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FreeCAD Gen5 Review.FCStd; P116 assembly packaging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9" name="Picture 8" descr="gen5_packagin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699" y="1627632"/>
            <a:ext cx="3323473" cy="44988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01968" y="1755648"/>
            <a:ext cx="4709160" cy="169164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1968" y="1755648"/>
            <a:ext cx="73152" cy="16916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901952"/>
            <a:ext cx="434340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11 mm short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505456"/>
            <a:ext cx="4325112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537 mm of track and cassette width inside 526 mm of usable enclosure width.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3675887"/>
            <a:ext cx="4709160" cy="169164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01968" y="3675887"/>
            <a:ext cx="73152" cy="1691640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3822191"/>
            <a:ext cx="434340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300" b="1">
                <a:solidFill>
                  <a:srgbClr val="0D2035"/>
                </a:solidFill>
                <a:latin typeface="Aptos"/>
              </a:defRPr>
            </a:pPr>
            <a:r>
              <a:t>32,915 mm³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425696"/>
            <a:ext cx="4325112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Cassette/track clash per side. Full audit: 17 intersecting pairs, including sled/track and sled/stator.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025896"/>
            <a:ext cx="105613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400" b="1">
                <a:solidFill>
                  <a:srgbClr val="0D2035"/>
                </a:solidFill>
                <a:latin typeface="Aptos"/>
              </a:defRPr>
            </a:pPr>
            <a:r>
              <a:t>Reference placement only: a new feeder or enclosure would need a new configuration and rerun.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R1 clears cassette width, but still has assembly clashes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UNSELECTED 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FreeCAD R1 STEP candidate; exact-solid route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9" name="Picture 8" descr="r1_candidate_o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8324"/>
            <a:ext cx="6766560" cy="380431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719072"/>
            <a:ext cx="3995928" cy="1773936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19072"/>
            <a:ext cx="73152" cy="1773936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865376"/>
            <a:ext cx="3630168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12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2468879"/>
            <a:ext cx="3611880" cy="859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Selected scripted 3U paths clear; a whole-assembly audit still finds five intersecting solid pairs.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3685032"/>
            <a:ext cx="3995928" cy="1773936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3685032"/>
            <a:ext cx="73152" cy="1773936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2672" y="3831336"/>
            <a:ext cx="3630168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570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4434840"/>
            <a:ext cx="3611880" cy="859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Wider enclosure; 0.5° assumed alignment stack fails its 5 mm gap; lift and retention still open.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78992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500" b="1">
                <a:solidFill>
                  <a:srgbClr val="0D2035"/>
                </a:solidFill>
                <a:latin typeface="Aptos"/>
              </a:defRPr>
            </a:pPr>
            <a:r>
              <a:t>Separate R1 candidate; no change to evaluated Gen5 shot, mass or host-fit claims.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Computed results: from force to mission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CAPTURED COMPUTATIONAL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P118–P127 finite force, source, tolerance and arrest; matched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5230368" cy="3886200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3368" y="1627632"/>
            <a:ext cx="5230368" cy="3886200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73936"/>
            <a:ext cx="4809744" cy="4297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1. Finite-force geometry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773936"/>
            <a:ext cx="4764024" cy="4297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2. Matched mission screen</a:t>
            </a:r>
          </a:p>
        </p:txBody>
      </p:sp>
      <p:pic>
        <p:nvPicPr>
          <p:cNvPr id="13" name="Picture 12" descr="gen5_finite_force_fem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82494"/>
            <a:ext cx="4956048" cy="2533091"/>
          </a:xfrm>
          <a:prstGeom prst="rect">
            <a:avLst/>
          </a:prstGeom>
        </p:spPr>
      </p:pic>
      <p:pic>
        <p:nvPicPr>
          <p:cNvPr id="14" name="Picture 13" descr="matched_mission_re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712110"/>
            <a:ext cx="4937760" cy="207385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43016" y="3337560"/>
            <a:ext cx="45720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8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715000"/>
            <a:ext cx="10625328" cy="5669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P125: single-string source power fails at the older commercial ESR bound; no twelve-shot case closes.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Matched reference mission finds no twelve-shot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BOUNDED MISSION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Common-input spring/Gen5 study; 100 N host, 450 km, 12 × 4 kg payloads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21</a:t>
            </a:r>
          </a:p>
        </p:txBody>
      </p:sp>
      <p:pic>
        <p:nvPicPr>
          <p:cNvPr id="9" name="Picture 8" descr="matched_mission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25776"/>
            <a:ext cx="6995160" cy="293796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99248" y="1673352"/>
            <a:ext cx="3749039" cy="1773936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1673352"/>
            <a:ext cx="73152" cy="1773936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819656"/>
            <a:ext cx="3383279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100" b="1">
                <a:solidFill>
                  <a:srgbClr val="0D2035"/>
                </a:solidFill>
                <a:latin typeface="Aptos"/>
              </a:defRPr>
            </a:pPr>
            <a:r>
              <a:t>+52.7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423160"/>
            <a:ext cx="3364991" cy="859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One-event device plus resized fuel: Gen5 exceeds spring despite an ideal 1.87 kg fuel saving (P123).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9248" y="3657600"/>
            <a:ext cx="3749039" cy="1773936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9248" y="3657600"/>
            <a:ext cx="73152" cy="1773936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803904"/>
            <a:ext cx="3383279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400" b="1">
                <a:solidFill>
                  <a:srgbClr val="0D2035"/>
                </a:solidFill>
                <a:latin typeface="Aptos"/>
              </a:defRPr>
            </a:pPr>
            <a:r>
              <a:t>4 / 1 /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407408"/>
            <a:ext cx="3364991" cy="859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Accepted twelve-shot prefixes: spring, finite Gen5, historical Gen5.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44184"/>
            <a:ext cx="1078992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400" b="1">
                <a:solidFill>
                  <a:srgbClr val="0D2035"/>
                </a:solidFill>
                <a:latin typeface="Aptos"/>
              </a:defRPr>
            </a:pPr>
            <a:r>
              <a:t>Assumed host and devices; optimizer result is not an infeasibility proof or product advantage.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This Gen5 configuration does not pass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conclusion; P116; matched mission; STEP view provenance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5669280" cy="443484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Historical 16.0 m/s is challenged; ideal 12.448 m/s lacks a sourceable single-string bank.</a:t>
            </a:r>
          </a:p>
          <a:p>
            <a:pPr>
              <a:spcAft>
                <a:spcPts val="18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The modeled system is 76% heavier per 3U customer and the evaluated side-fed CAD clashes.</a:t>
            </a:r>
          </a:p>
          <a:p>
            <a:pPr>
              <a:spcAft>
                <a:spcPts val="18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R1 retains sled/track and sled/stator clashes; its assumed 0.5° gap stack fails.</a:t>
            </a:r>
          </a:p>
          <a:p>
            <a:pPr>
              <a:spcAft>
                <a:spcPts val="18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No matched twelve-shot reference closes; Gen5 is a documented negative design study.</a:t>
            </a:r>
          </a:p>
        </p:txBody>
      </p:sp>
      <p:pic>
        <p:nvPicPr>
          <p:cNvPr id="10" name="Picture 9" descr="gen5_reference_o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80971"/>
            <a:ext cx="5120640" cy="28789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10528" y="5449824"/>
            <a:ext cx="5074920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300" b="1">
                <a:solidFill>
                  <a:srgbClr val="0D2035"/>
                </a:solidFill>
                <a:latin typeface="Aptos"/>
              </a:defRPr>
            </a:pPr>
            <a:r>
              <a:t>STEP reference, enclosure hidden; fit fails. No physical test.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Commanded release trades host propellant against device burden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GEN6 MISSION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CONDITIONAL RESOURCE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FBR-02 · selected-feeder mass retarget and 26 native Orekit replays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23</a:t>
            </a:r>
          </a:p>
        </p:txBody>
      </p:sp>
      <p:pic>
        <p:nvPicPr>
          <p:cNvPr id="9" name="Picture 8" descr="mission_mas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053990"/>
            <a:ext cx="6675120" cy="30243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70064" y="1645920"/>
            <a:ext cx="4151376" cy="1719072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70064" y="1645920"/>
            <a:ext cx="73152" cy="171907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0376" y="1792224"/>
            <a:ext cx="3785615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100" b="1">
                <a:solidFill>
                  <a:srgbClr val="0D2035"/>
                </a:solidFill>
                <a:latin typeface="Aptos"/>
              </a:defRPr>
            </a:pPr>
            <a:r>
              <a:t>4.04 / 12.82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0376" y="2395728"/>
            <a:ext cx="3767328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Less propellant for four / twelve releases at the central allowance, compared with lowest-consumption tested springs.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0064" y="3566160"/>
            <a:ext cx="4151376" cy="1719072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70064" y="3566160"/>
            <a:ext cx="73152" cy="1719072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0376" y="3712463"/>
            <a:ext cx="3785615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Dry burden is larger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376" y="4315968"/>
            <a:ext cx="3767328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38.84 / 60.33 kg added device mass exceeds the propellant-use reduction. No installed-mass advantage established.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61320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400" b="1">
                <a:solidFill>
                  <a:srgbClr val="0D2035"/>
                </a:solidFill>
                <a:latin typeface="Aptos"/>
              </a:defRPr>
            </a:pPr>
            <a:r>
              <a:t>Imposed 3–6 m/s release; no achieved motor rating. Spring alternatives may use longer maneuver windows.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A guided lead screw controls each cassette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GEN6 SELECTED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SELECTED ACADEMIC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FM08-R3 · native CAD / STEP and FDR10 design verification · 23 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24</a:t>
            </a:r>
          </a:p>
        </p:txBody>
      </p:sp>
      <p:pic>
        <p:nvPicPr>
          <p:cNvPr id="9" name="Picture 8" descr="FM08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70" y="1463040"/>
            <a:ext cx="4997994" cy="4434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0" y="1627632"/>
            <a:ext cx="3566160" cy="425196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Two 1U + two 3U; one indexed receiver</a:t>
            </a:r>
          </a:p>
          <a:p>
            <a:pPr>
              <a:spcAft>
                <a:spcPts val="16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Fixed 1U spacers stay in their cassettes</a:t>
            </a:r>
          </a:p>
          <a:p>
            <a:pPr>
              <a:spcAft>
                <a:spcPts val="16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Far stop proved → feed → seating proof → capture</a:t>
            </a:r>
          </a:p>
          <a:p>
            <a:pPr>
              <a:spcAft>
                <a:spcPts val="16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Index clutch disengaged before launch arming</a:t>
            </a:r>
          </a:p>
          <a:p>
            <a:pPr>
              <a:spcAft>
                <a:spcPts val="16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Release inhibited on jam, power loss or contradictory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099048"/>
            <a:ext cx="10927080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200" b="1">
                <a:solidFill>
                  <a:srgbClr val="0D2035"/>
                </a:solidFill>
                <a:latin typeface="Aptos"/>
              </a:defRPr>
            </a:pPr>
            <a:r>
              <a:t>Source-derived prescribed CAD states. Academic design selection; measured reliability and qualification require hardware.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Next phase: instrument and test the selected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PHYSICAL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Selected FM08-R3 design; physical development and provider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1645920"/>
            <a:ext cx="2011680" cy="768096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10512"/>
            <a:ext cx="1673352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1645920"/>
            <a:ext cx="8229600" cy="768096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810512"/>
            <a:ext cx="7708392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0">
                <a:solidFill>
                  <a:srgbClr val="1E3144"/>
                </a:solidFill>
                <a:latin typeface="Aptos"/>
              </a:defRPr>
            </a:pPr>
            <a:r>
              <a:t>Confirm payload, host, material and supplier interfaces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2697480"/>
            <a:ext cx="2011680" cy="768096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862072"/>
            <a:ext cx="1673352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2656" y="2697480"/>
            <a:ext cx="8229600" cy="768096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862072"/>
            <a:ext cx="7708392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0">
                <a:solidFill>
                  <a:srgbClr val="1E3144"/>
                </a:solidFill>
                <a:latin typeface="Aptos"/>
              </a:defRPr>
            </a:pPr>
            <a:r>
              <a:t>Manufacture and inspect the selected mechanism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749039"/>
            <a:ext cx="2011680" cy="768096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913631"/>
            <a:ext cx="1673352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62656" y="3749039"/>
            <a:ext cx="8229600" cy="768096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3913631"/>
            <a:ext cx="7708392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0">
                <a:solidFill>
                  <a:srgbClr val="1E3144"/>
                </a:solidFill>
                <a:latin typeface="Aptos"/>
              </a:defRPr>
            </a:pPr>
            <a:r>
              <a:t>Transfer, custody, release, arrest and repeated-cycle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4800600"/>
            <a:ext cx="2011680" cy="768096"/>
          </a:xfrm>
          <a:prstGeom prst="round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965192"/>
            <a:ext cx="1673352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Qualify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62656" y="4800600"/>
            <a:ext cx="8229600" cy="768096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4965192"/>
            <a:ext cx="7708392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0">
                <a:solidFill>
                  <a:srgbClr val="1E3144"/>
                </a:solidFill>
                <a:latin typeface="Aptos"/>
              </a:defRPr>
            </a:pPr>
            <a:r>
              <a:t>Environmental tests and independent integration review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Core literature and standards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SOURCE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Bibliography from VOLLEY-thesis/source/paper.tex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81912"/>
            <a:ext cx="10881360" cy="4599432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[1] JAXA, JEM Payload Accommodation Handbook, Vol. 8: Small Satellite Deployment ICD.</a:t>
            </a:r>
          </a:p>
          <a:p>
            <a:pPr>
              <a:spcAft>
                <a:spcPts val="18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[2] Cal Poly, CubeSat Design Specification, Rev. 14.1, 2022.</a:t>
            </a:r>
          </a:p>
          <a:p>
            <a:pPr>
              <a:spcAft>
                <a:spcPts val="18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[3] C. Foster et al., ‘Constellation phasing with differential drag on Planet Labs satellites,’ J. Spacecraft Rockets 55(2), 2018.</a:t>
            </a:r>
          </a:p>
          <a:p>
            <a:pPr>
              <a:spcAft>
                <a:spcPts val="18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[4] H. Feng et al., ‘Design and reachable domain analysis of on-orbit electromagnetic launcher for CubeSats,’ Int. J. Aerospace Eng., 2025.</a:t>
            </a:r>
          </a:p>
          <a:p>
            <a:pPr>
              <a:spcAft>
                <a:spcPts val="18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[5] Y. Zhao et al., ‘Design and analysis of a new deployer for the in-orbit release of multiple stacked CubeSats,’ Remote Sensing 14(17), 4205, 2022.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Methods and project records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SOURCE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Bibliography from VOLLEY-thesis/source/paper.tex; project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36192"/>
            <a:ext cx="10881360" cy="4690872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[6] Y. Zhao et al., ‘Simulation analysis and experimental verification of the transport characteristics of a high-volume CubeSat storage device,’ Aerospace 12(6), 466, 2025.</a:t>
            </a:r>
          </a:p>
          <a:p>
            <a:pPr>
              <a:spcAft>
                <a:spcPts val="16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[7] K. Halbach, ‘Design of permanent multipole magnets with oriented rare earth cobalt material,’ Nucl. Instrum. Methods 169, 1980.</a:t>
            </a:r>
          </a:p>
          <a:p>
            <a:pPr>
              <a:spcAft>
                <a:spcPts val="16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[8] NASA, General Environmental Verification Standard (GEVS), GSFC-STD-7000A, 2013.</a:t>
            </a:r>
          </a:p>
          <a:p>
            <a:pPr>
              <a:spcAft>
                <a:spcPts val="16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[9] D. A. Vallado, Fundamentals of Astrodynamics and Applications, 4th ed., 2013.</a:t>
            </a:r>
          </a:p>
          <a:p>
            <a:pPr>
              <a:spcAft>
                <a:spcPts val="16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[10] A. Mishra, VOLLEY-thesis: manuscript, baseline, provenance and validation records, evidence snapshot 5b92edc, 20 Oct 2026.</a:t>
            </a:r>
          </a:p>
          <a:p>
            <a:pPr>
              <a:spcAft>
                <a:spcPts val="16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[11] VOLLEY, Gen6 G0 mission and article requirements, 12 Oct 2026 (study requirements).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What the reconciled numerical record establishes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EVIDENCE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MODEL EVIDENCE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P133/P134 · technical evidence revision, 16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28</a:t>
            </a:r>
          </a:p>
        </p:txBody>
      </p:sp>
      <p:pic>
        <p:nvPicPr>
          <p:cNvPr id="9" name="Picture 8" descr="gen5_lifetime_numerical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8747"/>
            <a:ext cx="7315200" cy="3871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46720" y="1691640"/>
            <a:ext cx="3474720" cy="155448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91640"/>
            <a:ext cx="73152" cy="1554480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837944"/>
            <a:ext cx="310896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800" b="1">
                <a:solidFill>
                  <a:srgbClr val="0D2035"/>
                </a:solidFill>
                <a:latin typeface="Aptos"/>
              </a:defRPr>
            </a:pPr>
            <a:r>
              <a:t>1.602 model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2441448"/>
            <a:ext cx="3090672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Separate integration, same static atmosphere. Actual lifetime is unvalidated.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520440"/>
            <a:ext cx="3474720" cy="173736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520440"/>
            <a:ext cx="73152" cy="173736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3666744"/>
            <a:ext cx="310896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800" b="1">
                <a:solidFill>
                  <a:srgbClr val="0D2035"/>
                </a:solidFill>
                <a:latin typeface="Aptos"/>
              </a:defRPr>
            </a:pPr>
            <a:r>
              <a:t>Failures retained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4270248"/>
            <a:ext cx="3090672" cy="822959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22 Gen5/R1 intersections; 126.562 kg model; archived mission screens fail. New Gen6 targeting is separately bounded.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Native solvers: agreement and unresolved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EVIDENCE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ORBITAL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Orekit 13.1.6 / GMAT R2026a; 18 October evidence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29</a:t>
            </a:r>
          </a:p>
        </p:txBody>
      </p:sp>
      <p:pic>
        <p:nvPicPr>
          <p:cNvPr id="9" name="Picture 8" descr="solv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" y="1554480"/>
            <a:ext cx="1095248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Prescribed states; no release-accuracy or hardware validation. J2 frames are not harmonized.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Archived campaign: sampled proximity has a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EVIDENCE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GMAT R1 ARCHIVE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Twelve preloaded post-release orbits; simulation dates in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30</a:t>
            </a:r>
          </a:p>
        </p:txBody>
      </p:sp>
      <p:pic>
        <p:nvPicPr>
          <p:cNvPr id="9" name="Picture 8" descr="archived_campa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" y="1554480"/>
            <a:ext cx="1095248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190.15 m sampled; 180.29 m interpolated. Continuous clearance remains unproven.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The J2 setup discrepancy now has a bounded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EVIDENCE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NUMERICAL 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GMAT R2026a / Orekit 13.1.6 · matched prescribed pole, 19 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31</a:t>
            </a:r>
          </a:p>
        </p:txBody>
      </p:sp>
      <p:pic>
        <p:nvPicPr>
          <p:cNvPr id="9" name="Picture 8" descr="harmon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963" y="1508760"/>
            <a:ext cx="9177593" cy="43891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1.285 mm maximum over one day. Shared orientation; no physical orbit or release-accuracy claim.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Precise delivery needs a measured control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FUTURE-WORK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GEN6 SURROGATE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CNR-01 · complete native event replay and deterministic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32</a:t>
            </a:r>
          </a:p>
        </p:txBody>
      </p:sp>
      <p:pic>
        <p:nvPicPr>
          <p:cNvPr id="9" name="Picture 8" descr="control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915" y="1508760"/>
            <a:ext cx="6855689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+0.1% imposed release-speed bias gives ~1.53 km error. Numerical agreement is not flight precision.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The safety-led trade selects a reversible guided 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SELECTED FEEDER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SELECTED LEAD SCREW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FDR10 / FM08-R3 · quantified judgment sensitivity and executable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33</a:t>
            </a:r>
          </a:p>
        </p:txBody>
      </p:sp>
      <p:pic>
        <p:nvPicPr>
          <p:cNvPr id="9" name="Picture 8" descr="feeder_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61387"/>
            <a:ext cx="7360920" cy="3575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1691640"/>
            <a:ext cx="3474720" cy="411480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Lead screw 7.30; rack/pawl runner-up 7.10</a:t>
            </a:r>
          </a:p>
          <a:p>
            <a:pPr>
              <a:spcAft>
                <a:spcPts val="15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Equal weights tie the top three</a:t>
            </a:r>
          </a:p>
          <a:p>
            <a:pPr>
              <a:spcAft>
                <a:spcPts val="15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Conditional motor sizing at 50 N / 100 N</a:t>
            </a:r>
          </a:p>
          <a:p>
            <a:pPr>
              <a:spcAft>
                <a:spcPts val="15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Four- and twelve-cell fault-sequence checks</a:t>
            </a:r>
          </a:p>
          <a:p>
            <a:pPr>
              <a:spcAft>
                <a:spcPts val="15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Scores and logical tests do not measure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44768"/>
            <a:ext cx="1092708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200" b="0">
                <a:solidFill>
                  <a:srgbClr val="1E3144"/>
                </a:solidFill>
                <a:latin typeface="Aptos"/>
              </a:defRPr>
            </a:pPr>
            <a:r>
              <a:t>Channel containment and controllability drive the choice. Original unconverged contact results supply no precision/load rating.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Native mesh and result view: keep the fixture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EVIDENCE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ASSUMED CLAMPED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CalculiX2.23 DAT / INP displayed in Gmsh4.14.1 · undeformed geometry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34</a:t>
            </a:r>
          </a:p>
        </p:txBody>
      </p:sp>
      <p:pic>
        <p:nvPicPr>
          <p:cNvPr id="9" name="Picture 8" descr="Gmsh_CalculiX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557" y="1508760"/>
            <a:ext cx="6196404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Displacement norm in metres. Actual joints absent; peak support stress is not converged or a strength pass.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Continuous feed geometry exposes the remaining safety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FUTURE-WORK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PRESCRIBED MOTION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CT-01 · separate captive-transfer coupon; 19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35</a:t>
            </a:r>
          </a:p>
        </p:txBody>
      </p:sp>
      <p:pic>
        <p:nvPicPr>
          <p:cNvPr id="9" name="Picture 8" descr="step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88" y="1508760"/>
            <a:ext cx="4910222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1691640"/>
            <a:ext cx="3611880" cy="402336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E3144"/>
                </a:solidFill>
                <a:latin typeface="Aptos"/>
              </a:defRPr>
            </a:pPr>
            <a:r>
              <a:t>•  20 continuous 1U/3U phase checks</a:t>
            </a:r>
          </a:p>
          <a:p>
            <a:pPr>
              <a:spcAft>
                <a:spcPts val="2000"/>
              </a:spcAft>
              <a:defRPr sz="1800">
                <a:solidFill>
                  <a:srgbClr val="1E3144"/>
                </a:solidFill>
                <a:latin typeface="Aptos"/>
              </a:defRPr>
            </a:pPr>
            <a:r>
              <a:t>•  Downward gate needs under-deck volume</a:t>
            </a:r>
          </a:p>
          <a:p>
            <a:pPr>
              <a:spcAft>
                <a:spcPts val="2000"/>
              </a:spcAft>
              <a:defRPr sz="1800">
                <a:solidFill>
                  <a:srgbClr val="1E3144"/>
                </a:solidFill>
                <a:latin typeface="Aptos"/>
              </a:defRPr>
            </a:pPr>
            <a:r>
              <a:t>•  Stop travel and adverse fit cases fail</a:t>
            </a:r>
          </a:p>
          <a:p>
            <a:pPr>
              <a:spcAft>
                <a:spcPts val="2000"/>
              </a:spcAft>
              <a:defRPr sz="1800">
                <a:solidFill>
                  <a:srgbClr val="1E3144"/>
                </a:solidFill>
                <a:latin typeface="Aptos"/>
              </a:defRPr>
            </a:pPr>
            <a:r>
              <a:t>•  Real latch/custody and drive remain 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Native CAD and nominal translation proof do not establish full mechanism safety or a selected feeder.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Orbital reload: define the interface before promising a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FUTURE-WORK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BASELINE OPERATIONAL NO-GO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RPL-01 · limited cooperative-cartridge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36</a:t>
            </a:r>
          </a:p>
        </p:txBody>
      </p:sp>
      <p:pic>
        <p:nvPicPr>
          <p:cNvPr id="9" name="Picture 8" descr="replenis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10" y="1508760"/>
            <a:ext cx="10910098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108 capture / 36 fit sensitivities. No integrated reload mechanism; ground loading remains the assumption.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Twelve dedicated cells require a larger host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GEN6 SCALING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DETAILED SCALING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Native FreeCAD / STEP · FBR-02 nominal scheduling and mass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37</a:t>
            </a:r>
          </a:p>
        </p:txBody>
      </p:sp>
      <p:pic>
        <p:nvPicPr>
          <p:cNvPr id="9" name="Picture 8" descr="twelve_capacity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413" y="1508760"/>
            <a:ext cx="9602692" cy="2560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4251960"/>
            <a:ext cx="5303520" cy="150876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251960"/>
            <a:ext cx="73152" cy="150876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398264"/>
            <a:ext cx="4937759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398 parts; 4.21 m envelope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5001768"/>
            <a:ext cx="4919472" cy="594359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300" b="0">
                <a:solidFill>
                  <a:srgbClr val="1E3144"/>
                </a:solidFill>
                <a:latin typeface="Aptos"/>
              </a:defRPr>
            </a:pPr>
            <a:r>
              <a:t>Six 1U + six 3U; 83.331 kg partial feeder accounting. Full installed mass and host approval are separate.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251960"/>
            <a:ext cx="5166360" cy="150876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4251960"/>
            <a:ext cx="73152" cy="1508760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4398264"/>
            <a:ext cx="480060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18.26 s allocation residual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5001768"/>
            <a:ext cx="4782312" cy="594359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300" b="0">
                <a:solidFill>
                  <a:srgbClr val="1E3144"/>
                </a:solidFill>
                <a:latin typeface="Aptos"/>
              </a:defRPr>
            </a:pPr>
            <a:r>
              <a:t>241.818 s coast minus 223.556 s feeder-only allocation. Launch, charging, braking and reset must also fit.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200" b="0">
                <a:solidFill>
                  <a:srgbClr val="1E3144"/>
                </a:solidFill>
                <a:latin typeface="Aptos"/>
              </a:defRPr>
            </a:pPr>
            <a:r>
              <a:t>Two nominal native/STEP states and twelve modeled payload swept corridors clear represented geometry; no hardware qualification.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Gate relief passes the complete-angle nominal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FUTURE-WORK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NATIVE GEOMETRY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RVC01 · FM07-R6 candidate; separate from evaluated Gen5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38</a:t>
            </a:r>
          </a:p>
        </p:txBody>
      </p:sp>
      <p:pic>
        <p:nvPicPr>
          <p:cNvPr id="9" name="Picture 8" descr="rotary_clear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12060"/>
            <a:ext cx="7315200" cy="2519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0" y="1508760"/>
            <a:ext cx="3520440" cy="429768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Panel lower edge relieved by 0.25 mm</a:t>
            </a:r>
          </a:p>
          <a:p>
            <a:pPr>
              <a:spcAft>
                <a:spcPts val="15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Four full opening/closing intervals checked</a:t>
            </a:r>
          </a:p>
          <a:p>
            <a:pPr>
              <a:spcAft>
                <a:spcPts val="15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Eight assembly and two gate STEP readbacks</a:t>
            </a:r>
          </a:p>
          <a:p>
            <a:pPr>
              <a:spcAft>
                <a:spcPts val="15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Nominal numerical bound; loaded fit and actuation remain separate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81344"/>
            <a:ext cx="1088136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200" b="0">
                <a:solidFill>
                  <a:srgbClr val="1E3144"/>
                </a:solidFill>
                <a:latin typeface="Aptos"/>
              </a:defRPr>
            </a:pPr>
            <a:r>
              <a:t>Smallest guarded bound: 0.0098846 mm. No manufactured-clearance, contact-convergence or qualification claim.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Component stiffness improves within an idealized fixture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FUTURE-WORK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COMPONENT FIXTURE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FLR01 / FLR02 / FLR03 · Gmsh 4.14.1 / CalculiX 2.23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39</a:t>
            </a:r>
          </a:p>
        </p:txBody>
      </p:sp>
      <p:pic>
        <p:nvPicPr>
          <p:cNvPr id="9" name="Picture 8" descr="component_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2198846"/>
            <a:ext cx="7132320" cy="30089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9560" y="1645920"/>
            <a:ext cx="3657600" cy="420624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12 actual-FM06 plus 40 historical receiver analyses</a:t>
            </a:r>
          </a:p>
          <a:p>
            <a:pPr>
              <a:spcAft>
                <a:spcPts val="15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3U one-dog mean: 1.883 to 0.0600 mm</a:t>
            </a:r>
          </a:p>
          <a:p>
            <a:pPr>
              <a:spcAft>
                <a:spcPts val="15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Clamped bores do not bound assembled stiffness</a:t>
            </a:r>
          </a:p>
          <a:p>
            <a:pPr>
              <a:spcAft>
                <a:spcPts val="15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1,117/1,215 adverse guide-fit residuals nonpositive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81344"/>
            <a:ext cx="1088136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200" b="0">
                <a:solidFill>
                  <a:srgbClr val="1E3144"/>
                </a:solidFill>
                <a:latin typeface="Aptos"/>
              </a:defRPr>
            </a:pPr>
            <a:r>
              <a:t>Assumed elastic properties; no selected material allowable, real joint-contact acceptance or hardware testing.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Contact diagnosis retains the numerical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FUTURE-WORK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NUMERICAL METHOD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FCE13 · FM06-R1; six additional completed native Chrono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40</a:t>
            </a:r>
          </a:p>
        </p:txBody>
      </p:sp>
      <p:pic>
        <p:nvPicPr>
          <p:cNvPr id="9" name="Picture 8" descr="convergence_pub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19960"/>
            <a:ext cx="7315200" cy="269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1645920"/>
            <a:ext cx="3657600" cy="420624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Instrumented baseline reproduced byte for byte</a:t>
            </a:r>
          </a:p>
          <a:p>
            <a:pPr>
              <a:spcAft>
                <a:spcPts val="15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PSOR, BB and exact-box refinements exceed pose limits</a:t>
            </a:r>
          </a:p>
          <a:p>
            <a:pPr>
              <a:spcAft>
                <a:spcPts val="15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Sensitivity develops during feed deceleration</a:t>
            </a:r>
          </a:p>
          <a:p>
            <a:pPr>
              <a:spcAft>
                <a:spcPts val="15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No qualified correction or contact-force rating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81344"/>
            <a:ext cx="1088136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200" b="0">
                <a:solidFill>
                  <a:srgbClr val="1E3144"/>
                </a:solidFill>
                <a:latin typeface="Aptos"/>
              </a:defRPr>
            </a:pPr>
            <a:r>
              <a:t>Nominal FM07-R6 rotary screens pass separately; FM06 contact results do not validate that revised assembly.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VOLLEY: Design and Computational Feasibility Assessment of a Commanded Electromagnetic CubeSat Deployment Mechanism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